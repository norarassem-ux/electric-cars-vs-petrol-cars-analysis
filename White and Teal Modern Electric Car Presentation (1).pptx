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Rubik One" charset="1" panose="02000604000000020004"/>
      <p:regular r:id="rId28"/>
    </p:embeddedFont>
    <p:embeddedFont>
      <p:font typeface="Bricolage Grotesque Bold" charset="1" panose="020B0605040402000204"/>
      <p:regular r:id="rId29"/>
    </p:embeddedFont>
    <p:embeddedFont>
      <p:font typeface="Bricolage Grotesque" charset="1" panose="020B0605040402000204"/>
      <p:regular r:id="rId30"/>
    </p:embeddedFont>
    <p:embeddedFont>
      <p:font typeface="Canva Sans Italics" charset="1" panose="020B0503030501040103"/>
      <p:regular r:id="rId31"/>
    </p:embeddedFont>
    <p:embeddedFont>
      <p:font typeface="Canva Sans Bold" charset="1" panose="020B0803030501040103"/>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https://drive.google.com/drive/folders/1rRuEkcp2BGrRYLhm1cY85x4hcOXS0Qp4" TargetMode="External" Type="http://schemas.openxmlformats.org/officeDocument/2006/relationships/hyperlink"/><Relationship Id="rId12" Target="https://github.com/norarassem-ux/The-Future-of-Mobility-in-the-world/blob/main/README-electric%20vehicles%20project.docx" TargetMode="External" Type="http://schemas.openxmlformats.org/officeDocument/2006/relationships/hyperlink"/><Relationship Id="rId2" Target="../media/image1.pn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0.jpe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7.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jpe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29.png" Type="http://schemas.openxmlformats.org/officeDocument/2006/relationships/image"/><Relationship Id="rId5" Target="../media/image30.pn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media/image33.png" Type="http://schemas.openxmlformats.org/officeDocument/2006/relationships/image"/><Relationship Id="rId9" Target="../media/image3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37.png" Type="http://schemas.openxmlformats.org/officeDocument/2006/relationships/image"/><Relationship Id="rId6" Target="../media/image3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39.jpeg" Type="http://schemas.openxmlformats.org/officeDocument/2006/relationships/image"/><Relationship Id="rId5" Target="../media/image40.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4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44.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44.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7.png" Type="http://schemas.openxmlformats.org/officeDocument/2006/relationships/image"/><Relationship Id="rId11" Target="../media/image9.png" Type="http://schemas.openxmlformats.org/officeDocument/2006/relationships/image"/><Relationship Id="rId12" Target="https://drive.google.com/drive/folders/1rRuEkcp2BGrRYLhm1cY85x4hcOXS0Qp4" TargetMode="External" Type="http://schemas.openxmlformats.org/officeDocument/2006/relationships/hyperlink"/><Relationship Id="rId13" Target="https://github.com/norarassem-ux/The-Future-of-Mobility-in-the-world/blob/main/README-electric%20vehicles%20project.docx" TargetMode="External" Type="http://schemas.openxmlformats.org/officeDocument/2006/relationships/hyperlink"/><Relationship Id="rId2" Target="../media/image3.png" Type="http://schemas.openxmlformats.org/officeDocument/2006/relationships/image"/><Relationship Id="rId3" Target="../media/image4.svg" Type="http://schemas.openxmlformats.org/officeDocument/2006/relationships/image"/><Relationship Id="rId4" Target="../media/image45.jpe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4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sp>
        <p:nvSpPr>
          <p:cNvPr name="Freeform 2" id="2"/>
          <p:cNvSpPr/>
          <p:nvPr/>
        </p:nvSpPr>
        <p:spPr>
          <a:xfrm flipH="false" flipV="false" rot="0">
            <a:off x="5842743" y="4379892"/>
            <a:ext cx="9076504" cy="5774926"/>
          </a:xfrm>
          <a:custGeom>
            <a:avLst/>
            <a:gdLst/>
            <a:ahLst/>
            <a:cxnLst/>
            <a:rect r="r" b="b" t="t" l="l"/>
            <a:pathLst>
              <a:path h="5774926" w="9076504">
                <a:moveTo>
                  <a:pt x="0" y="0"/>
                </a:moveTo>
                <a:lnTo>
                  <a:pt x="9076504" y="0"/>
                </a:lnTo>
                <a:lnTo>
                  <a:pt x="9076504" y="5774925"/>
                </a:lnTo>
                <a:lnTo>
                  <a:pt x="0" y="5774925"/>
                </a:lnTo>
                <a:lnTo>
                  <a:pt x="0" y="0"/>
                </a:lnTo>
                <a:close/>
              </a:path>
            </a:pathLst>
          </a:custGeom>
          <a:blipFill>
            <a:blip r:embed="rId2"/>
            <a:stretch>
              <a:fillRect l="0" t="0" r="0" b="0"/>
            </a:stretch>
          </a:blipFill>
        </p:spPr>
      </p:sp>
      <p:grpSp>
        <p:nvGrpSpPr>
          <p:cNvPr name="Group 3" id="3"/>
          <p:cNvGrpSpPr/>
          <p:nvPr/>
        </p:nvGrpSpPr>
        <p:grpSpPr>
          <a:xfrm rot="0">
            <a:off x="11864736" y="808478"/>
            <a:ext cx="4583015" cy="8032825"/>
            <a:chOff x="0" y="0"/>
            <a:chExt cx="1183774" cy="2074846"/>
          </a:xfrm>
        </p:grpSpPr>
        <p:sp>
          <p:nvSpPr>
            <p:cNvPr name="Freeform 4" id="4"/>
            <p:cNvSpPr/>
            <p:nvPr/>
          </p:nvSpPr>
          <p:spPr>
            <a:xfrm flipH="false" flipV="false" rot="0">
              <a:off x="0" y="0"/>
              <a:ext cx="1183774" cy="2074846"/>
            </a:xfrm>
            <a:custGeom>
              <a:avLst/>
              <a:gdLst/>
              <a:ahLst/>
              <a:cxnLst/>
              <a:rect r="r" b="b" t="t" l="l"/>
              <a:pathLst>
                <a:path h="2074846" w="1183774">
                  <a:moveTo>
                    <a:pt x="101356" y="0"/>
                  </a:moveTo>
                  <a:lnTo>
                    <a:pt x="1082418" y="0"/>
                  </a:lnTo>
                  <a:cubicBezTo>
                    <a:pt x="1138396" y="0"/>
                    <a:pt x="1183774" y="45379"/>
                    <a:pt x="1183774" y="101356"/>
                  </a:cubicBezTo>
                  <a:lnTo>
                    <a:pt x="1183774" y="1973490"/>
                  </a:lnTo>
                  <a:cubicBezTo>
                    <a:pt x="1183774" y="2029467"/>
                    <a:pt x="1138396" y="2074846"/>
                    <a:pt x="1082418" y="2074846"/>
                  </a:cubicBezTo>
                  <a:lnTo>
                    <a:pt x="101356" y="2074846"/>
                  </a:lnTo>
                  <a:cubicBezTo>
                    <a:pt x="74475" y="2074846"/>
                    <a:pt x="48694" y="2064167"/>
                    <a:pt x="29686" y="2045160"/>
                  </a:cubicBezTo>
                  <a:cubicBezTo>
                    <a:pt x="10679" y="2026152"/>
                    <a:pt x="0" y="2000372"/>
                    <a:pt x="0" y="1973490"/>
                  </a:cubicBezTo>
                  <a:lnTo>
                    <a:pt x="0" y="101356"/>
                  </a:lnTo>
                  <a:cubicBezTo>
                    <a:pt x="0" y="45379"/>
                    <a:pt x="45379" y="0"/>
                    <a:pt x="101356" y="0"/>
                  </a:cubicBezTo>
                  <a:close/>
                </a:path>
              </a:pathLst>
            </a:custGeom>
            <a:ln w="19050" cap="rnd">
              <a:solidFill>
                <a:srgbClr val="00B58F"/>
              </a:solidFill>
              <a:prstDash val="solid"/>
              <a:round/>
            </a:ln>
          </p:spPr>
        </p:sp>
        <p:sp>
          <p:nvSpPr>
            <p:cNvPr name="TextBox 5" id="5"/>
            <p:cNvSpPr txBox="true"/>
            <p:nvPr/>
          </p:nvSpPr>
          <p:spPr>
            <a:xfrm>
              <a:off x="0" y="-38100"/>
              <a:ext cx="1183774" cy="2112946"/>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3150242" y="9960324"/>
            <a:ext cx="9960587" cy="1142074"/>
            <a:chOff x="0" y="0"/>
            <a:chExt cx="2572779" cy="294993"/>
          </a:xfrm>
        </p:grpSpPr>
        <p:sp>
          <p:nvSpPr>
            <p:cNvPr name="Freeform 7" id="7"/>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8" id="8"/>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6835597" y="-784283"/>
            <a:ext cx="9960587" cy="1142074"/>
            <a:chOff x="0" y="0"/>
            <a:chExt cx="2572779" cy="294993"/>
          </a:xfrm>
        </p:grpSpPr>
        <p:sp>
          <p:nvSpPr>
            <p:cNvPr name="Freeform 10" id="10"/>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11" id="11"/>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028700" y="8250222"/>
            <a:ext cx="2427693" cy="738552"/>
            <a:chOff x="0" y="0"/>
            <a:chExt cx="627063" cy="190765"/>
          </a:xfrm>
        </p:grpSpPr>
        <p:sp>
          <p:nvSpPr>
            <p:cNvPr name="Freeform 13" id="13"/>
            <p:cNvSpPr/>
            <p:nvPr/>
          </p:nvSpPr>
          <p:spPr>
            <a:xfrm flipH="false" flipV="false" rot="0">
              <a:off x="0" y="0"/>
              <a:ext cx="627063" cy="190765"/>
            </a:xfrm>
            <a:custGeom>
              <a:avLst/>
              <a:gdLst/>
              <a:ahLst/>
              <a:cxnLst/>
              <a:rect r="r" b="b" t="t" l="l"/>
              <a:pathLst>
                <a:path h="190765" w="627063">
                  <a:moveTo>
                    <a:pt x="0" y="0"/>
                  </a:moveTo>
                  <a:lnTo>
                    <a:pt x="627063" y="0"/>
                  </a:lnTo>
                  <a:lnTo>
                    <a:pt x="627063" y="190765"/>
                  </a:lnTo>
                  <a:lnTo>
                    <a:pt x="0" y="190765"/>
                  </a:lnTo>
                  <a:close/>
                </a:path>
              </a:pathLst>
            </a:custGeom>
            <a:solidFill>
              <a:srgbClr val="00B58F"/>
            </a:solidFill>
            <a:ln cap="sq">
              <a:noFill/>
              <a:prstDash val="solid"/>
              <a:miter/>
            </a:ln>
          </p:spPr>
        </p:sp>
        <p:sp>
          <p:nvSpPr>
            <p:cNvPr name="TextBox 14" id="14"/>
            <p:cNvSpPr txBox="true"/>
            <p:nvPr/>
          </p:nvSpPr>
          <p:spPr>
            <a:xfrm>
              <a:off x="0" y="-38100"/>
              <a:ext cx="627063" cy="228865"/>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3643998" y="8250222"/>
            <a:ext cx="2427693" cy="738552"/>
            <a:chOff x="0" y="0"/>
            <a:chExt cx="627063" cy="190765"/>
          </a:xfrm>
        </p:grpSpPr>
        <p:sp>
          <p:nvSpPr>
            <p:cNvPr name="Freeform 16" id="16"/>
            <p:cNvSpPr/>
            <p:nvPr/>
          </p:nvSpPr>
          <p:spPr>
            <a:xfrm flipH="false" flipV="false" rot="0">
              <a:off x="0" y="0"/>
              <a:ext cx="627063" cy="190765"/>
            </a:xfrm>
            <a:custGeom>
              <a:avLst/>
              <a:gdLst/>
              <a:ahLst/>
              <a:cxnLst/>
              <a:rect r="r" b="b" t="t" l="l"/>
              <a:pathLst>
                <a:path h="190765" w="627063">
                  <a:moveTo>
                    <a:pt x="31890" y="0"/>
                  </a:moveTo>
                  <a:lnTo>
                    <a:pt x="595173" y="0"/>
                  </a:lnTo>
                  <a:cubicBezTo>
                    <a:pt x="612786" y="0"/>
                    <a:pt x="627063" y="14278"/>
                    <a:pt x="627063" y="31890"/>
                  </a:cubicBezTo>
                  <a:lnTo>
                    <a:pt x="627063" y="158875"/>
                  </a:lnTo>
                  <a:cubicBezTo>
                    <a:pt x="627063" y="167333"/>
                    <a:pt x="623703" y="175444"/>
                    <a:pt x="617723" y="181424"/>
                  </a:cubicBezTo>
                  <a:cubicBezTo>
                    <a:pt x="611742" y="187405"/>
                    <a:pt x="603631" y="190765"/>
                    <a:pt x="595173" y="190765"/>
                  </a:cubicBezTo>
                  <a:lnTo>
                    <a:pt x="31890" y="190765"/>
                  </a:lnTo>
                  <a:cubicBezTo>
                    <a:pt x="14278" y="190765"/>
                    <a:pt x="0" y="176487"/>
                    <a:pt x="0" y="158875"/>
                  </a:cubicBezTo>
                  <a:lnTo>
                    <a:pt x="0" y="31890"/>
                  </a:lnTo>
                  <a:cubicBezTo>
                    <a:pt x="0" y="14278"/>
                    <a:pt x="14278" y="0"/>
                    <a:pt x="31890" y="0"/>
                  </a:cubicBezTo>
                  <a:close/>
                </a:path>
              </a:pathLst>
            </a:custGeom>
            <a:solidFill>
              <a:srgbClr val="0B132B"/>
            </a:solidFill>
            <a:ln cap="sq">
              <a:noFill/>
              <a:prstDash val="solid"/>
              <a:miter/>
            </a:ln>
          </p:spPr>
        </p:sp>
        <p:sp>
          <p:nvSpPr>
            <p:cNvPr name="TextBox 17" id="17"/>
            <p:cNvSpPr txBox="true"/>
            <p:nvPr/>
          </p:nvSpPr>
          <p:spPr>
            <a:xfrm>
              <a:off x="0" y="-38100"/>
              <a:ext cx="627063" cy="228865"/>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2139361" y="1028700"/>
            <a:ext cx="5329489" cy="8229600"/>
            <a:chOff x="0" y="0"/>
            <a:chExt cx="4112260" cy="6350000"/>
          </a:xfrm>
        </p:grpSpPr>
        <p:sp>
          <p:nvSpPr>
            <p:cNvPr name="Freeform 19" id="19"/>
            <p:cNvSpPr/>
            <p:nvPr/>
          </p:nvSpPr>
          <p:spPr>
            <a:xfrm flipH="false" flipV="false" rot="0">
              <a:off x="0" y="0"/>
              <a:ext cx="4112260" cy="6350000"/>
            </a:xfrm>
            <a:custGeom>
              <a:avLst/>
              <a:gdLst/>
              <a:ahLst/>
              <a:cxnLst/>
              <a:rect r="r" b="b" t="t" l="l"/>
              <a:pathLst>
                <a:path h="6350000" w="4112260">
                  <a:moveTo>
                    <a:pt x="4112260" y="623570"/>
                  </a:moveTo>
                  <a:lnTo>
                    <a:pt x="4112260" y="2641600"/>
                  </a:lnTo>
                  <a:cubicBezTo>
                    <a:pt x="4112260" y="2821940"/>
                    <a:pt x="4033520" y="2993390"/>
                    <a:pt x="3897630" y="3112770"/>
                  </a:cubicBezTo>
                  <a:cubicBezTo>
                    <a:pt x="3761740" y="3230880"/>
                    <a:pt x="3683000" y="3402330"/>
                    <a:pt x="3683000" y="3583940"/>
                  </a:cubicBezTo>
                  <a:lnTo>
                    <a:pt x="3683000" y="5726430"/>
                  </a:lnTo>
                  <a:cubicBezTo>
                    <a:pt x="3683000" y="6070600"/>
                    <a:pt x="3403600" y="6350000"/>
                    <a:pt x="3059430" y="6350000"/>
                  </a:cubicBezTo>
                  <a:lnTo>
                    <a:pt x="623570" y="6350000"/>
                  </a:lnTo>
                  <a:cubicBezTo>
                    <a:pt x="279400" y="6350000"/>
                    <a:pt x="0" y="6070600"/>
                    <a:pt x="0" y="5726430"/>
                  </a:cubicBezTo>
                  <a:lnTo>
                    <a:pt x="0" y="623570"/>
                  </a:lnTo>
                  <a:cubicBezTo>
                    <a:pt x="0" y="279400"/>
                    <a:pt x="279400" y="0"/>
                    <a:pt x="623570" y="0"/>
                  </a:cubicBezTo>
                  <a:lnTo>
                    <a:pt x="3489960" y="0"/>
                  </a:lnTo>
                  <a:cubicBezTo>
                    <a:pt x="3834130" y="0"/>
                    <a:pt x="4112260" y="279400"/>
                    <a:pt x="4112260" y="623570"/>
                  </a:cubicBezTo>
                  <a:close/>
                </a:path>
              </a:pathLst>
            </a:custGeom>
            <a:blipFill>
              <a:blip r:embed="rId3"/>
              <a:stretch>
                <a:fillRect l="-103053" t="-10822" r="-53798" b="0"/>
              </a:stretch>
            </a:blipFill>
          </p:spPr>
        </p:sp>
      </p:grpSp>
      <p:grpSp>
        <p:nvGrpSpPr>
          <p:cNvPr name="Group 20" id="20"/>
          <p:cNvGrpSpPr/>
          <p:nvPr/>
        </p:nvGrpSpPr>
        <p:grpSpPr>
          <a:xfrm rot="5400000">
            <a:off x="15570345" y="6689578"/>
            <a:ext cx="3444583" cy="352427"/>
            <a:chOff x="0" y="0"/>
            <a:chExt cx="2588106" cy="264798"/>
          </a:xfrm>
        </p:grpSpPr>
        <p:sp>
          <p:nvSpPr>
            <p:cNvPr name="Freeform 21" id="21"/>
            <p:cNvSpPr/>
            <p:nvPr/>
          </p:nvSpPr>
          <p:spPr>
            <a:xfrm flipH="false" flipV="false" rot="0">
              <a:off x="34177" y="0"/>
              <a:ext cx="2519753" cy="264798"/>
            </a:xfrm>
            <a:custGeom>
              <a:avLst/>
              <a:gdLst/>
              <a:ahLst/>
              <a:cxnLst/>
              <a:rect r="r" b="b" t="t" l="l"/>
              <a:pathLst>
                <a:path h="264798" w="2519753">
                  <a:moveTo>
                    <a:pt x="2283303" y="0"/>
                  </a:moveTo>
                  <a:lnTo>
                    <a:pt x="33250" y="0"/>
                  </a:lnTo>
                  <a:cubicBezTo>
                    <a:pt x="20590" y="0"/>
                    <a:pt x="9028" y="7190"/>
                    <a:pt x="3429" y="18544"/>
                  </a:cubicBezTo>
                  <a:cubicBezTo>
                    <a:pt x="-2171" y="29899"/>
                    <a:pt x="-836" y="43448"/>
                    <a:pt x="6872" y="53492"/>
                  </a:cubicBezTo>
                  <a:lnTo>
                    <a:pt x="127974" y="211306"/>
                  </a:lnTo>
                  <a:cubicBezTo>
                    <a:pt x="153852" y="245029"/>
                    <a:pt x="193942" y="264798"/>
                    <a:pt x="236450" y="264798"/>
                  </a:cubicBezTo>
                  <a:lnTo>
                    <a:pt x="2486503" y="264798"/>
                  </a:lnTo>
                  <a:cubicBezTo>
                    <a:pt x="2499163" y="264798"/>
                    <a:pt x="2510725" y="257608"/>
                    <a:pt x="2516324" y="246254"/>
                  </a:cubicBezTo>
                  <a:cubicBezTo>
                    <a:pt x="2521923" y="234899"/>
                    <a:pt x="2520588" y="221350"/>
                    <a:pt x="2512881" y="211306"/>
                  </a:cubicBezTo>
                  <a:lnTo>
                    <a:pt x="2391778" y="53492"/>
                  </a:lnTo>
                  <a:cubicBezTo>
                    <a:pt x="2365900" y="19769"/>
                    <a:pt x="2325810" y="0"/>
                    <a:pt x="2283303" y="0"/>
                  </a:cubicBezTo>
                  <a:close/>
                </a:path>
              </a:pathLst>
            </a:custGeom>
            <a:solidFill>
              <a:srgbClr val="00B58F"/>
            </a:solidFill>
          </p:spPr>
        </p:sp>
        <p:sp>
          <p:nvSpPr>
            <p:cNvPr name="TextBox 22" id="22"/>
            <p:cNvSpPr txBox="true"/>
            <p:nvPr/>
          </p:nvSpPr>
          <p:spPr>
            <a:xfrm>
              <a:off x="101600" y="-38100"/>
              <a:ext cx="2384906" cy="302898"/>
            </a:xfrm>
            <a:prstGeom prst="rect">
              <a:avLst/>
            </a:prstGeom>
          </p:spPr>
          <p:txBody>
            <a:bodyPr anchor="ctr" rtlCol="false" tIns="50800" lIns="50800" bIns="50800" rIns="50800"/>
            <a:lstStyle/>
            <a:p>
              <a:pPr algn="ctr">
                <a:lnSpc>
                  <a:spcPts val="2659"/>
                </a:lnSpc>
              </a:pPr>
            </a:p>
          </p:txBody>
        </p:sp>
      </p:grpSp>
      <p:sp>
        <p:nvSpPr>
          <p:cNvPr name="Freeform 23" id="23"/>
          <p:cNvSpPr/>
          <p:nvPr/>
        </p:nvSpPr>
        <p:spPr>
          <a:xfrm flipH="false" flipV="false" rot="0">
            <a:off x="1028700" y="1493108"/>
            <a:ext cx="268503" cy="213826"/>
          </a:xfrm>
          <a:custGeom>
            <a:avLst/>
            <a:gdLst/>
            <a:ahLst/>
            <a:cxnLst/>
            <a:rect r="r" b="b" t="t" l="l"/>
            <a:pathLst>
              <a:path h="213826" w="268503">
                <a:moveTo>
                  <a:pt x="0" y="0"/>
                </a:moveTo>
                <a:lnTo>
                  <a:pt x="268503" y="0"/>
                </a:lnTo>
                <a:lnTo>
                  <a:pt x="268503" y="213826"/>
                </a:lnTo>
                <a:lnTo>
                  <a:pt x="0" y="2138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4" id="24"/>
          <p:cNvGrpSpPr/>
          <p:nvPr/>
        </p:nvGrpSpPr>
        <p:grpSpPr>
          <a:xfrm rot="0">
            <a:off x="10789445" y="6940961"/>
            <a:ext cx="2284248" cy="663414"/>
            <a:chOff x="0" y="0"/>
            <a:chExt cx="590012" cy="171357"/>
          </a:xfrm>
        </p:grpSpPr>
        <p:sp>
          <p:nvSpPr>
            <p:cNvPr name="Freeform 25" id="25"/>
            <p:cNvSpPr/>
            <p:nvPr/>
          </p:nvSpPr>
          <p:spPr>
            <a:xfrm flipH="false" flipV="false" rot="0">
              <a:off x="0" y="0"/>
              <a:ext cx="590012" cy="171357"/>
            </a:xfrm>
            <a:custGeom>
              <a:avLst/>
              <a:gdLst/>
              <a:ahLst/>
              <a:cxnLst/>
              <a:rect r="r" b="b" t="t" l="l"/>
              <a:pathLst>
                <a:path h="171357" w="590012">
                  <a:moveTo>
                    <a:pt x="33893" y="0"/>
                  </a:moveTo>
                  <a:lnTo>
                    <a:pt x="556119" y="0"/>
                  </a:lnTo>
                  <a:cubicBezTo>
                    <a:pt x="565108" y="0"/>
                    <a:pt x="573729" y="3571"/>
                    <a:pt x="580085" y="9927"/>
                  </a:cubicBezTo>
                  <a:cubicBezTo>
                    <a:pt x="586441" y="16283"/>
                    <a:pt x="590012" y="24904"/>
                    <a:pt x="590012" y="33893"/>
                  </a:cubicBezTo>
                  <a:lnTo>
                    <a:pt x="590012" y="137464"/>
                  </a:lnTo>
                  <a:cubicBezTo>
                    <a:pt x="590012" y="146453"/>
                    <a:pt x="586441" y="155074"/>
                    <a:pt x="580085" y="161430"/>
                  </a:cubicBezTo>
                  <a:cubicBezTo>
                    <a:pt x="573729" y="167786"/>
                    <a:pt x="565108" y="171357"/>
                    <a:pt x="556119" y="171357"/>
                  </a:cubicBezTo>
                  <a:lnTo>
                    <a:pt x="33893" y="171357"/>
                  </a:lnTo>
                  <a:cubicBezTo>
                    <a:pt x="24904" y="171357"/>
                    <a:pt x="16283" y="167786"/>
                    <a:pt x="9927" y="161430"/>
                  </a:cubicBezTo>
                  <a:cubicBezTo>
                    <a:pt x="3571" y="155074"/>
                    <a:pt x="0" y="146453"/>
                    <a:pt x="0" y="137464"/>
                  </a:cubicBezTo>
                  <a:lnTo>
                    <a:pt x="0" y="33893"/>
                  </a:lnTo>
                  <a:cubicBezTo>
                    <a:pt x="0" y="24904"/>
                    <a:pt x="3571" y="16283"/>
                    <a:pt x="9927" y="9927"/>
                  </a:cubicBezTo>
                  <a:cubicBezTo>
                    <a:pt x="16283" y="3571"/>
                    <a:pt x="24904" y="0"/>
                    <a:pt x="33893" y="0"/>
                  </a:cubicBezTo>
                  <a:close/>
                </a:path>
              </a:pathLst>
            </a:custGeom>
            <a:solidFill>
              <a:srgbClr val="FFFFFF"/>
            </a:solidFill>
            <a:ln cap="sq">
              <a:noFill/>
              <a:prstDash val="solid"/>
              <a:miter/>
            </a:ln>
          </p:spPr>
        </p:sp>
        <p:sp>
          <p:nvSpPr>
            <p:cNvPr name="TextBox 26" id="26"/>
            <p:cNvSpPr txBox="true"/>
            <p:nvPr/>
          </p:nvSpPr>
          <p:spPr>
            <a:xfrm>
              <a:off x="0" y="-38100"/>
              <a:ext cx="590012" cy="209457"/>
            </a:xfrm>
            <a:prstGeom prst="rect">
              <a:avLst/>
            </a:prstGeom>
          </p:spPr>
          <p:txBody>
            <a:bodyPr anchor="ctr" rtlCol="false" tIns="50800" lIns="50800" bIns="50800" rIns="50800"/>
            <a:lstStyle/>
            <a:p>
              <a:pPr algn="ctr">
                <a:lnSpc>
                  <a:spcPts val="2659"/>
                </a:lnSpc>
                <a:spcBef>
                  <a:spcPct val="0"/>
                </a:spcBef>
              </a:pPr>
            </a:p>
          </p:txBody>
        </p:sp>
      </p:grpSp>
      <p:grpSp>
        <p:nvGrpSpPr>
          <p:cNvPr name="Group 27" id="27"/>
          <p:cNvGrpSpPr/>
          <p:nvPr/>
        </p:nvGrpSpPr>
        <p:grpSpPr>
          <a:xfrm rot="0">
            <a:off x="10789445" y="7760377"/>
            <a:ext cx="2284248" cy="663414"/>
            <a:chOff x="0" y="0"/>
            <a:chExt cx="590012" cy="171357"/>
          </a:xfrm>
        </p:grpSpPr>
        <p:sp>
          <p:nvSpPr>
            <p:cNvPr name="Freeform 28" id="28"/>
            <p:cNvSpPr/>
            <p:nvPr/>
          </p:nvSpPr>
          <p:spPr>
            <a:xfrm flipH="false" flipV="false" rot="0">
              <a:off x="0" y="0"/>
              <a:ext cx="590012" cy="171357"/>
            </a:xfrm>
            <a:custGeom>
              <a:avLst/>
              <a:gdLst/>
              <a:ahLst/>
              <a:cxnLst/>
              <a:rect r="r" b="b" t="t" l="l"/>
              <a:pathLst>
                <a:path h="171357" w="590012">
                  <a:moveTo>
                    <a:pt x="33893" y="0"/>
                  </a:moveTo>
                  <a:lnTo>
                    <a:pt x="556119" y="0"/>
                  </a:lnTo>
                  <a:cubicBezTo>
                    <a:pt x="565108" y="0"/>
                    <a:pt x="573729" y="3571"/>
                    <a:pt x="580085" y="9927"/>
                  </a:cubicBezTo>
                  <a:cubicBezTo>
                    <a:pt x="586441" y="16283"/>
                    <a:pt x="590012" y="24904"/>
                    <a:pt x="590012" y="33893"/>
                  </a:cubicBezTo>
                  <a:lnTo>
                    <a:pt x="590012" y="137464"/>
                  </a:lnTo>
                  <a:cubicBezTo>
                    <a:pt x="590012" y="146453"/>
                    <a:pt x="586441" y="155074"/>
                    <a:pt x="580085" y="161430"/>
                  </a:cubicBezTo>
                  <a:cubicBezTo>
                    <a:pt x="573729" y="167786"/>
                    <a:pt x="565108" y="171357"/>
                    <a:pt x="556119" y="171357"/>
                  </a:cubicBezTo>
                  <a:lnTo>
                    <a:pt x="33893" y="171357"/>
                  </a:lnTo>
                  <a:cubicBezTo>
                    <a:pt x="24904" y="171357"/>
                    <a:pt x="16283" y="167786"/>
                    <a:pt x="9927" y="161430"/>
                  </a:cubicBezTo>
                  <a:cubicBezTo>
                    <a:pt x="3571" y="155074"/>
                    <a:pt x="0" y="146453"/>
                    <a:pt x="0" y="137464"/>
                  </a:cubicBezTo>
                  <a:lnTo>
                    <a:pt x="0" y="33893"/>
                  </a:lnTo>
                  <a:cubicBezTo>
                    <a:pt x="0" y="24904"/>
                    <a:pt x="3571" y="16283"/>
                    <a:pt x="9927" y="9927"/>
                  </a:cubicBezTo>
                  <a:cubicBezTo>
                    <a:pt x="16283" y="3571"/>
                    <a:pt x="24904" y="0"/>
                    <a:pt x="33893" y="0"/>
                  </a:cubicBezTo>
                  <a:close/>
                </a:path>
              </a:pathLst>
            </a:custGeom>
            <a:solidFill>
              <a:srgbClr val="FFFFFF"/>
            </a:solidFill>
            <a:ln cap="sq">
              <a:noFill/>
              <a:prstDash val="solid"/>
              <a:miter/>
            </a:ln>
          </p:spPr>
        </p:sp>
        <p:sp>
          <p:nvSpPr>
            <p:cNvPr name="TextBox 29" id="29"/>
            <p:cNvSpPr txBox="true"/>
            <p:nvPr/>
          </p:nvSpPr>
          <p:spPr>
            <a:xfrm>
              <a:off x="0" y="-38100"/>
              <a:ext cx="590012" cy="209457"/>
            </a:xfrm>
            <a:prstGeom prst="rect">
              <a:avLst/>
            </a:prstGeom>
          </p:spPr>
          <p:txBody>
            <a:bodyPr anchor="ctr" rtlCol="false" tIns="50800" lIns="50800" bIns="50800" rIns="50800"/>
            <a:lstStyle/>
            <a:p>
              <a:pPr algn="ctr">
                <a:lnSpc>
                  <a:spcPts val="2659"/>
                </a:lnSpc>
                <a:spcBef>
                  <a:spcPct val="0"/>
                </a:spcBef>
              </a:pPr>
            </a:p>
          </p:txBody>
        </p:sp>
      </p:grpSp>
      <p:grpSp>
        <p:nvGrpSpPr>
          <p:cNvPr name="Group 30" id="30"/>
          <p:cNvGrpSpPr/>
          <p:nvPr/>
        </p:nvGrpSpPr>
        <p:grpSpPr>
          <a:xfrm rot="0">
            <a:off x="10789445" y="8579794"/>
            <a:ext cx="2284248" cy="663414"/>
            <a:chOff x="0" y="0"/>
            <a:chExt cx="590012" cy="171357"/>
          </a:xfrm>
        </p:grpSpPr>
        <p:sp>
          <p:nvSpPr>
            <p:cNvPr name="Freeform 31" id="31"/>
            <p:cNvSpPr/>
            <p:nvPr/>
          </p:nvSpPr>
          <p:spPr>
            <a:xfrm flipH="false" flipV="false" rot="0">
              <a:off x="0" y="0"/>
              <a:ext cx="590012" cy="171357"/>
            </a:xfrm>
            <a:custGeom>
              <a:avLst/>
              <a:gdLst/>
              <a:ahLst/>
              <a:cxnLst/>
              <a:rect r="r" b="b" t="t" l="l"/>
              <a:pathLst>
                <a:path h="171357" w="590012">
                  <a:moveTo>
                    <a:pt x="33893" y="0"/>
                  </a:moveTo>
                  <a:lnTo>
                    <a:pt x="556119" y="0"/>
                  </a:lnTo>
                  <a:cubicBezTo>
                    <a:pt x="565108" y="0"/>
                    <a:pt x="573729" y="3571"/>
                    <a:pt x="580085" y="9927"/>
                  </a:cubicBezTo>
                  <a:cubicBezTo>
                    <a:pt x="586441" y="16283"/>
                    <a:pt x="590012" y="24904"/>
                    <a:pt x="590012" y="33893"/>
                  </a:cubicBezTo>
                  <a:lnTo>
                    <a:pt x="590012" y="137464"/>
                  </a:lnTo>
                  <a:cubicBezTo>
                    <a:pt x="590012" y="146453"/>
                    <a:pt x="586441" y="155074"/>
                    <a:pt x="580085" y="161430"/>
                  </a:cubicBezTo>
                  <a:cubicBezTo>
                    <a:pt x="573729" y="167786"/>
                    <a:pt x="565108" y="171357"/>
                    <a:pt x="556119" y="171357"/>
                  </a:cubicBezTo>
                  <a:lnTo>
                    <a:pt x="33893" y="171357"/>
                  </a:lnTo>
                  <a:cubicBezTo>
                    <a:pt x="24904" y="171357"/>
                    <a:pt x="16283" y="167786"/>
                    <a:pt x="9927" y="161430"/>
                  </a:cubicBezTo>
                  <a:cubicBezTo>
                    <a:pt x="3571" y="155074"/>
                    <a:pt x="0" y="146453"/>
                    <a:pt x="0" y="137464"/>
                  </a:cubicBezTo>
                  <a:lnTo>
                    <a:pt x="0" y="33893"/>
                  </a:lnTo>
                  <a:cubicBezTo>
                    <a:pt x="0" y="24904"/>
                    <a:pt x="3571" y="16283"/>
                    <a:pt x="9927" y="9927"/>
                  </a:cubicBezTo>
                  <a:cubicBezTo>
                    <a:pt x="16283" y="3571"/>
                    <a:pt x="24904" y="0"/>
                    <a:pt x="33893" y="0"/>
                  </a:cubicBezTo>
                  <a:close/>
                </a:path>
              </a:pathLst>
            </a:custGeom>
            <a:solidFill>
              <a:srgbClr val="FFFFFF"/>
            </a:solidFill>
            <a:ln cap="sq">
              <a:noFill/>
              <a:prstDash val="solid"/>
              <a:miter/>
            </a:ln>
          </p:spPr>
        </p:sp>
        <p:sp>
          <p:nvSpPr>
            <p:cNvPr name="TextBox 32" id="32"/>
            <p:cNvSpPr txBox="true"/>
            <p:nvPr/>
          </p:nvSpPr>
          <p:spPr>
            <a:xfrm>
              <a:off x="0" y="-38100"/>
              <a:ext cx="590012" cy="209457"/>
            </a:xfrm>
            <a:prstGeom prst="rect">
              <a:avLst/>
            </a:prstGeom>
          </p:spPr>
          <p:txBody>
            <a:bodyPr anchor="ctr" rtlCol="false" tIns="50800" lIns="50800" bIns="50800" rIns="50800"/>
            <a:lstStyle/>
            <a:p>
              <a:pPr algn="ctr">
                <a:lnSpc>
                  <a:spcPts val="2659"/>
                </a:lnSpc>
                <a:spcBef>
                  <a:spcPct val="0"/>
                </a:spcBef>
              </a:pPr>
            </a:p>
          </p:txBody>
        </p:sp>
      </p:grpSp>
      <p:sp>
        <p:nvSpPr>
          <p:cNvPr name="Freeform 33" id="33"/>
          <p:cNvSpPr/>
          <p:nvPr/>
        </p:nvSpPr>
        <p:spPr>
          <a:xfrm flipH="false" flipV="false" rot="0">
            <a:off x="1156904" y="8383661"/>
            <a:ext cx="483677" cy="490724"/>
          </a:xfrm>
          <a:custGeom>
            <a:avLst/>
            <a:gdLst/>
            <a:ahLst/>
            <a:cxnLst/>
            <a:rect r="r" b="b" t="t" l="l"/>
            <a:pathLst>
              <a:path h="490724" w="483677">
                <a:moveTo>
                  <a:pt x="0" y="0"/>
                </a:moveTo>
                <a:lnTo>
                  <a:pt x="483677" y="0"/>
                </a:lnTo>
                <a:lnTo>
                  <a:pt x="483677" y="490724"/>
                </a:lnTo>
                <a:lnTo>
                  <a:pt x="0" y="49072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4" id="34"/>
          <p:cNvSpPr/>
          <p:nvPr/>
        </p:nvSpPr>
        <p:spPr>
          <a:xfrm flipH="false" flipV="false" rot="0">
            <a:off x="3808798" y="8383661"/>
            <a:ext cx="467526" cy="490724"/>
          </a:xfrm>
          <a:custGeom>
            <a:avLst/>
            <a:gdLst/>
            <a:ahLst/>
            <a:cxnLst/>
            <a:rect r="r" b="b" t="t" l="l"/>
            <a:pathLst>
              <a:path h="490724" w="467526">
                <a:moveTo>
                  <a:pt x="0" y="0"/>
                </a:moveTo>
                <a:lnTo>
                  <a:pt x="467526" y="0"/>
                </a:lnTo>
                <a:lnTo>
                  <a:pt x="467526" y="490724"/>
                </a:lnTo>
                <a:lnTo>
                  <a:pt x="0" y="49072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35" id="35"/>
          <p:cNvGrpSpPr/>
          <p:nvPr/>
        </p:nvGrpSpPr>
        <p:grpSpPr>
          <a:xfrm rot="0">
            <a:off x="928429" y="5747459"/>
            <a:ext cx="1817422" cy="1420273"/>
            <a:chOff x="0" y="0"/>
            <a:chExt cx="2423229" cy="1893698"/>
          </a:xfrm>
        </p:grpSpPr>
        <p:grpSp>
          <p:nvGrpSpPr>
            <p:cNvPr name="Group 36" id="36"/>
            <p:cNvGrpSpPr/>
            <p:nvPr/>
          </p:nvGrpSpPr>
          <p:grpSpPr>
            <a:xfrm rot="0">
              <a:off x="0" y="0"/>
              <a:ext cx="2423229" cy="1893698"/>
              <a:chOff x="0" y="0"/>
              <a:chExt cx="292319" cy="228441"/>
            </a:xfrm>
          </p:grpSpPr>
          <p:sp>
            <p:nvSpPr>
              <p:cNvPr name="Freeform 37" id="37"/>
              <p:cNvSpPr/>
              <p:nvPr/>
            </p:nvSpPr>
            <p:spPr>
              <a:xfrm flipH="false" flipV="false" rot="0">
                <a:off x="0" y="0"/>
                <a:ext cx="292319" cy="228441"/>
              </a:xfrm>
              <a:custGeom>
                <a:avLst/>
                <a:gdLst/>
                <a:ahLst/>
                <a:cxnLst/>
                <a:rect r="r" b="b" t="t" l="l"/>
                <a:pathLst>
                  <a:path h="228441" w="292319">
                    <a:moveTo>
                      <a:pt x="42598" y="0"/>
                    </a:moveTo>
                    <a:lnTo>
                      <a:pt x="249721" y="0"/>
                    </a:lnTo>
                    <a:cubicBezTo>
                      <a:pt x="261019" y="0"/>
                      <a:pt x="271854" y="4488"/>
                      <a:pt x="279842" y="12477"/>
                    </a:cubicBezTo>
                    <a:cubicBezTo>
                      <a:pt x="287831" y="20466"/>
                      <a:pt x="292319" y="31301"/>
                      <a:pt x="292319" y="42598"/>
                    </a:cubicBezTo>
                    <a:lnTo>
                      <a:pt x="292319" y="185842"/>
                    </a:lnTo>
                    <a:cubicBezTo>
                      <a:pt x="292319" y="197140"/>
                      <a:pt x="287831" y="207975"/>
                      <a:pt x="279842" y="215964"/>
                    </a:cubicBezTo>
                    <a:cubicBezTo>
                      <a:pt x="271854" y="223953"/>
                      <a:pt x="261019" y="228441"/>
                      <a:pt x="249721" y="228441"/>
                    </a:cubicBezTo>
                    <a:lnTo>
                      <a:pt x="42598" y="228441"/>
                    </a:lnTo>
                    <a:cubicBezTo>
                      <a:pt x="31301" y="228441"/>
                      <a:pt x="20466" y="223953"/>
                      <a:pt x="12477" y="215964"/>
                    </a:cubicBezTo>
                    <a:cubicBezTo>
                      <a:pt x="4488" y="207975"/>
                      <a:pt x="0" y="197140"/>
                      <a:pt x="0" y="185842"/>
                    </a:cubicBezTo>
                    <a:lnTo>
                      <a:pt x="0" y="42598"/>
                    </a:lnTo>
                    <a:cubicBezTo>
                      <a:pt x="0" y="31301"/>
                      <a:pt x="4488" y="20466"/>
                      <a:pt x="12477" y="12477"/>
                    </a:cubicBezTo>
                    <a:cubicBezTo>
                      <a:pt x="20466" y="4488"/>
                      <a:pt x="31301" y="0"/>
                      <a:pt x="42598" y="0"/>
                    </a:cubicBezTo>
                    <a:close/>
                  </a:path>
                </a:pathLst>
              </a:custGeom>
              <a:ln w="19050" cap="sq">
                <a:solidFill>
                  <a:srgbClr val="00B58F"/>
                </a:solidFill>
                <a:prstDash val="solid"/>
                <a:miter/>
              </a:ln>
            </p:spPr>
          </p:sp>
          <p:sp>
            <p:nvSpPr>
              <p:cNvPr name="TextBox 38" id="38"/>
              <p:cNvSpPr txBox="true"/>
              <p:nvPr/>
            </p:nvSpPr>
            <p:spPr>
              <a:xfrm>
                <a:off x="0" y="-38100"/>
                <a:ext cx="292319" cy="266541"/>
              </a:xfrm>
              <a:prstGeom prst="rect">
                <a:avLst/>
              </a:prstGeom>
            </p:spPr>
            <p:txBody>
              <a:bodyPr anchor="ctr" rtlCol="false" tIns="50800" lIns="50800" bIns="50800" rIns="50800"/>
              <a:lstStyle/>
              <a:p>
                <a:pPr algn="ctr">
                  <a:lnSpc>
                    <a:spcPts val="2659"/>
                  </a:lnSpc>
                  <a:spcBef>
                    <a:spcPct val="0"/>
                  </a:spcBef>
                </a:pPr>
              </a:p>
            </p:txBody>
          </p:sp>
        </p:grpSp>
        <p:sp>
          <p:nvSpPr>
            <p:cNvPr name="Freeform 39" id="39"/>
            <p:cNvSpPr/>
            <p:nvPr/>
          </p:nvSpPr>
          <p:spPr>
            <a:xfrm flipH="false" flipV="false" rot="0">
              <a:off x="0" y="15186"/>
              <a:ext cx="2423229" cy="1878512"/>
            </a:xfrm>
            <a:custGeom>
              <a:avLst/>
              <a:gdLst/>
              <a:ahLst/>
              <a:cxnLst/>
              <a:rect r="r" b="b" t="t" l="l"/>
              <a:pathLst>
                <a:path h="1878512" w="2423229">
                  <a:moveTo>
                    <a:pt x="0" y="0"/>
                  </a:moveTo>
                  <a:lnTo>
                    <a:pt x="2423229" y="0"/>
                  </a:lnTo>
                  <a:lnTo>
                    <a:pt x="2423229" y="1878512"/>
                  </a:lnTo>
                  <a:lnTo>
                    <a:pt x="0" y="1878512"/>
                  </a:lnTo>
                  <a:lnTo>
                    <a:pt x="0" y="0"/>
                  </a:lnTo>
                  <a:close/>
                </a:path>
              </a:pathLst>
            </a:custGeom>
            <a:blipFill>
              <a:blip r:embed="rId10"/>
              <a:stretch>
                <a:fillRect l="0" t="-14498" r="0" b="-14498"/>
              </a:stretch>
            </a:blipFill>
          </p:spPr>
        </p:sp>
      </p:grpSp>
      <p:sp>
        <p:nvSpPr>
          <p:cNvPr name="TextBox 40" id="40"/>
          <p:cNvSpPr txBox="true"/>
          <p:nvPr/>
        </p:nvSpPr>
        <p:spPr>
          <a:xfrm rot="0">
            <a:off x="953562" y="1990874"/>
            <a:ext cx="8598598" cy="2544498"/>
          </a:xfrm>
          <a:prstGeom prst="rect">
            <a:avLst/>
          </a:prstGeom>
        </p:spPr>
        <p:txBody>
          <a:bodyPr anchor="t" rtlCol="false" tIns="0" lIns="0" bIns="0" rIns="0">
            <a:spAutoFit/>
          </a:bodyPr>
          <a:lstStyle/>
          <a:p>
            <a:pPr algn="l">
              <a:lnSpc>
                <a:spcPts val="9800"/>
              </a:lnSpc>
            </a:pPr>
            <a:r>
              <a:rPr lang="en-US" sz="9800">
                <a:solidFill>
                  <a:srgbClr val="0B132B"/>
                </a:solidFill>
                <a:latin typeface="Rubik One"/>
                <a:ea typeface="Rubik One"/>
                <a:cs typeface="Rubik One"/>
                <a:sym typeface="Rubik One"/>
              </a:rPr>
              <a:t>Drive Clean, Go</a:t>
            </a:r>
          </a:p>
        </p:txBody>
      </p:sp>
      <p:sp>
        <p:nvSpPr>
          <p:cNvPr name="TextBox 41" id="41"/>
          <p:cNvSpPr txBox="true"/>
          <p:nvPr/>
        </p:nvSpPr>
        <p:spPr>
          <a:xfrm rot="0">
            <a:off x="3014485" y="3229150"/>
            <a:ext cx="6613875" cy="1306222"/>
          </a:xfrm>
          <a:prstGeom prst="rect">
            <a:avLst/>
          </a:prstGeom>
        </p:spPr>
        <p:txBody>
          <a:bodyPr anchor="t" rtlCol="false" tIns="0" lIns="0" bIns="0" rIns="0">
            <a:spAutoFit/>
          </a:bodyPr>
          <a:lstStyle/>
          <a:p>
            <a:pPr algn="l">
              <a:lnSpc>
                <a:spcPts val="9800"/>
              </a:lnSpc>
            </a:pPr>
            <a:r>
              <a:rPr lang="en-US" sz="9800">
                <a:solidFill>
                  <a:srgbClr val="00B58F"/>
                </a:solidFill>
                <a:latin typeface="Rubik One"/>
                <a:ea typeface="Rubik One"/>
                <a:cs typeface="Rubik One"/>
                <a:sym typeface="Rubik One"/>
              </a:rPr>
              <a:t>Electric</a:t>
            </a:r>
          </a:p>
        </p:txBody>
      </p:sp>
      <p:sp>
        <p:nvSpPr>
          <p:cNvPr name="TextBox 42" id="42"/>
          <p:cNvSpPr txBox="true"/>
          <p:nvPr/>
        </p:nvSpPr>
        <p:spPr>
          <a:xfrm rot="0">
            <a:off x="11167252" y="7132733"/>
            <a:ext cx="1518107" cy="330200"/>
          </a:xfrm>
          <a:prstGeom prst="rect">
            <a:avLst/>
          </a:prstGeom>
        </p:spPr>
        <p:txBody>
          <a:bodyPr anchor="t" rtlCol="false" tIns="0" lIns="0" bIns="0" rIns="0">
            <a:spAutoFit/>
          </a:bodyPr>
          <a:lstStyle/>
          <a:p>
            <a:pPr algn="ctr">
              <a:lnSpc>
                <a:spcPts val="2500"/>
              </a:lnSpc>
            </a:pPr>
            <a:r>
              <a:rPr lang="en-US" sz="2500">
                <a:solidFill>
                  <a:srgbClr val="112752"/>
                </a:solidFill>
                <a:latin typeface="Rubik One"/>
                <a:ea typeface="Rubik One"/>
                <a:cs typeface="Rubik One"/>
                <a:sym typeface="Rubik One"/>
              </a:rPr>
              <a:t>Fast</a:t>
            </a:r>
          </a:p>
        </p:txBody>
      </p:sp>
      <p:sp>
        <p:nvSpPr>
          <p:cNvPr name="TextBox 43" id="43"/>
          <p:cNvSpPr txBox="true"/>
          <p:nvPr/>
        </p:nvSpPr>
        <p:spPr>
          <a:xfrm rot="0">
            <a:off x="10789445" y="7968419"/>
            <a:ext cx="2140938" cy="330200"/>
          </a:xfrm>
          <a:prstGeom prst="rect">
            <a:avLst/>
          </a:prstGeom>
        </p:spPr>
        <p:txBody>
          <a:bodyPr anchor="t" rtlCol="false" tIns="0" lIns="0" bIns="0" rIns="0">
            <a:spAutoFit/>
          </a:bodyPr>
          <a:lstStyle/>
          <a:p>
            <a:pPr algn="ctr">
              <a:lnSpc>
                <a:spcPts val="2500"/>
              </a:lnSpc>
            </a:pPr>
            <a:r>
              <a:rPr lang="en-US" sz="2500">
                <a:solidFill>
                  <a:srgbClr val="112752"/>
                </a:solidFill>
                <a:latin typeface="Rubik One"/>
                <a:ea typeface="Rubik One"/>
                <a:cs typeface="Rubik One"/>
                <a:sym typeface="Rubik One"/>
              </a:rPr>
              <a:t>sustainable</a:t>
            </a:r>
          </a:p>
        </p:txBody>
      </p:sp>
      <p:sp>
        <p:nvSpPr>
          <p:cNvPr name="TextBox 44" id="44"/>
          <p:cNvSpPr txBox="true"/>
          <p:nvPr/>
        </p:nvSpPr>
        <p:spPr>
          <a:xfrm rot="0">
            <a:off x="10778918" y="8787836"/>
            <a:ext cx="2294775" cy="330275"/>
          </a:xfrm>
          <a:prstGeom prst="rect">
            <a:avLst/>
          </a:prstGeom>
        </p:spPr>
        <p:txBody>
          <a:bodyPr anchor="t" rtlCol="false" tIns="0" lIns="0" bIns="0" rIns="0">
            <a:spAutoFit/>
          </a:bodyPr>
          <a:lstStyle/>
          <a:p>
            <a:pPr algn="ctr">
              <a:lnSpc>
                <a:spcPts val="2500"/>
              </a:lnSpc>
            </a:pPr>
            <a:r>
              <a:rPr lang="en-US" sz="2500">
                <a:solidFill>
                  <a:srgbClr val="112752"/>
                </a:solidFill>
                <a:latin typeface="Rubik One"/>
                <a:ea typeface="Rubik One"/>
                <a:cs typeface="Rubik One"/>
                <a:sym typeface="Rubik One"/>
              </a:rPr>
              <a:t>Efficient</a:t>
            </a:r>
          </a:p>
        </p:txBody>
      </p:sp>
      <p:sp>
        <p:nvSpPr>
          <p:cNvPr name="TextBox 45" id="45"/>
          <p:cNvSpPr txBox="true"/>
          <p:nvPr/>
        </p:nvSpPr>
        <p:spPr>
          <a:xfrm rot="0">
            <a:off x="1028700" y="4559374"/>
            <a:ext cx="5230597" cy="1176020"/>
          </a:xfrm>
          <a:prstGeom prst="rect">
            <a:avLst/>
          </a:prstGeom>
        </p:spPr>
        <p:txBody>
          <a:bodyPr anchor="t" rtlCol="false" tIns="0" lIns="0" bIns="0" rIns="0">
            <a:spAutoFit/>
          </a:bodyPr>
          <a:lstStyle/>
          <a:p>
            <a:pPr algn="l">
              <a:lnSpc>
                <a:spcPts val="2379"/>
              </a:lnSpc>
            </a:pPr>
            <a:r>
              <a:rPr lang="en-US" sz="1699" spc="42" b="true">
                <a:solidFill>
                  <a:srgbClr val="0B132B"/>
                </a:solidFill>
                <a:latin typeface="Bricolage Grotesque Bold"/>
                <a:ea typeface="Bricolage Grotesque Bold"/>
                <a:cs typeface="Bricolage Grotesque Bold"/>
                <a:sym typeface="Bricolage Grotesque Bold"/>
              </a:rPr>
              <a:t>analysing cost, performance, efficiency, and environmental impact of Electric cars (EVs) and Petrol cars to understand the factors that contribute to change The Future of Mobility.</a:t>
            </a:r>
          </a:p>
        </p:txBody>
      </p:sp>
      <p:sp>
        <p:nvSpPr>
          <p:cNvPr name="TextBox 46" id="46"/>
          <p:cNvSpPr txBox="true"/>
          <p:nvPr/>
        </p:nvSpPr>
        <p:spPr>
          <a:xfrm rot="0">
            <a:off x="3072847" y="6164040"/>
            <a:ext cx="2769896" cy="824866"/>
          </a:xfrm>
          <a:prstGeom prst="rect">
            <a:avLst/>
          </a:prstGeom>
        </p:spPr>
        <p:txBody>
          <a:bodyPr anchor="t" rtlCol="false" tIns="0" lIns="0" bIns="0" rIns="0">
            <a:spAutoFit/>
          </a:bodyPr>
          <a:lstStyle/>
          <a:p>
            <a:pPr algn="l">
              <a:lnSpc>
                <a:spcPts val="3359"/>
              </a:lnSpc>
            </a:pPr>
            <a:r>
              <a:rPr lang="en-US" sz="2399" spc="59" b="true">
                <a:solidFill>
                  <a:srgbClr val="0B132B"/>
                </a:solidFill>
                <a:latin typeface="Bricolage Grotesque Bold"/>
                <a:ea typeface="Bricolage Grotesque Bold"/>
                <a:cs typeface="Bricolage Grotesque Bold"/>
                <a:sym typeface="Bricolage Grotesque Bold"/>
              </a:rPr>
              <a:t>YAT663B_CAI4_</a:t>
            </a:r>
          </a:p>
          <a:p>
            <a:pPr algn="l">
              <a:lnSpc>
                <a:spcPts val="3359"/>
              </a:lnSpc>
            </a:pPr>
            <a:r>
              <a:rPr lang="en-US" sz="2399" spc="59" b="true">
                <a:solidFill>
                  <a:srgbClr val="0B132B"/>
                </a:solidFill>
                <a:latin typeface="Bricolage Grotesque Bold"/>
                <a:ea typeface="Bricolage Grotesque Bold"/>
                <a:cs typeface="Bricolage Grotesque Bold"/>
                <a:sym typeface="Bricolage Grotesque Bold"/>
              </a:rPr>
              <a:t>DAT1_G5_DEPI4</a:t>
            </a:r>
          </a:p>
        </p:txBody>
      </p:sp>
      <p:sp>
        <p:nvSpPr>
          <p:cNvPr name="TextBox 47" id="47"/>
          <p:cNvSpPr txBox="true"/>
          <p:nvPr/>
        </p:nvSpPr>
        <p:spPr>
          <a:xfrm rot="0">
            <a:off x="1028700" y="7793983"/>
            <a:ext cx="3640249" cy="273739"/>
          </a:xfrm>
          <a:prstGeom prst="rect">
            <a:avLst/>
          </a:prstGeom>
        </p:spPr>
        <p:txBody>
          <a:bodyPr anchor="t" rtlCol="false" tIns="0" lIns="0" bIns="0" rIns="0">
            <a:spAutoFit/>
          </a:bodyPr>
          <a:lstStyle/>
          <a:p>
            <a:pPr algn="l" marL="0" indent="0" lvl="0">
              <a:lnSpc>
                <a:spcPts val="2239"/>
              </a:lnSpc>
              <a:spcBef>
                <a:spcPct val="0"/>
              </a:spcBef>
            </a:pPr>
            <a:r>
              <a:rPr lang="en-US" sz="1599" spc="39" strike="noStrike" u="none">
                <a:solidFill>
                  <a:srgbClr val="0B132B"/>
                </a:solidFill>
                <a:latin typeface="Bricolage Grotesque"/>
                <a:ea typeface="Bricolage Grotesque"/>
                <a:cs typeface="Bricolage Grotesque"/>
                <a:sym typeface="Bricolage Grotesque"/>
              </a:rPr>
              <a:t>Get the Beta Test Here</a:t>
            </a:r>
          </a:p>
        </p:txBody>
      </p:sp>
      <p:sp>
        <p:nvSpPr>
          <p:cNvPr name="TextBox 48" id="48"/>
          <p:cNvSpPr txBox="true"/>
          <p:nvPr/>
        </p:nvSpPr>
        <p:spPr>
          <a:xfrm rot="0">
            <a:off x="1769042" y="8553106"/>
            <a:ext cx="1524178" cy="273649"/>
          </a:xfrm>
          <a:prstGeom prst="rect">
            <a:avLst/>
          </a:prstGeom>
        </p:spPr>
        <p:txBody>
          <a:bodyPr anchor="t" rtlCol="false" tIns="0" lIns="0" bIns="0" rIns="0">
            <a:spAutoFit/>
          </a:bodyPr>
          <a:lstStyle/>
          <a:p>
            <a:pPr algn="l" marL="0" indent="0" lvl="0">
              <a:lnSpc>
                <a:spcPts val="2239"/>
              </a:lnSpc>
              <a:spcBef>
                <a:spcPct val="0"/>
              </a:spcBef>
            </a:pPr>
            <a:r>
              <a:rPr lang="en-US" b="true" sz="1599" spc="39" u="sng">
                <a:solidFill>
                  <a:srgbClr val="FFFFFF"/>
                </a:solidFill>
                <a:latin typeface="Bricolage Grotesque Bold"/>
                <a:ea typeface="Bricolage Grotesque Bold"/>
                <a:cs typeface="Bricolage Grotesque Bold"/>
                <a:sym typeface="Bricolage Grotesque Bold"/>
                <a:hlinkClick r:id="rId11" tooltip="https://drive.google.com/drive/folders/1rRuEkcp2BGrRYLhm1cY85x4hcOXS0Qp4"/>
              </a:rPr>
              <a:t>GOOGLE DRIVE</a:t>
            </a:r>
          </a:p>
        </p:txBody>
      </p:sp>
      <p:sp>
        <p:nvSpPr>
          <p:cNvPr name="TextBox 49" id="49"/>
          <p:cNvSpPr txBox="true"/>
          <p:nvPr/>
        </p:nvSpPr>
        <p:spPr>
          <a:xfrm rot="0">
            <a:off x="4419199" y="8553106"/>
            <a:ext cx="1524178" cy="273685"/>
          </a:xfrm>
          <a:prstGeom prst="rect">
            <a:avLst/>
          </a:prstGeom>
        </p:spPr>
        <p:txBody>
          <a:bodyPr anchor="t" rtlCol="false" tIns="0" lIns="0" bIns="0" rIns="0">
            <a:spAutoFit/>
          </a:bodyPr>
          <a:lstStyle/>
          <a:p>
            <a:pPr algn="l" marL="0" indent="0" lvl="0">
              <a:lnSpc>
                <a:spcPts val="2239"/>
              </a:lnSpc>
              <a:spcBef>
                <a:spcPct val="0"/>
              </a:spcBef>
            </a:pPr>
            <a:r>
              <a:rPr lang="en-US" b="true" sz="1599" spc="39" u="sng">
                <a:solidFill>
                  <a:srgbClr val="FFFFFF"/>
                </a:solidFill>
                <a:latin typeface="Bricolage Grotesque Bold"/>
                <a:ea typeface="Bricolage Grotesque Bold"/>
                <a:cs typeface="Bricolage Grotesque Bold"/>
                <a:sym typeface="Bricolage Grotesque Bold"/>
                <a:hlinkClick r:id="rId12" tooltip="https://github.com/norarassem-ux/The-Future-of-Mobility-in-the-world/blob/main/README-electric%20vehicles%20project.docx"/>
              </a:rPr>
              <a:t>GIT HUB</a:t>
            </a:r>
          </a:p>
        </p:txBody>
      </p:sp>
      <p:sp>
        <p:nvSpPr>
          <p:cNvPr name="TextBox 50" id="50"/>
          <p:cNvSpPr txBox="true"/>
          <p:nvPr/>
        </p:nvSpPr>
        <p:spPr>
          <a:xfrm rot="0">
            <a:off x="1769042" y="8393102"/>
            <a:ext cx="1524178" cy="198104"/>
          </a:xfrm>
          <a:prstGeom prst="rect">
            <a:avLst/>
          </a:prstGeom>
        </p:spPr>
        <p:txBody>
          <a:bodyPr anchor="t" rtlCol="false" tIns="0" lIns="0" bIns="0" rIns="0">
            <a:spAutoFit/>
          </a:bodyPr>
          <a:lstStyle/>
          <a:p>
            <a:pPr algn="l" marL="0" indent="0" lvl="0">
              <a:lnSpc>
                <a:spcPts val="1680"/>
              </a:lnSpc>
              <a:spcBef>
                <a:spcPct val="0"/>
              </a:spcBef>
            </a:pPr>
            <a:r>
              <a:rPr lang="en-US" sz="1200" spc="30">
                <a:solidFill>
                  <a:srgbClr val="FFFFFF"/>
                </a:solidFill>
                <a:latin typeface="Bricolage Grotesque"/>
                <a:ea typeface="Bricolage Grotesque"/>
                <a:cs typeface="Bricolage Grotesque"/>
                <a:sym typeface="Bricolage Grotesque"/>
              </a:rPr>
              <a:t>Visit Here</a:t>
            </a:r>
          </a:p>
        </p:txBody>
      </p:sp>
      <p:sp>
        <p:nvSpPr>
          <p:cNvPr name="TextBox 51" id="51"/>
          <p:cNvSpPr txBox="true"/>
          <p:nvPr/>
        </p:nvSpPr>
        <p:spPr>
          <a:xfrm rot="0">
            <a:off x="4419199" y="8393102"/>
            <a:ext cx="1524178" cy="198104"/>
          </a:xfrm>
          <a:prstGeom prst="rect">
            <a:avLst/>
          </a:prstGeom>
        </p:spPr>
        <p:txBody>
          <a:bodyPr anchor="t" rtlCol="false" tIns="0" lIns="0" bIns="0" rIns="0">
            <a:spAutoFit/>
          </a:bodyPr>
          <a:lstStyle/>
          <a:p>
            <a:pPr algn="l" marL="0" indent="0" lvl="0">
              <a:lnSpc>
                <a:spcPts val="1680"/>
              </a:lnSpc>
              <a:spcBef>
                <a:spcPct val="0"/>
              </a:spcBef>
            </a:pPr>
            <a:r>
              <a:rPr lang="en-US" sz="1200" spc="30">
                <a:solidFill>
                  <a:srgbClr val="FFFFFF"/>
                </a:solidFill>
                <a:latin typeface="Bricolage Grotesque"/>
                <a:ea typeface="Bricolage Grotesque"/>
                <a:cs typeface="Bricolage Grotesque"/>
                <a:sym typeface="Bricolage Grotesque"/>
              </a:rPr>
              <a:t>Visit Here</a:t>
            </a:r>
          </a:p>
        </p:txBody>
      </p:sp>
      <p:sp>
        <p:nvSpPr>
          <p:cNvPr name="TextBox 52" id="52"/>
          <p:cNvSpPr txBox="true"/>
          <p:nvPr/>
        </p:nvSpPr>
        <p:spPr>
          <a:xfrm rot="0">
            <a:off x="1398742" y="1445483"/>
            <a:ext cx="6185569" cy="365760"/>
          </a:xfrm>
          <a:prstGeom prst="rect">
            <a:avLst/>
          </a:prstGeom>
        </p:spPr>
        <p:txBody>
          <a:bodyPr anchor="t" rtlCol="false" tIns="0" lIns="0" bIns="0" rIns="0">
            <a:spAutoFit/>
          </a:bodyPr>
          <a:lstStyle/>
          <a:p>
            <a:pPr algn="l">
              <a:lnSpc>
                <a:spcPts val="2939"/>
              </a:lnSpc>
            </a:pPr>
            <a:r>
              <a:rPr lang="en-US" sz="2099" spc="52" b="true">
                <a:solidFill>
                  <a:srgbClr val="0B132B"/>
                </a:solidFill>
                <a:latin typeface="Bricolage Grotesque Bold"/>
                <a:ea typeface="Bricolage Grotesque Bold"/>
                <a:cs typeface="Bricolage Grotesque Bold"/>
                <a:sym typeface="Bricolage Grotesque Bold"/>
              </a:rPr>
              <a:t>Electric cars vs Petrol Cars Analysis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808637"/>
            <a:ext cx="229386" cy="182674"/>
          </a:xfrm>
          <a:custGeom>
            <a:avLst/>
            <a:gdLst/>
            <a:ahLst/>
            <a:cxnLst/>
            <a:rect r="r" b="b" t="t" l="l"/>
            <a:pathLst>
              <a:path h="182674" w="229386">
                <a:moveTo>
                  <a:pt x="0" y="0"/>
                </a:moveTo>
                <a:lnTo>
                  <a:pt x="229386" y="0"/>
                </a:lnTo>
                <a:lnTo>
                  <a:pt x="229386" y="182675"/>
                </a:lnTo>
                <a:lnTo>
                  <a:pt x="0" y="1826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953562" y="1608804"/>
            <a:ext cx="7105336" cy="763905"/>
          </a:xfrm>
          <a:prstGeom prst="rect">
            <a:avLst/>
          </a:prstGeom>
        </p:spPr>
        <p:txBody>
          <a:bodyPr anchor="t" rtlCol="false" tIns="0" lIns="0" bIns="0" rIns="0">
            <a:spAutoFit/>
          </a:bodyPr>
          <a:lstStyle/>
          <a:p>
            <a:pPr algn="l">
              <a:lnSpc>
                <a:spcPts val="5700"/>
              </a:lnSpc>
            </a:pPr>
            <a:r>
              <a:rPr lang="en-US" sz="5700">
                <a:solidFill>
                  <a:srgbClr val="0B132B"/>
                </a:solidFill>
                <a:latin typeface="Rubik One"/>
                <a:ea typeface="Rubik One"/>
                <a:cs typeface="Rubik One"/>
                <a:sym typeface="Rubik One"/>
              </a:rPr>
              <a:t>TEAM MEMBERS</a:t>
            </a:r>
          </a:p>
        </p:txBody>
      </p:sp>
      <p:sp>
        <p:nvSpPr>
          <p:cNvPr name="TextBox 4" id="4"/>
          <p:cNvSpPr txBox="true"/>
          <p:nvPr/>
        </p:nvSpPr>
        <p:spPr>
          <a:xfrm rot="0">
            <a:off x="1353022" y="754961"/>
            <a:ext cx="2381625" cy="826135"/>
          </a:xfrm>
          <a:prstGeom prst="rect">
            <a:avLst/>
          </a:prstGeom>
        </p:spPr>
        <p:txBody>
          <a:bodyPr anchor="t" rtlCol="false" tIns="0" lIns="0" bIns="0" rIns="0">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Group-1</a:t>
            </a:r>
          </a:p>
          <a:p>
            <a:pPr algn="l">
              <a:lnSpc>
                <a:spcPts val="2239"/>
              </a:lnSpc>
            </a:pPr>
            <a:r>
              <a:rPr lang="en-US" sz="1599" spc="39">
                <a:solidFill>
                  <a:srgbClr val="0B132B"/>
                </a:solidFill>
                <a:latin typeface="Bricolage Grotesque"/>
                <a:ea typeface="Bricolage Grotesque"/>
                <a:cs typeface="Bricolage Grotesque"/>
                <a:sym typeface="Bricolage Grotesque"/>
              </a:rPr>
              <a:t> Data Analysis</a:t>
            </a:r>
          </a:p>
          <a:p>
            <a:pPr algn="l">
              <a:lnSpc>
                <a:spcPts val="2239"/>
              </a:lnSpc>
            </a:pPr>
          </a:p>
        </p:txBody>
      </p:sp>
      <p:grpSp>
        <p:nvGrpSpPr>
          <p:cNvPr name="Group 5" id="5"/>
          <p:cNvGrpSpPr/>
          <p:nvPr/>
        </p:nvGrpSpPr>
        <p:grpSpPr>
          <a:xfrm rot="0">
            <a:off x="855357" y="3725147"/>
            <a:ext cx="6121685" cy="2213431"/>
            <a:chOff x="0" y="0"/>
            <a:chExt cx="1101940" cy="398431"/>
          </a:xfrm>
        </p:grpSpPr>
        <p:sp>
          <p:nvSpPr>
            <p:cNvPr name="Freeform 6" id="6"/>
            <p:cNvSpPr/>
            <p:nvPr/>
          </p:nvSpPr>
          <p:spPr>
            <a:xfrm flipH="false" flipV="false" rot="0">
              <a:off x="7350" y="0"/>
              <a:ext cx="1087240" cy="398431"/>
            </a:xfrm>
            <a:custGeom>
              <a:avLst/>
              <a:gdLst/>
              <a:ahLst/>
              <a:cxnLst/>
              <a:rect r="r" b="b" t="t" l="l"/>
              <a:pathLst>
                <a:path h="398431" w="1087240">
                  <a:moveTo>
                    <a:pt x="214820" y="0"/>
                  </a:moveTo>
                  <a:lnTo>
                    <a:pt x="1075620" y="0"/>
                  </a:lnTo>
                  <a:cubicBezTo>
                    <a:pt x="1079663" y="0"/>
                    <a:pt x="1083416" y="2102"/>
                    <a:pt x="1085529" y="5550"/>
                  </a:cubicBezTo>
                  <a:cubicBezTo>
                    <a:pt x="1087641" y="8999"/>
                    <a:pt x="1087808" y="13297"/>
                    <a:pt x="1085971" y="16899"/>
                  </a:cubicBezTo>
                  <a:lnTo>
                    <a:pt x="900008" y="381532"/>
                  </a:lnTo>
                  <a:cubicBezTo>
                    <a:pt x="894719" y="391902"/>
                    <a:pt x="884061" y="398431"/>
                    <a:pt x="872420" y="398431"/>
                  </a:cubicBezTo>
                  <a:lnTo>
                    <a:pt x="11620" y="398431"/>
                  </a:lnTo>
                  <a:cubicBezTo>
                    <a:pt x="7576" y="398431"/>
                    <a:pt x="3823" y="396329"/>
                    <a:pt x="1711" y="392880"/>
                  </a:cubicBezTo>
                  <a:cubicBezTo>
                    <a:pt x="-401" y="389432"/>
                    <a:pt x="-569" y="385134"/>
                    <a:pt x="1269" y="381532"/>
                  </a:cubicBezTo>
                  <a:lnTo>
                    <a:pt x="187231" y="16899"/>
                  </a:lnTo>
                  <a:cubicBezTo>
                    <a:pt x="192520" y="6529"/>
                    <a:pt x="203179" y="0"/>
                    <a:pt x="214820" y="0"/>
                  </a:cubicBezTo>
                  <a:close/>
                </a:path>
              </a:pathLst>
            </a:custGeom>
            <a:solidFill>
              <a:srgbClr val="00B58F"/>
            </a:solidFill>
          </p:spPr>
        </p:sp>
        <p:sp>
          <p:nvSpPr>
            <p:cNvPr name="TextBox 7" id="7"/>
            <p:cNvSpPr txBox="true"/>
            <p:nvPr/>
          </p:nvSpPr>
          <p:spPr>
            <a:xfrm>
              <a:off x="101600" y="-38100"/>
              <a:ext cx="898740" cy="436531"/>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855357" y="6625537"/>
            <a:ext cx="6121685" cy="2213431"/>
            <a:chOff x="0" y="0"/>
            <a:chExt cx="1101940" cy="398431"/>
          </a:xfrm>
        </p:grpSpPr>
        <p:sp>
          <p:nvSpPr>
            <p:cNvPr name="Freeform 9" id="9"/>
            <p:cNvSpPr/>
            <p:nvPr/>
          </p:nvSpPr>
          <p:spPr>
            <a:xfrm flipH="false" flipV="false" rot="0">
              <a:off x="7350" y="0"/>
              <a:ext cx="1087240" cy="398431"/>
            </a:xfrm>
            <a:custGeom>
              <a:avLst/>
              <a:gdLst/>
              <a:ahLst/>
              <a:cxnLst/>
              <a:rect r="r" b="b" t="t" l="l"/>
              <a:pathLst>
                <a:path h="398431" w="1087240">
                  <a:moveTo>
                    <a:pt x="214820" y="0"/>
                  </a:moveTo>
                  <a:lnTo>
                    <a:pt x="1075620" y="0"/>
                  </a:lnTo>
                  <a:cubicBezTo>
                    <a:pt x="1079663" y="0"/>
                    <a:pt x="1083416" y="2102"/>
                    <a:pt x="1085529" y="5550"/>
                  </a:cubicBezTo>
                  <a:cubicBezTo>
                    <a:pt x="1087641" y="8999"/>
                    <a:pt x="1087808" y="13297"/>
                    <a:pt x="1085971" y="16899"/>
                  </a:cubicBezTo>
                  <a:lnTo>
                    <a:pt x="900008" y="381532"/>
                  </a:lnTo>
                  <a:cubicBezTo>
                    <a:pt x="894719" y="391902"/>
                    <a:pt x="884061" y="398431"/>
                    <a:pt x="872420" y="398431"/>
                  </a:cubicBezTo>
                  <a:lnTo>
                    <a:pt x="11620" y="398431"/>
                  </a:lnTo>
                  <a:cubicBezTo>
                    <a:pt x="7576" y="398431"/>
                    <a:pt x="3823" y="396329"/>
                    <a:pt x="1711" y="392880"/>
                  </a:cubicBezTo>
                  <a:cubicBezTo>
                    <a:pt x="-401" y="389432"/>
                    <a:pt x="-569" y="385134"/>
                    <a:pt x="1269" y="381532"/>
                  </a:cubicBezTo>
                  <a:lnTo>
                    <a:pt x="187231" y="16899"/>
                  </a:lnTo>
                  <a:cubicBezTo>
                    <a:pt x="192520" y="6529"/>
                    <a:pt x="203179" y="0"/>
                    <a:pt x="214820" y="0"/>
                  </a:cubicBezTo>
                  <a:close/>
                </a:path>
              </a:pathLst>
            </a:custGeom>
            <a:solidFill>
              <a:srgbClr val="00B58F"/>
            </a:solidFill>
          </p:spPr>
        </p:sp>
        <p:sp>
          <p:nvSpPr>
            <p:cNvPr name="TextBox 10" id="10"/>
            <p:cNvSpPr txBox="true"/>
            <p:nvPr/>
          </p:nvSpPr>
          <p:spPr>
            <a:xfrm>
              <a:off x="101600" y="-38100"/>
              <a:ext cx="898740" cy="436531"/>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6205311" y="3725147"/>
            <a:ext cx="6121685" cy="2213431"/>
            <a:chOff x="0" y="0"/>
            <a:chExt cx="1101940" cy="398431"/>
          </a:xfrm>
        </p:grpSpPr>
        <p:sp>
          <p:nvSpPr>
            <p:cNvPr name="Freeform 12" id="12"/>
            <p:cNvSpPr/>
            <p:nvPr/>
          </p:nvSpPr>
          <p:spPr>
            <a:xfrm flipH="false" flipV="false" rot="0">
              <a:off x="7350" y="0"/>
              <a:ext cx="1087240" cy="398431"/>
            </a:xfrm>
            <a:custGeom>
              <a:avLst/>
              <a:gdLst/>
              <a:ahLst/>
              <a:cxnLst/>
              <a:rect r="r" b="b" t="t" l="l"/>
              <a:pathLst>
                <a:path h="398431" w="1087240">
                  <a:moveTo>
                    <a:pt x="214820" y="0"/>
                  </a:moveTo>
                  <a:lnTo>
                    <a:pt x="1075620" y="0"/>
                  </a:lnTo>
                  <a:cubicBezTo>
                    <a:pt x="1079663" y="0"/>
                    <a:pt x="1083416" y="2102"/>
                    <a:pt x="1085529" y="5550"/>
                  </a:cubicBezTo>
                  <a:cubicBezTo>
                    <a:pt x="1087641" y="8999"/>
                    <a:pt x="1087808" y="13297"/>
                    <a:pt x="1085971" y="16899"/>
                  </a:cubicBezTo>
                  <a:lnTo>
                    <a:pt x="900008" y="381532"/>
                  </a:lnTo>
                  <a:cubicBezTo>
                    <a:pt x="894719" y="391902"/>
                    <a:pt x="884061" y="398431"/>
                    <a:pt x="872420" y="398431"/>
                  </a:cubicBezTo>
                  <a:lnTo>
                    <a:pt x="11620" y="398431"/>
                  </a:lnTo>
                  <a:cubicBezTo>
                    <a:pt x="7576" y="398431"/>
                    <a:pt x="3823" y="396329"/>
                    <a:pt x="1711" y="392880"/>
                  </a:cubicBezTo>
                  <a:cubicBezTo>
                    <a:pt x="-401" y="389432"/>
                    <a:pt x="-569" y="385134"/>
                    <a:pt x="1269" y="381532"/>
                  </a:cubicBezTo>
                  <a:lnTo>
                    <a:pt x="187231" y="16899"/>
                  </a:lnTo>
                  <a:cubicBezTo>
                    <a:pt x="192520" y="6529"/>
                    <a:pt x="203179" y="0"/>
                    <a:pt x="214820" y="0"/>
                  </a:cubicBezTo>
                  <a:close/>
                </a:path>
              </a:pathLst>
            </a:custGeom>
            <a:solidFill>
              <a:srgbClr val="00B58F"/>
            </a:solidFill>
          </p:spPr>
        </p:sp>
        <p:sp>
          <p:nvSpPr>
            <p:cNvPr name="TextBox 13" id="13"/>
            <p:cNvSpPr txBox="true"/>
            <p:nvPr/>
          </p:nvSpPr>
          <p:spPr>
            <a:xfrm>
              <a:off x="101600" y="-38100"/>
              <a:ext cx="898740" cy="436531"/>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6205311" y="6625537"/>
            <a:ext cx="6121685" cy="2213431"/>
            <a:chOff x="0" y="0"/>
            <a:chExt cx="1101940" cy="398431"/>
          </a:xfrm>
        </p:grpSpPr>
        <p:sp>
          <p:nvSpPr>
            <p:cNvPr name="Freeform 15" id="15"/>
            <p:cNvSpPr/>
            <p:nvPr/>
          </p:nvSpPr>
          <p:spPr>
            <a:xfrm flipH="false" flipV="false" rot="0">
              <a:off x="7350" y="0"/>
              <a:ext cx="1087240" cy="398431"/>
            </a:xfrm>
            <a:custGeom>
              <a:avLst/>
              <a:gdLst/>
              <a:ahLst/>
              <a:cxnLst/>
              <a:rect r="r" b="b" t="t" l="l"/>
              <a:pathLst>
                <a:path h="398431" w="1087240">
                  <a:moveTo>
                    <a:pt x="214820" y="0"/>
                  </a:moveTo>
                  <a:lnTo>
                    <a:pt x="1075620" y="0"/>
                  </a:lnTo>
                  <a:cubicBezTo>
                    <a:pt x="1079663" y="0"/>
                    <a:pt x="1083416" y="2102"/>
                    <a:pt x="1085529" y="5550"/>
                  </a:cubicBezTo>
                  <a:cubicBezTo>
                    <a:pt x="1087641" y="8999"/>
                    <a:pt x="1087808" y="13297"/>
                    <a:pt x="1085971" y="16899"/>
                  </a:cubicBezTo>
                  <a:lnTo>
                    <a:pt x="900008" y="381532"/>
                  </a:lnTo>
                  <a:cubicBezTo>
                    <a:pt x="894719" y="391902"/>
                    <a:pt x="884061" y="398431"/>
                    <a:pt x="872420" y="398431"/>
                  </a:cubicBezTo>
                  <a:lnTo>
                    <a:pt x="11620" y="398431"/>
                  </a:lnTo>
                  <a:cubicBezTo>
                    <a:pt x="7576" y="398431"/>
                    <a:pt x="3823" y="396329"/>
                    <a:pt x="1711" y="392880"/>
                  </a:cubicBezTo>
                  <a:cubicBezTo>
                    <a:pt x="-401" y="389432"/>
                    <a:pt x="-569" y="385134"/>
                    <a:pt x="1269" y="381532"/>
                  </a:cubicBezTo>
                  <a:lnTo>
                    <a:pt x="187231" y="16899"/>
                  </a:lnTo>
                  <a:cubicBezTo>
                    <a:pt x="192520" y="6529"/>
                    <a:pt x="203179" y="0"/>
                    <a:pt x="214820" y="0"/>
                  </a:cubicBezTo>
                  <a:close/>
                </a:path>
              </a:pathLst>
            </a:custGeom>
            <a:solidFill>
              <a:srgbClr val="00B58F"/>
            </a:solidFill>
          </p:spPr>
        </p:sp>
        <p:sp>
          <p:nvSpPr>
            <p:cNvPr name="TextBox 16" id="16"/>
            <p:cNvSpPr txBox="true"/>
            <p:nvPr/>
          </p:nvSpPr>
          <p:spPr>
            <a:xfrm>
              <a:off x="101600" y="-38100"/>
              <a:ext cx="898740" cy="436531"/>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1527491" y="3725147"/>
            <a:ext cx="6121685" cy="2213431"/>
            <a:chOff x="0" y="0"/>
            <a:chExt cx="1101940" cy="398431"/>
          </a:xfrm>
        </p:grpSpPr>
        <p:sp>
          <p:nvSpPr>
            <p:cNvPr name="Freeform 18" id="18"/>
            <p:cNvSpPr/>
            <p:nvPr/>
          </p:nvSpPr>
          <p:spPr>
            <a:xfrm flipH="false" flipV="false" rot="0">
              <a:off x="7350" y="0"/>
              <a:ext cx="1087240" cy="398431"/>
            </a:xfrm>
            <a:custGeom>
              <a:avLst/>
              <a:gdLst/>
              <a:ahLst/>
              <a:cxnLst/>
              <a:rect r="r" b="b" t="t" l="l"/>
              <a:pathLst>
                <a:path h="398431" w="1087240">
                  <a:moveTo>
                    <a:pt x="214820" y="0"/>
                  </a:moveTo>
                  <a:lnTo>
                    <a:pt x="1075620" y="0"/>
                  </a:lnTo>
                  <a:cubicBezTo>
                    <a:pt x="1079663" y="0"/>
                    <a:pt x="1083416" y="2102"/>
                    <a:pt x="1085529" y="5550"/>
                  </a:cubicBezTo>
                  <a:cubicBezTo>
                    <a:pt x="1087641" y="8999"/>
                    <a:pt x="1087808" y="13297"/>
                    <a:pt x="1085971" y="16899"/>
                  </a:cubicBezTo>
                  <a:lnTo>
                    <a:pt x="900008" y="381532"/>
                  </a:lnTo>
                  <a:cubicBezTo>
                    <a:pt x="894719" y="391902"/>
                    <a:pt x="884061" y="398431"/>
                    <a:pt x="872420" y="398431"/>
                  </a:cubicBezTo>
                  <a:lnTo>
                    <a:pt x="11620" y="398431"/>
                  </a:lnTo>
                  <a:cubicBezTo>
                    <a:pt x="7576" y="398431"/>
                    <a:pt x="3823" y="396329"/>
                    <a:pt x="1711" y="392880"/>
                  </a:cubicBezTo>
                  <a:cubicBezTo>
                    <a:pt x="-401" y="389432"/>
                    <a:pt x="-569" y="385134"/>
                    <a:pt x="1269" y="381532"/>
                  </a:cubicBezTo>
                  <a:lnTo>
                    <a:pt x="187231" y="16899"/>
                  </a:lnTo>
                  <a:cubicBezTo>
                    <a:pt x="192520" y="6529"/>
                    <a:pt x="203179" y="0"/>
                    <a:pt x="214820" y="0"/>
                  </a:cubicBezTo>
                  <a:close/>
                </a:path>
              </a:pathLst>
            </a:custGeom>
            <a:solidFill>
              <a:srgbClr val="00B58F"/>
            </a:solidFill>
          </p:spPr>
        </p:sp>
        <p:sp>
          <p:nvSpPr>
            <p:cNvPr name="TextBox 19" id="19"/>
            <p:cNvSpPr txBox="true"/>
            <p:nvPr/>
          </p:nvSpPr>
          <p:spPr>
            <a:xfrm>
              <a:off x="101600" y="-38100"/>
              <a:ext cx="898740" cy="436531"/>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11527491" y="6625537"/>
            <a:ext cx="6121685" cy="2213431"/>
            <a:chOff x="0" y="0"/>
            <a:chExt cx="1101940" cy="398431"/>
          </a:xfrm>
        </p:grpSpPr>
        <p:sp>
          <p:nvSpPr>
            <p:cNvPr name="Freeform 21" id="21"/>
            <p:cNvSpPr/>
            <p:nvPr/>
          </p:nvSpPr>
          <p:spPr>
            <a:xfrm flipH="false" flipV="false" rot="0">
              <a:off x="7350" y="0"/>
              <a:ext cx="1087240" cy="398431"/>
            </a:xfrm>
            <a:custGeom>
              <a:avLst/>
              <a:gdLst/>
              <a:ahLst/>
              <a:cxnLst/>
              <a:rect r="r" b="b" t="t" l="l"/>
              <a:pathLst>
                <a:path h="398431" w="1087240">
                  <a:moveTo>
                    <a:pt x="214820" y="0"/>
                  </a:moveTo>
                  <a:lnTo>
                    <a:pt x="1075620" y="0"/>
                  </a:lnTo>
                  <a:cubicBezTo>
                    <a:pt x="1079663" y="0"/>
                    <a:pt x="1083416" y="2102"/>
                    <a:pt x="1085529" y="5550"/>
                  </a:cubicBezTo>
                  <a:cubicBezTo>
                    <a:pt x="1087641" y="8999"/>
                    <a:pt x="1087808" y="13297"/>
                    <a:pt x="1085971" y="16899"/>
                  </a:cubicBezTo>
                  <a:lnTo>
                    <a:pt x="900008" y="381532"/>
                  </a:lnTo>
                  <a:cubicBezTo>
                    <a:pt x="894719" y="391902"/>
                    <a:pt x="884061" y="398431"/>
                    <a:pt x="872420" y="398431"/>
                  </a:cubicBezTo>
                  <a:lnTo>
                    <a:pt x="11620" y="398431"/>
                  </a:lnTo>
                  <a:cubicBezTo>
                    <a:pt x="7576" y="398431"/>
                    <a:pt x="3823" y="396329"/>
                    <a:pt x="1711" y="392880"/>
                  </a:cubicBezTo>
                  <a:cubicBezTo>
                    <a:pt x="-401" y="389432"/>
                    <a:pt x="-569" y="385134"/>
                    <a:pt x="1269" y="381532"/>
                  </a:cubicBezTo>
                  <a:lnTo>
                    <a:pt x="187231" y="16899"/>
                  </a:lnTo>
                  <a:cubicBezTo>
                    <a:pt x="192520" y="6529"/>
                    <a:pt x="203179" y="0"/>
                    <a:pt x="214820" y="0"/>
                  </a:cubicBezTo>
                  <a:close/>
                </a:path>
              </a:pathLst>
            </a:custGeom>
            <a:solidFill>
              <a:srgbClr val="00B58F"/>
            </a:solidFill>
          </p:spPr>
        </p:sp>
        <p:sp>
          <p:nvSpPr>
            <p:cNvPr name="TextBox 22" id="22"/>
            <p:cNvSpPr txBox="true"/>
            <p:nvPr/>
          </p:nvSpPr>
          <p:spPr>
            <a:xfrm>
              <a:off x="101600" y="-38100"/>
              <a:ext cx="898740" cy="436531"/>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2708944" y="3600164"/>
            <a:ext cx="4397454" cy="779676"/>
            <a:chOff x="0" y="0"/>
            <a:chExt cx="2247191" cy="398431"/>
          </a:xfrm>
        </p:grpSpPr>
        <p:sp>
          <p:nvSpPr>
            <p:cNvPr name="Freeform 24" id="24"/>
            <p:cNvSpPr/>
            <p:nvPr/>
          </p:nvSpPr>
          <p:spPr>
            <a:xfrm flipH="false" flipV="false" rot="0">
              <a:off x="10232" y="0"/>
              <a:ext cx="2226727" cy="398431"/>
            </a:xfrm>
            <a:custGeom>
              <a:avLst/>
              <a:gdLst/>
              <a:ahLst/>
              <a:cxnLst/>
              <a:rect r="r" b="b" t="t" l="l"/>
              <a:pathLst>
                <a:path h="398431" w="2226727">
                  <a:moveTo>
                    <a:pt x="219376" y="0"/>
                  </a:moveTo>
                  <a:lnTo>
                    <a:pt x="2210551" y="0"/>
                  </a:lnTo>
                  <a:cubicBezTo>
                    <a:pt x="2216180" y="0"/>
                    <a:pt x="2221405" y="2926"/>
                    <a:pt x="2224345" y="7727"/>
                  </a:cubicBezTo>
                  <a:cubicBezTo>
                    <a:pt x="2227285" y="12527"/>
                    <a:pt x="2227519" y="18511"/>
                    <a:pt x="2224961" y="23525"/>
                  </a:cubicBezTo>
                  <a:lnTo>
                    <a:pt x="2045757" y="374905"/>
                  </a:lnTo>
                  <a:cubicBezTo>
                    <a:pt x="2038394" y="389342"/>
                    <a:pt x="2023557" y="398431"/>
                    <a:pt x="2007351" y="398431"/>
                  </a:cubicBezTo>
                  <a:lnTo>
                    <a:pt x="16176" y="398431"/>
                  </a:lnTo>
                  <a:cubicBezTo>
                    <a:pt x="10547" y="398431"/>
                    <a:pt x="5323" y="395504"/>
                    <a:pt x="2382" y="390704"/>
                  </a:cubicBezTo>
                  <a:cubicBezTo>
                    <a:pt x="-558" y="385904"/>
                    <a:pt x="-792" y="379920"/>
                    <a:pt x="1766" y="374905"/>
                  </a:cubicBezTo>
                  <a:lnTo>
                    <a:pt x="180970" y="23525"/>
                  </a:lnTo>
                  <a:cubicBezTo>
                    <a:pt x="188333" y="9088"/>
                    <a:pt x="203170" y="0"/>
                    <a:pt x="219376" y="0"/>
                  </a:cubicBezTo>
                  <a:close/>
                </a:path>
              </a:pathLst>
            </a:custGeom>
            <a:solidFill>
              <a:srgbClr val="EDF6F9"/>
            </a:solidFill>
          </p:spPr>
        </p:sp>
        <p:sp>
          <p:nvSpPr>
            <p:cNvPr name="TextBox 25" id="25"/>
            <p:cNvSpPr txBox="true"/>
            <p:nvPr/>
          </p:nvSpPr>
          <p:spPr>
            <a:xfrm>
              <a:off x="101600" y="-38100"/>
              <a:ext cx="2043991" cy="436531"/>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2708944" y="6500553"/>
            <a:ext cx="4397454" cy="779676"/>
            <a:chOff x="0" y="0"/>
            <a:chExt cx="2247191" cy="398431"/>
          </a:xfrm>
        </p:grpSpPr>
        <p:sp>
          <p:nvSpPr>
            <p:cNvPr name="Freeform 27" id="27"/>
            <p:cNvSpPr/>
            <p:nvPr/>
          </p:nvSpPr>
          <p:spPr>
            <a:xfrm flipH="false" flipV="false" rot="0">
              <a:off x="10232" y="0"/>
              <a:ext cx="2226727" cy="398431"/>
            </a:xfrm>
            <a:custGeom>
              <a:avLst/>
              <a:gdLst/>
              <a:ahLst/>
              <a:cxnLst/>
              <a:rect r="r" b="b" t="t" l="l"/>
              <a:pathLst>
                <a:path h="398431" w="2226727">
                  <a:moveTo>
                    <a:pt x="219376" y="0"/>
                  </a:moveTo>
                  <a:lnTo>
                    <a:pt x="2210551" y="0"/>
                  </a:lnTo>
                  <a:cubicBezTo>
                    <a:pt x="2216180" y="0"/>
                    <a:pt x="2221405" y="2926"/>
                    <a:pt x="2224345" y="7727"/>
                  </a:cubicBezTo>
                  <a:cubicBezTo>
                    <a:pt x="2227285" y="12527"/>
                    <a:pt x="2227519" y="18511"/>
                    <a:pt x="2224961" y="23525"/>
                  </a:cubicBezTo>
                  <a:lnTo>
                    <a:pt x="2045757" y="374905"/>
                  </a:lnTo>
                  <a:cubicBezTo>
                    <a:pt x="2038394" y="389342"/>
                    <a:pt x="2023557" y="398431"/>
                    <a:pt x="2007351" y="398431"/>
                  </a:cubicBezTo>
                  <a:lnTo>
                    <a:pt x="16176" y="398431"/>
                  </a:lnTo>
                  <a:cubicBezTo>
                    <a:pt x="10547" y="398431"/>
                    <a:pt x="5323" y="395504"/>
                    <a:pt x="2382" y="390704"/>
                  </a:cubicBezTo>
                  <a:cubicBezTo>
                    <a:pt x="-558" y="385904"/>
                    <a:pt x="-792" y="379920"/>
                    <a:pt x="1766" y="374905"/>
                  </a:cubicBezTo>
                  <a:lnTo>
                    <a:pt x="180970" y="23525"/>
                  </a:lnTo>
                  <a:cubicBezTo>
                    <a:pt x="188333" y="9088"/>
                    <a:pt x="203170" y="0"/>
                    <a:pt x="219376" y="0"/>
                  </a:cubicBezTo>
                  <a:close/>
                </a:path>
              </a:pathLst>
            </a:custGeom>
            <a:solidFill>
              <a:srgbClr val="EDF6F9"/>
            </a:solidFill>
          </p:spPr>
        </p:sp>
        <p:sp>
          <p:nvSpPr>
            <p:cNvPr name="TextBox 28" id="28"/>
            <p:cNvSpPr txBox="true"/>
            <p:nvPr/>
          </p:nvSpPr>
          <p:spPr>
            <a:xfrm>
              <a:off x="101600" y="-38100"/>
              <a:ext cx="2043991" cy="436531"/>
            </a:xfrm>
            <a:prstGeom prst="rect">
              <a:avLst/>
            </a:prstGeom>
          </p:spPr>
          <p:txBody>
            <a:bodyPr anchor="ctr" rtlCol="false" tIns="50800" lIns="50800" bIns="50800" rIns="50800"/>
            <a:lstStyle/>
            <a:p>
              <a:pPr algn="ctr">
                <a:lnSpc>
                  <a:spcPts val="2659"/>
                </a:lnSpc>
              </a:pPr>
            </a:p>
          </p:txBody>
        </p:sp>
      </p:grpSp>
      <p:grpSp>
        <p:nvGrpSpPr>
          <p:cNvPr name="Group 29" id="29"/>
          <p:cNvGrpSpPr/>
          <p:nvPr/>
        </p:nvGrpSpPr>
        <p:grpSpPr>
          <a:xfrm rot="0">
            <a:off x="8058898" y="3600164"/>
            <a:ext cx="4397454" cy="779676"/>
            <a:chOff x="0" y="0"/>
            <a:chExt cx="2247191" cy="398431"/>
          </a:xfrm>
        </p:grpSpPr>
        <p:sp>
          <p:nvSpPr>
            <p:cNvPr name="Freeform 30" id="30"/>
            <p:cNvSpPr/>
            <p:nvPr/>
          </p:nvSpPr>
          <p:spPr>
            <a:xfrm flipH="false" flipV="false" rot="0">
              <a:off x="10232" y="0"/>
              <a:ext cx="2226727" cy="398431"/>
            </a:xfrm>
            <a:custGeom>
              <a:avLst/>
              <a:gdLst/>
              <a:ahLst/>
              <a:cxnLst/>
              <a:rect r="r" b="b" t="t" l="l"/>
              <a:pathLst>
                <a:path h="398431" w="2226727">
                  <a:moveTo>
                    <a:pt x="219376" y="0"/>
                  </a:moveTo>
                  <a:lnTo>
                    <a:pt x="2210551" y="0"/>
                  </a:lnTo>
                  <a:cubicBezTo>
                    <a:pt x="2216180" y="0"/>
                    <a:pt x="2221405" y="2926"/>
                    <a:pt x="2224345" y="7727"/>
                  </a:cubicBezTo>
                  <a:cubicBezTo>
                    <a:pt x="2227285" y="12527"/>
                    <a:pt x="2227519" y="18511"/>
                    <a:pt x="2224961" y="23525"/>
                  </a:cubicBezTo>
                  <a:lnTo>
                    <a:pt x="2045757" y="374905"/>
                  </a:lnTo>
                  <a:cubicBezTo>
                    <a:pt x="2038394" y="389342"/>
                    <a:pt x="2023557" y="398431"/>
                    <a:pt x="2007351" y="398431"/>
                  </a:cubicBezTo>
                  <a:lnTo>
                    <a:pt x="16176" y="398431"/>
                  </a:lnTo>
                  <a:cubicBezTo>
                    <a:pt x="10547" y="398431"/>
                    <a:pt x="5323" y="395504"/>
                    <a:pt x="2382" y="390704"/>
                  </a:cubicBezTo>
                  <a:cubicBezTo>
                    <a:pt x="-558" y="385904"/>
                    <a:pt x="-792" y="379920"/>
                    <a:pt x="1766" y="374905"/>
                  </a:cubicBezTo>
                  <a:lnTo>
                    <a:pt x="180970" y="23525"/>
                  </a:lnTo>
                  <a:cubicBezTo>
                    <a:pt x="188333" y="9088"/>
                    <a:pt x="203170" y="0"/>
                    <a:pt x="219376" y="0"/>
                  </a:cubicBezTo>
                  <a:close/>
                </a:path>
              </a:pathLst>
            </a:custGeom>
            <a:solidFill>
              <a:srgbClr val="EDF6F9"/>
            </a:solidFill>
          </p:spPr>
        </p:sp>
        <p:sp>
          <p:nvSpPr>
            <p:cNvPr name="TextBox 31" id="31"/>
            <p:cNvSpPr txBox="true"/>
            <p:nvPr/>
          </p:nvSpPr>
          <p:spPr>
            <a:xfrm>
              <a:off x="101600" y="-38100"/>
              <a:ext cx="2043991" cy="436531"/>
            </a:xfrm>
            <a:prstGeom prst="rect">
              <a:avLst/>
            </a:prstGeom>
          </p:spPr>
          <p:txBody>
            <a:bodyPr anchor="ctr" rtlCol="false" tIns="50800" lIns="50800" bIns="50800" rIns="50800"/>
            <a:lstStyle/>
            <a:p>
              <a:pPr algn="ctr">
                <a:lnSpc>
                  <a:spcPts val="2659"/>
                </a:lnSpc>
              </a:pPr>
            </a:p>
          </p:txBody>
        </p:sp>
      </p:grpSp>
      <p:grpSp>
        <p:nvGrpSpPr>
          <p:cNvPr name="Group 32" id="32"/>
          <p:cNvGrpSpPr/>
          <p:nvPr/>
        </p:nvGrpSpPr>
        <p:grpSpPr>
          <a:xfrm rot="0">
            <a:off x="8058898" y="6500553"/>
            <a:ext cx="4397454" cy="779676"/>
            <a:chOff x="0" y="0"/>
            <a:chExt cx="2247191" cy="398431"/>
          </a:xfrm>
        </p:grpSpPr>
        <p:sp>
          <p:nvSpPr>
            <p:cNvPr name="Freeform 33" id="33"/>
            <p:cNvSpPr/>
            <p:nvPr/>
          </p:nvSpPr>
          <p:spPr>
            <a:xfrm flipH="false" flipV="false" rot="0">
              <a:off x="10232" y="0"/>
              <a:ext cx="2226727" cy="398431"/>
            </a:xfrm>
            <a:custGeom>
              <a:avLst/>
              <a:gdLst/>
              <a:ahLst/>
              <a:cxnLst/>
              <a:rect r="r" b="b" t="t" l="l"/>
              <a:pathLst>
                <a:path h="398431" w="2226727">
                  <a:moveTo>
                    <a:pt x="219376" y="0"/>
                  </a:moveTo>
                  <a:lnTo>
                    <a:pt x="2210551" y="0"/>
                  </a:lnTo>
                  <a:cubicBezTo>
                    <a:pt x="2216180" y="0"/>
                    <a:pt x="2221405" y="2926"/>
                    <a:pt x="2224345" y="7727"/>
                  </a:cubicBezTo>
                  <a:cubicBezTo>
                    <a:pt x="2227285" y="12527"/>
                    <a:pt x="2227519" y="18511"/>
                    <a:pt x="2224961" y="23525"/>
                  </a:cubicBezTo>
                  <a:lnTo>
                    <a:pt x="2045757" y="374905"/>
                  </a:lnTo>
                  <a:cubicBezTo>
                    <a:pt x="2038394" y="389342"/>
                    <a:pt x="2023557" y="398431"/>
                    <a:pt x="2007351" y="398431"/>
                  </a:cubicBezTo>
                  <a:lnTo>
                    <a:pt x="16176" y="398431"/>
                  </a:lnTo>
                  <a:cubicBezTo>
                    <a:pt x="10547" y="398431"/>
                    <a:pt x="5323" y="395504"/>
                    <a:pt x="2382" y="390704"/>
                  </a:cubicBezTo>
                  <a:cubicBezTo>
                    <a:pt x="-558" y="385904"/>
                    <a:pt x="-792" y="379920"/>
                    <a:pt x="1766" y="374905"/>
                  </a:cubicBezTo>
                  <a:lnTo>
                    <a:pt x="180970" y="23525"/>
                  </a:lnTo>
                  <a:cubicBezTo>
                    <a:pt x="188333" y="9088"/>
                    <a:pt x="203170" y="0"/>
                    <a:pt x="219376" y="0"/>
                  </a:cubicBezTo>
                  <a:close/>
                </a:path>
              </a:pathLst>
            </a:custGeom>
            <a:solidFill>
              <a:srgbClr val="EDF6F9"/>
            </a:solidFill>
          </p:spPr>
        </p:sp>
        <p:sp>
          <p:nvSpPr>
            <p:cNvPr name="TextBox 34" id="34"/>
            <p:cNvSpPr txBox="true"/>
            <p:nvPr/>
          </p:nvSpPr>
          <p:spPr>
            <a:xfrm>
              <a:off x="101600" y="-38100"/>
              <a:ext cx="2043991" cy="436531"/>
            </a:xfrm>
            <a:prstGeom prst="rect">
              <a:avLst/>
            </a:prstGeom>
          </p:spPr>
          <p:txBody>
            <a:bodyPr anchor="ctr" rtlCol="false" tIns="50800" lIns="50800" bIns="50800" rIns="50800"/>
            <a:lstStyle/>
            <a:p>
              <a:pPr algn="ctr">
                <a:lnSpc>
                  <a:spcPts val="2659"/>
                </a:lnSpc>
              </a:pPr>
            </a:p>
          </p:txBody>
        </p:sp>
      </p:grpSp>
      <p:grpSp>
        <p:nvGrpSpPr>
          <p:cNvPr name="Group 35" id="35"/>
          <p:cNvGrpSpPr/>
          <p:nvPr/>
        </p:nvGrpSpPr>
        <p:grpSpPr>
          <a:xfrm rot="0">
            <a:off x="13381078" y="3600164"/>
            <a:ext cx="4397454" cy="779676"/>
            <a:chOff x="0" y="0"/>
            <a:chExt cx="2247191" cy="398431"/>
          </a:xfrm>
        </p:grpSpPr>
        <p:sp>
          <p:nvSpPr>
            <p:cNvPr name="Freeform 36" id="36"/>
            <p:cNvSpPr/>
            <p:nvPr/>
          </p:nvSpPr>
          <p:spPr>
            <a:xfrm flipH="false" flipV="false" rot="0">
              <a:off x="10232" y="0"/>
              <a:ext cx="2226727" cy="398431"/>
            </a:xfrm>
            <a:custGeom>
              <a:avLst/>
              <a:gdLst/>
              <a:ahLst/>
              <a:cxnLst/>
              <a:rect r="r" b="b" t="t" l="l"/>
              <a:pathLst>
                <a:path h="398431" w="2226727">
                  <a:moveTo>
                    <a:pt x="219376" y="0"/>
                  </a:moveTo>
                  <a:lnTo>
                    <a:pt x="2210551" y="0"/>
                  </a:lnTo>
                  <a:cubicBezTo>
                    <a:pt x="2216180" y="0"/>
                    <a:pt x="2221405" y="2926"/>
                    <a:pt x="2224345" y="7727"/>
                  </a:cubicBezTo>
                  <a:cubicBezTo>
                    <a:pt x="2227285" y="12527"/>
                    <a:pt x="2227519" y="18511"/>
                    <a:pt x="2224961" y="23525"/>
                  </a:cubicBezTo>
                  <a:lnTo>
                    <a:pt x="2045757" y="374905"/>
                  </a:lnTo>
                  <a:cubicBezTo>
                    <a:pt x="2038394" y="389342"/>
                    <a:pt x="2023557" y="398431"/>
                    <a:pt x="2007351" y="398431"/>
                  </a:cubicBezTo>
                  <a:lnTo>
                    <a:pt x="16176" y="398431"/>
                  </a:lnTo>
                  <a:cubicBezTo>
                    <a:pt x="10547" y="398431"/>
                    <a:pt x="5323" y="395504"/>
                    <a:pt x="2382" y="390704"/>
                  </a:cubicBezTo>
                  <a:cubicBezTo>
                    <a:pt x="-558" y="385904"/>
                    <a:pt x="-792" y="379920"/>
                    <a:pt x="1766" y="374905"/>
                  </a:cubicBezTo>
                  <a:lnTo>
                    <a:pt x="180970" y="23525"/>
                  </a:lnTo>
                  <a:cubicBezTo>
                    <a:pt x="188333" y="9088"/>
                    <a:pt x="203170" y="0"/>
                    <a:pt x="219376" y="0"/>
                  </a:cubicBezTo>
                  <a:close/>
                </a:path>
              </a:pathLst>
            </a:custGeom>
            <a:solidFill>
              <a:srgbClr val="EDF6F9"/>
            </a:solidFill>
          </p:spPr>
        </p:sp>
        <p:sp>
          <p:nvSpPr>
            <p:cNvPr name="TextBox 37" id="37"/>
            <p:cNvSpPr txBox="true"/>
            <p:nvPr/>
          </p:nvSpPr>
          <p:spPr>
            <a:xfrm>
              <a:off x="101600" y="-38100"/>
              <a:ext cx="2043991" cy="436531"/>
            </a:xfrm>
            <a:prstGeom prst="rect">
              <a:avLst/>
            </a:prstGeom>
          </p:spPr>
          <p:txBody>
            <a:bodyPr anchor="ctr" rtlCol="false" tIns="50800" lIns="50800" bIns="50800" rIns="50800"/>
            <a:lstStyle/>
            <a:p>
              <a:pPr algn="ctr">
                <a:lnSpc>
                  <a:spcPts val="2659"/>
                </a:lnSpc>
              </a:pPr>
            </a:p>
          </p:txBody>
        </p:sp>
      </p:grpSp>
      <p:grpSp>
        <p:nvGrpSpPr>
          <p:cNvPr name="Group 38" id="38"/>
          <p:cNvGrpSpPr/>
          <p:nvPr/>
        </p:nvGrpSpPr>
        <p:grpSpPr>
          <a:xfrm rot="0">
            <a:off x="13381078" y="6500553"/>
            <a:ext cx="4397454" cy="779676"/>
            <a:chOff x="0" y="0"/>
            <a:chExt cx="2247191" cy="398431"/>
          </a:xfrm>
        </p:grpSpPr>
        <p:sp>
          <p:nvSpPr>
            <p:cNvPr name="Freeform 39" id="39"/>
            <p:cNvSpPr/>
            <p:nvPr/>
          </p:nvSpPr>
          <p:spPr>
            <a:xfrm flipH="false" flipV="false" rot="0">
              <a:off x="10232" y="0"/>
              <a:ext cx="2226727" cy="398431"/>
            </a:xfrm>
            <a:custGeom>
              <a:avLst/>
              <a:gdLst/>
              <a:ahLst/>
              <a:cxnLst/>
              <a:rect r="r" b="b" t="t" l="l"/>
              <a:pathLst>
                <a:path h="398431" w="2226727">
                  <a:moveTo>
                    <a:pt x="219376" y="0"/>
                  </a:moveTo>
                  <a:lnTo>
                    <a:pt x="2210551" y="0"/>
                  </a:lnTo>
                  <a:cubicBezTo>
                    <a:pt x="2216180" y="0"/>
                    <a:pt x="2221405" y="2926"/>
                    <a:pt x="2224345" y="7727"/>
                  </a:cubicBezTo>
                  <a:cubicBezTo>
                    <a:pt x="2227285" y="12527"/>
                    <a:pt x="2227519" y="18511"/>
                    <a:pt x="2224961" y="23525"/>
                  </a:cubicBezTo>
                  <a:lnTo>
                    <a:pt x="2045757" y="374905"/>
                  </a:lnTo>
                  <a:cubicBezTo>
                    <a:pt x="2038394" y="389342"/>
                    <a:pt x="2023557" y="398431"/>
                    <a:pt x="2007351" y="398431"/>
                  </a:cubicBezTo>
                  <a:lnTo>
                    <a:pt x="16176" y="398431"/>
                  </a:lnTo>
                  <a:cubicBezTo>
                    <a:pt x="10547" y="398431"/>
                    <a:pt x="5323" y="395504"/>
                    <a:pt x="2382" y="390704"/>
                  </a:cubicBezTo>
                  <a:cubicBezTo>
                    <a:pt x="-558" y="385904"/>
                    <a:pt x="-792" y="379920"/>
                    <a:pt x="1766" y="374905"/>
                  </a:cubicBezTo>
                  <a:lnTo>
                    <a:pt x="180970" y="23525"/>
                  </a:lnTo>
                  <a:cubicBezTo>
                    <a:pt x="188333" y="9088"/>
                    <a:pt x="203170" y="0"/>
                    <a:pt x="219376" y="0"/>
                  </a:cubicBezTo>
                  <a:close/>
                </a:path>
              </a:pathLst>
            </a:custGeom>
            <a:solidFill>
              <a:srgbClr val="EDF6F9"/>
            </a:solidFill>
          </p:spPr>
        </p:sp>
        <p:sp>
          <p:nvSpPr>
            <p:cNvPr name="TextBox 40" id="40"/>
            <p:cNvSpPr txBox="true"/>
            <p:nvPr/>
          </p:nvSpPr>
          <p:spPr>
            <a:xfrm>
              <a:off x="101600" y="-38100"/>
              <a:ext cx="2043991" cy="436531"/>
            </a:xfrm>
            <a:prstGeom prst="rect">
              <a:avLst/>
            </a:prstGeom>
          </p:spPr>
          <p:txBody>
            <a:bodyPr anchor="ctr" rtlCol="false" tIns="50800" lIns="50800" bIns="50800" rIns="50800"/>
            <a:lstStyle/>
            <a:p>
              <a:pPr algn="ctr">
                <a:lnSpc>
                  <a:spcPts val="2659"/>
                </a:lnSpc>
              </a:pPr>
            </a:p>
          </p:txBody>
        </p:sp>
      </p:grpSp>
      <p:sp>
        <p:nvSpPr>
          <p:cNvPr name="TextBox 41" id="41"/>
          <p:cNvSpPr txBox="true"/>
          <p:nvPr/>
        </p:nvSpPr>
        <p:spPr>
          <a:xfrm rot="0">
            <a:off x="1959070" y="3877391"/>
            <a:ext cx="749874" cy="448382"/>
          </a:xfrm>
          <a:prstGeom prst="rect">
            <a:avLst/>
          </a:prstGeom>
        </p:spPr>
        <p:txBody>
          <a:bodyPr anchor="t" rtlCol="false" tIns="0" lIns="0" bIns="0" rIns="0">
            <a:spAutoFit/>
          </a:bodyPr>
          <a:lstStyle/>
          <a:p>
            <a:pPr algn="ctr">
              <a:lnSpc>
                <a:spcPts val="3399"/>
              </a:lnSpc>
            </a:pPr>
            <a:r>
              <a:rPr lang="en-US" sz="3399">
                <a:solidFill>
                  <a:srgbClr val="FFFFFF"/>
                </a:solidFill>
                <a:latin typeface="Rubik One"/>
                <a:ea typeface="Rubik One"/>
                <a:cs typeface="Rubik One"/>
                <a:sym typeface="Rubik One"/>
              </a:rPr>
              <a:t>01</a:t>
            </a:r>
          </a:p>
        </p:txBody>
      </p:sp>
      <p:sp>
        <p:nvSpPr>
          <p:cNvPr name="TextBox 42" id="42"/>
          <p:cNvSpPr txBox="true"/>
          <p:nvPr/>
        </p:nvSpPr>
        <p:spPr>
          <a:xfrm rot="0">
            <a:off x="1959070" y="6831848"/>
            <a:ext cx="749874" cy="448382"/>
          </a:xfrm>
          <a:prstGeom prst="rect">
            <a:avLst/>
          </a:prstGeom>
        </p:spPr>
        <p:txBody>
          <a:bodyPr anchor="t" rtlCol="false" tIns="0" lIns="0" bIns="0" rIns="0">
            <a:spAutoFit/>
          </a:bodyPr>
          <a:lstStyle/>
          <a:p>
            <a:pPr algn="ctr">
              <a:lnSpc>
                <a:spcPts val="3399"/>
              </a:lnSpc>
            </a:pPr>
            <a:r>
              <a:rPr lang="en-US" sz="3399">
                <a:solidFill>
                  <a:srgbClr val="FFFFFF"/>
                </a:solidFill>
                <a:latin typeface="Rubik One"/>
                <a:ea typeface="Rubik One"/>
                <a:cs typeface="Rubik One"/>
                <a:sym typeface="Rubik One"/>
              </a:rPr>
              <a:t>04</a:t>
            </a:r>
          </a:p>
        </p:txBody>
      </p:sp>
      <p:sp>
        <p:nvSpPr>
          <p:cNvPr name="TextBox 43" id="43"/>
          <p:cNvSpPr txBox="true"/>
          <p:nvPr/>
        </p:nvSpPr>
        <p:spPr>
          <a:xfrm rot="0">
            <a:off x="7309024" y="3877391"/>
            <a:ext cx="749874" cy="448382"/>
          </a:xfrm>
          <a:prstGeom prst="rect">
            <a:avLst/>
          </a:prstGeom>
        </p:spPr>
        <p:txBody>
          <a:bodyPr anchor="t" rtlCol="false" tIns="0" lIns="0" bIns="0" rIns="0">
            <a:spAutoFit/>
          </a:bodyPr>
          <a:lstStyle/>
          <a:p>
            <a:pPr algn="ctr">
              <a:lnSpc>
                <a:spcPts val="3399"/>
              </a:lnSpc>
            </a:pPr>
            <a:r>
              <a:rPr lang="en-US" sz="3399">
                <a:solidFill>
                  <a:srgbClr val="FFFFFF"/>
                </a:solidFill>
                <a:latin typeface="Rubik One"/>
                <a:ea typeface="Rubik One"/>
                <a:cs typeface="Rubik One"/>
                <a:sym typeface="Rubik One"/>
              </a:rPr>
              <a:t>02</a:t>
            </a:r>
          </a:p>
        </p:txBody>
      </p:sp>
      <p:sp>
        <p:nvSpPr>
          <p:cNvPr name="TextBox 44" id="44"/>
          <p:cNvSpPr txBox="true"/>
          <p:nvPr/>
        </p:nvSpPr>
        <p:spPr>
          <a:xfrm rot="0">
            <a:off x="7309024" y="6831848"/>
            <a:ext cx="749874" cy="448382"/>
          </a:xfrm>
          <a:prstGeom prst="rect">
            <a:avLst/>
          </a:prstGeom>
        </p:spPr>
        <p:txBody>
          <a:bodyPr anchor="t" rtlCol="false" tIns="0" lIns="0" bIns="0" rIns="0">
            <a:spAutoFit/>
          </a:bodyPr>
          <a:lstStyle/>
          <a:p>
            <a:pPr algn="ctr">
              <a:lnSpc>
                <a:spcPts val="3399"/>
              </a:lnSpc>
            </a:pPr>
            <a:r>
              <a:rPr lang="en-US" sz="3399">
                <a:solidFill>
                  <a:srgbClr val="FFFFFF"/>
                </a:solidFill>
                <a:latin typeface="Rubik One"/>
                <a:ea typeface="Rubik One"/>
                <a:cs typeface="Rubik One"/>
                <a:sym typeface="Rubik One"/>
              </a:rPr>
              <a:t>05</a:t>
            </a:r>
          </a:p>
        </p:txBody>
      </p:sp>
      <p:sp>
        <p:nvSpPr>
          <p:cNvPr name="TextBox 45" id="45"/>
          <p:cNvSpPr txBox="true"/>
          <p:nvPr/>
        </p:nvSpPr>
        <p:spPr>
          <a:xfrm rot="0">
            <a:off x="12631204" y="3877391"/>
            <a:ext cx="749874" cy="448382"/>
          </a:xfrm>
          <a:prstGeom prst="rect">
            <a:avLst/>
          </a:prstGeom>
        </p:spPr>
        <p:txBody>
          <a:bodyPr anchor="t" rtlCol="false" tIns="0" lIns="0" bIns="0" rIns="0">
            <a:spAutoFit/>
          </a:bodyPr>
          <a:lstStyle/>
          <a:p>
            <a:pPr algn="ctr">
              <a:lnSpc>
                <a:spcPts val="3399"/>
              </a:lnSpc>
            </a:pPr>
            <a:r>
              <a:rPr lang="en-US" sz="3399">
                <a:solidFill>
                  <a:srgbClr val="FFFFFF"/>
                </a:solidFill>
                <a:latin typeface="Rubik One"/>
                <a:ea typeface="Rubik One"/>
                <a:cs typeface="Rubik One"/>
                <a:sym typeface="Rubik One"/>
              </a:rPr>
              <a:t>03</a:t>
            </a:r>
          </a:p>
        </p:txBody>
      </p:sp>
      <p:sp>
        <p:nvSpPr>
          <p:cNvPr name="TextBox 46" id="46"/>
          <p:cNvSpPr txBox="true"/>
          <p:nvPr/>
        </p:nvSpPr>
        <p:spPr>
          <a:xfrm rot="0">
            <a:off x="12631204" y="6831848"/>
            <a:ext cx="749874" cy="448382"/>
          </a:xfrm>
          <a:prstGeom prst="rect">
            <a:avLst/>
          </a:prstGeom>
        </p:spPr>
        <p:txBody>
          <a:bodyPr anchor="t" rtlCol="false" tIns="0" lIns="0" bIns="0" rIns="0">
            <a:spAutoFit/>
          </a:bodyPr>
          <a:lstStyle/>
          <a:p>
            <a:pPr algn="ctr">
              <a:lnSpc>
                <a:spcPts val="3399"/>
              </a:lnSpc>
            </a:pPr>
            <a:r>
              <a:rPr lang="en-US" sz="3399">
                <a:solidFill>
                  <a:srgbClr val="FFFFFF"/>
                </a:solidFill>
                <a:latin typeface="Rubik One"/>
                <a:ea typeface="Rubik One"/>
                <a:cs typeface="Rubik One"/>
                <a:sym typeface="Rubik One"/>
              </a:rPr>
              <a:t>06</a:t>
            </a:r>
          </a:p>
        </p:txBody>
      </p:sp>
      <p:sp>
        <p:nvSpPr>
          <p:cNvPr name="TextBox 47" id="47"/>
          <p:cNvSpPr txBox="true"/>
          <p:nvPr/>
        </p:nvSpPr>
        <p:spPr>
          <a:xfrm rot="0">
            <a:off x="1819925" y="4589390"/>
            <a:ext cx="4192549" cy="422312"/>
          </a:xfrm>
          <a:prstGeom prst="rect">
            <a:avLst/>
          </a:prstGeom>
        </p:spPr>
        <p:txBody>
          <a:bodyPr anchor="t" rtlCol="false" tIns="0" lIns="0" bIns="0" rIns="0">
            <a:spAutoFit/>
          </a:bodyPr>
          <a:lstStyle/>
          <a:p>
            <a:pPr algn="l">
              <a:lnSpc>
                <a:spcPts val="3499"/>
              </a:lnSpc>
            </a:pPr>
            <a:r>
              <a:rPr lang="en-US" sz="2499" spc="62" b="true">
                <a:solidFill>
                  <a:srgbClr val="FFFFFF"/>
                </a:solidFill>
                <a:latin typeface="Bricolage Grotesque Bold"/>
                <a:ea typeface="Bricolage Grotesque Bold"/>
                <a:cs typeface="Bricolage Grotesque Bold"/>
                <a:sym typeface="Bricolage Grotesque Bold"/>
              </a:rPr>
              <a:t>Nourhan Mostafa Rassem</a:t>
            </a:r>
          </a:p>
        </p:txBody>
      </p:sp>
      <p:sp>
        <p:nvSpPr>
          <p:cNvPr name="TextBox 48" id="48"/>
          <p:cNvSpPr txBox="true"/>
          <p:nvPr/>
        </p:nvSpPr>
        <p:spPr>
          <a:xfrm rot="0">
            <a:off x="1819925" y="7489779"/>
            <a:ext cx="4192549" cy="422312"/>
          </a:xfrm>
          <a:prstGeom prst="rect">
            <a:avLst/>
          </a:prstGeom>
        </p:spPr>
        <p:txBody>
          <a:bodyPr anchor="t" rtlCol="false" tIns="0" lIns="0" bIns="0" rIns="0">
            <a:spAutoFit/>
          </a:bodyPr>
          <a:lstStyle/>
          <a:p>
            <a:pPr algn="l">
              <a:lnSpc>
                <a:spcPts val="3499"/>
              </a:lnSpc>
            </a:pPr>
            <a:r>
              <a:rPr lang="en-US" sz="2499" spc="62" b="true">
                <a:solidFill>
                  <a:srgbClr val="FFFFFF"/>
                </a:solidFill>
                <a:latin typeface="Bricolage Grotesque Bold"/>
                <a:ea typeface="Bricolage Grotesque Bold"/>
                <a:cs typeface="Bricolage Grotesque Bold"/>
                <a:sym typeface="Bricolage Grotesque Bold"/>
              </a:rPr>
              <a:t>Mohamed Abdallah Abdo</a:t>
            </a:r>
          </a:p>
        </p:txBody>
      </p:sp>
      <p:sp>
        <p:nvSpPr>
          <p:cNvPr name="TextBox 49" id="49"/>
          <p:cNvSpPr txBox="true"/>
          <p:nvPr/>
        </p:nvSpPr>
        <p:spPr>
          <a:xfrm rot="0">
            <a:off x="7169879" y="4589390"/>
            <a:ext cx="4192549" cy="422312"/>
          </a:xfrm>
          <a:prstGeom prst="rect">
            <a:avLst/>
          </a:prstGeom>
        </p:spPr>
        <p:txBody>
          <a:bodyPr anchor="t" rtlCol="false" tIns="0" lIns="0" bIns="0" rIns="0">
            <a:spAutoFit/>
          </a:bodyPr>
          <a:lstStyle/>
          <a:p>
            <a:pPr algn="l">
              <a:lnSpc>
                <a:spcPts val="3499"/>
              </a:lnSpc>
            </a:pPr>
            <a:r>
              <a:rPr lang="en-US" sz="2499" spc="62" b="true">
                <a:solidFill>
                  <a:srgbClr val="FFFFFF"/>
                </a:solidFill>
                <a:latin typeface="Bricolage Grotesque Bold"/>
                <a:ea typeface="Bricolage Grotesque Bold"/>
                <a:cs typeface="Bricolage Grotesque Bold"/>
                <a:sym typeface="Bricolage Grotesque Bold"/>
              </a:rPr>
              <a:t>Aliaa Ahmed Mohamed</a:t>
            </a:r>
          </a:p>
        </p:txBody>
      </p:sp>
      <p:sp>
        <p:nvSpPr>
          <p:cNvPr name="TextBox 50" id="50"/>
          <p:cNvSpPr txBox="true"/>
          <p:nvPr/>
        </p:nvSpPr>
        <p:spPr>
          <a:xfrm rot="0">
            <a:off x="7169879" y="7489779"/>
            <a:ext cx="4192549" cy="422312"/>
          </a:xfrm>
          <a:prstGeom prst="rect">
            <a:avLst/>
          </a:prstGeom>
        </p:spPr>
        <p:txBody>
          <a:bodyPr anchor="t" rtlCol="false" tIns="0" lIns="0" bIns="0" rIns="0">
            <a:spAutoFit/>
          </a:bodyPr>
          <a:lstStyle/>
          <a:p>
            <a:pPr algn="l">
              <a:lnSpc>
                <a:spcPts val="3499"/>
              </a:lnSpc>
            </a:pPr>
            <a:r>
              <a:rPr lang="en-US" sz="2499" spc="62" b="true">
                <a:solidFill>
                  <a:srgbClr val="FFFFFF"/>
                </a:solidFill>
                <a:latin typeface="Bricolage Grotesque Bold"/>
                <a:ea typeface="Bricolage Grotesque Bold"/>
                <a:cs typeface="Bricolage Grotesque Bold"/>
                <a:sym typeface="Bricolage Grotesque Bold"/>
              </a:rPr>
              <a:t>Mohamed Mounir Ibrahim</a:t>
            </a:r>
          </a:p>
        </p:txBody>
      </p:sp>
      <p:sp>
        <p:nvSpPr>
          <p:cNvPr name="TextBox 51" id="51"/>
          <p:cNvSpPr txBox="true"/>
          <p:nvPr/>
        </p:nvSpPr>
        <p:spPr>
          <a:xfrm rot="0">
            <a:off x="12492059" y="4589390"/>
            <a:ext cx="4192549" cy="422312"/>
          </a:xfrm>
          <a:prstGeom prst="rect">
            <a:avLst/>
          </a:prstGeom>
        </p:spPr>
        <p:txBody>
          <a:bodyPr anchor="t" rtlCol="false" tIns="0" lIns="0" bIns="0" rIns="0">
            <a:spAutoFit/>
          </a:bodyPr>
          <a:lstStyle/>
          <a:p>
            <a:pPr algn="l">
              <a:lnSpc>
                <a:spcPts val="3499"/>
              </a:lnSpc>
            </a:pPr>
            <a:r>
              <a:rPr lang="en-US" sz="2499" spc="62" b="true">
                <a:solidFill>
                  <a:srgbClr val="FFFFFF"/>
                </a:solidFill>
                <a:latin typeface="Bricolage Grotesque Bold"/>
                <a:ea typeface="Bricolage Grotesque Bold"/>
                <a:cs typeface="Bricolage Grotesque Bold"/>
                <a:sym typeface="Bricolage Grotesque Bold"/>
              </a:rPr>
              <a:t>Ahmed Farag Ahmed</a:t>
            </a:r>
          </a:p>
        </p:txBody>
      </p:sp>
      <p:sp>
        <p:nvSpPr>
          <p:cNvPr name="TextBox 52" id="52"/>
          <p:cNvSpPr txBox="true"/>
          <p:nvPr/>
        </p:nvSpPr>
        <p:spPr>
          <a:xfrm rot="0">
            <a:off x="12492059" y="7489779"/>
            <a:ext cx="4192549" cy="422312"/>
          </a:xfrm>
          <a:prstGeom prst="rect">
            <a:avLst/>
          </a:prstGeom>
        </p:spPr>
        <p:txBody>
          <a:bodyPr anchor="t" rtlCol="false" tIns="0" lIns="0" bIns="0" rIns="0">
            <a:spAutoFit/>
          </a:bodyPr>
          <a:lstStyle/>
          <a:p>
            <a:pPr algn="l">
              <a:lnSpc>
                <a:spcPts val="3499"/>
              </a:lnSpc>
            </a:pPr>
            <a:r>
              <a:rPr lang="en-US" sz="2499" spc="62" b="true">
                <a:solidFill>
                  <a:srgbClr val="FFFFFF"/>
                </a:solidFill>
                <a:latin typeface="Bricolage Grotesque Bold"/>
                <a:ea typeface="Bricolage Grotesque Bold"/>
                <a:cs typeface="Bricolage Grotesque Bold"/>
                <a:sym typeface="Bricolage Grotesque Bold"/>
              </a:rPr>
              <a:t>Manar Abdel raouf</a:t>
            </a:r>
          </a:p>
        </p:txBody>
      </p:sp>
      <p:sp>
        <p:nvSpPr>
          <p:cNvPr name="TextBox 53" id="53"/>
          <p:cNvSpPr txBox="true"/>
          <p:nvPr/>
        </p:nvSpPr>
        <p:spPr>
          <a:xfrm rot="0">
            <a:off x="3116475" y="3858341"/>
            <a:ext cx="3268624" cy="448310"/>
          </a:xfrm>
          <a:prstGeom prst="rect">
            <a:avLst/>
          </a:prstGeom>
        </p:spPr>
        <p:txBody>
          <a:bodyPr anchor="t" rtlCol="false" tIns="0" lIns="0" bIns="0" rIns="0">
            <a:spAutoFit/>
          </a:bodyPr>
          <a:lstStyle/>
          <a:p>
            <a:pPr algn="l">
              <a:lnSpc>
                <a:spcPts val="3399"/>
              </a:lnSpc>
            </a:pPr>
            <a:r>
              <a:rPr lang="en-US" sz="3399">
                <a:solidFill>
                  <a:srgbClr val="0B132B"/>
                </a:solidFill>
                <a:latin typeface="Rubik One"/>
                <a:ea typeface="Rubik One"/>
                <a:cs typeface="Rubik One"/>
                <a:sym typeface="Rubik One"/>
              </a:rPr>
              <a:t>Team Leader</a:t>
            </a:r>
          </a:p>
        </p:txBody>
      </p:sp>
      <p:grpSp>
        <p:nvGrpSpPr>
          <p:cNvPr name="Group 54" id="54"/>
          <p:cNvGrpSpPr/>
          <p:nvPr/>
        </p:nvGrpSpPr>
        <p:grpSpPr>
          <a:xfrm rot="0">
            <a:off x="-3150242" y="9960324"/>
            <a:ext cx="9960587" cy="1142074"/>
            <a:chOff x="0" y="0"/>
            <a:chExt cx="2572779" cy="294993"/>
          </a:xfrm>
        </p:grpSpPr>
        <p:sp>
          <p:nvSpPr>
            <p:cNvPr name="Freeform 55" id="55"/>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56" id="56"/>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57" id="57"/>
          <p:cNvGrpSpPr/>
          <p:nvPr/>
        </p:nvGrpSpPr>
        <p:grpSpPr>
          <a:xfrm rot="0">
            <a:off x="13498622" y="-784283"/>
            <a:ext cx="13297562" cy="1142074"/>
            <a:chOff x="0" y="0"/>
            <a:chExt cx="3434706" cy="294993"/>
          </a:xfrm>
        </p:grpSpPr>
        <p:sp>
          <p:nvSpPr>
            <p:cNvPr name="Freeform 58" id="58"/>
            <p:cNvSpPr/>
            <p:nvPr/>
          </p:nvSpPr>
          <p:spPr>
            <a:xfrm flipH="false" flipV="false" rot="0">
              <a:off x="0" y="0"/>
              <a:ext cx="3434706" cy="294993"/>
            </a:xfrm>
            <a:custGeom>
              <a:avLst/>
              <a:gdLst/>
              <a:ahLst/>
              <a:cxnLst/>
              <a:rect r="r" b="b" t="t" l="l"/>
              <a:pathLst>
                <a:path h="294993" w="3434706">
                  <a:moveTo>
                    <a:pt x="34932" y="0"/>
                  </a:moveTo>
                  <a:lnTo>
                    <a:pt x="3399773" y="0"/>
                  </a:lnTo>
                  <a:cubicBezTo>
                    <a:pt x="3409038" y="0"/>
                    <a:pt x="3417923" y="3680"/>
                    <a:pt x="3424474" y="10231"/>
                  </a:cubicBezTo>
                  <a:cubicBezTo>
                    <a:pt x="3431025" y="16783"/>
                    <a:pt x="3434706" y="25668"/>
                    <a:pt x="3434706" y="34932"/>
                  </a:cubicBezTo>
                  <a:lnTo>
                    <a:pt x="3434706" y="260061"/>
                  </a:lnTo>
                  <a:cubicBezTo>
                    <a:pt x="3434706" y="279353"/>
                    <a:pt x="3419066" y="294993"/>
                    <a:pt x="3399773" y="294993"/>
                  </a:cubicBezTo>
                  <a:lnTo>
                    <a:pt x="34932" y="294993"/>
                  </a:lnTo>
                  <a:cubicBezTo>
                    <a:pt x="15640" y="294993"/>
                    <a:pt x="0" y="279353"/>
                    <a:pt x="0" y="260061"/>
                  </a:cubicBezTo>
                  <a:lnTo>
                    <a:pt x="0" y="34932"/>
                  </a:lnTo>
                  <a:cubicBezTo>
                    <a:pt x="0" y="15640"/>
                    <a:pt x="15640" y="0"/>
                    <a:pt x="34932" y="0"/>
                  </a:cubicBezTo>
                  <a:close/>
                </a:path>
              </a:pathLst>
            </a:custGeom>
            <a:ln w="19050" cap="rnd">
              <a:solidFill>
                <a:srgbClr val="00B58F"/>
              </a:solidFill>
              <a:prstDash val="solid"/>
              <a:round/>
            </a:ln>
          </p:spPr>
        </p:sp>
        <p:sp>
          <p:nvSpPr>
            <p:cNvPr name="TextBox 59" id="59"/>
            <p:cNvSpPr txBox="true"/>
            <p:nvPr/>
          </p:nvSpPr>
          <p:spPr>
            <a:xfrm>
              <a:off x="0" y="-38100"/>
              <a:ext cx="3434706" cy="333093"/>
            </a:xfrm>
            <a:prstGeom prst="rect">
              <a:avLst/>
            </a:prstGeom>
          </p:spPr>
          <p:txBody>
            <a:bodyPr anchor="ctr" rtlCol="false" tIns="50800" lIns="50800" bIns="50800" rIns="50800"/>
            <a:lstStyle/>
            <a:p>
              <a:pPr algn="ctr">
                <a:lnSpc>
                  <a:spcPts val="2659"/>
                </a:lnSpc>
                <a:spcBef>
                  <a:spcPct val="0"/>
                </a:spcBef>
              </a:pPr>
            </a:p>
          </p:txBody>
        </p:sp>
      </p:grpSp>
      <p:sp>
        <p:nvSpPr>
          <p:cNvPr name="TextBox 60" id="60"/>
          <p:cNvSpPr txBox="true"/>
          <p:nvPr/>
        </p:nvSpPr>
        <p:spPr>
          <a:xfrm rot="0">
            <a:off x="6810344" y="2458434"/>
            <a:ext cx="7577444" cy="669926"/>
          </a:xfrm>
          <a:prstGeom prst="rect">
            <a:avLst/>
          </a:prstGeom>
        </p:spPr>
        <p:txBody>
          <a:bodyPr anchor="t" rtlCol="false" tIns="0" lIns="0" bIns="0" rIns="0">
            <a:spAutoFit/>
          </a:bodyPr>
          <a:lstStyle/>
          <a:p>
            <a:pPr algn="l">
              <a:lnSpc>
                <a:spcPts val="5000"/>
              </a:lnSpc>
            </a:pPr>
            <a:r>
              <a:rPr lang="en-US" sz="5000" i="true">
                <a:solidFill>
                  <a:srgbClr val="0B132B"/>
                </a:solidFill>
                <a:latin typeface="Canva Sans Italics"/>
                <a:ea typeface="Canva Sans Italics"/>
                <a:cs typeface="Canva Sans Italics"/>
                <a:sym typeface="Canva Sans Italics"/>
              </a:rPr>
              <a:t>INST: SARA BESHIER</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sp>
        <p:nvSpPr>
          <p:cNvPr name="Freeform 2" id="2"/>
          <p:cNvSpPr/>
          <p:nvPr/>
        </p:nvSpPr>
        <p:spPr>
          <a:xfrm flipH="false" flipV="false" rot="0">
            <a:off x="712310" y="616513"/>
            <a:ext cx="545776" cy="434636"/>
          </a:xfrm>
          <a:custGeom>
            <a:avLst/>
            <a:gdLst/>
            <a:ahLst/>
            <a:cxnLst/>
            <a:rect r="r" b="b" t="t" l="l"/>
            <a:pathLst>
              <a:path h="434636" w="545776">
                <a:moveTo>
                  <a:pt x="0" y="0"/>
                </a:moveTo>
                <a:lnTo>
                  <a:pt x="545776" y="0"/>
                </a:lnTo>
                <a:lnTo>
                  <a:pt x="545776" y="434635"/>
                </a:lnTo>
                <a:lnTo>
                  <a:pt x="0" y="4346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7965846">
            <a:off x="1099825" y="4000293"/>
            <a:ext cx="1057761" cy="331909"/>
            <a:chOff x="0" y="0"/>
            <a:chExt cx="4431354" cy="1390492"/>
          </a:xfrm>
        </p:grpSpPr>
        <p:sp>
          <p:nvSpPr>
            <p:cNvPr name="Freeform 4" id="4"/>
            <p:cNvSpPr/>
            <p:nvPr/>
          </p:nvSpPr>
          <p:spPr>
            <a:xfrm flipH="false" flipV="false" rot="0">
              <a:off x="52126" y="21064"/>
              <a:ext cx="4327103" cy="1369428"/>
            </a:xfrm>
            <a:custGeom>
              <a:avLst/>
              <a:gdLst/>
              <a:ahLst/>
              <a:cxnLst/>
              <a:rect r="r" b="b" t="t" l="l"/>
              <a:pathLst>
                <a:path h="1369428" w="4327103">
                  <a:moveTo>
                    <a:pt x="2225546" y="17842"/>
                  </a:moveTo>
                  <a:lnTo>
                    <a:pt x="4317233" y="1330522"/>
                  </a:lnTo>
                  <a:cubicBezTo>
                    <a:pt x="4325187" y="1335513"/>
                    <a:pt x="4328876" y="1345166"/>
                    <a:pt x="4326279" y="1354189"/>
                  </a:cubicBezTo>
                  <a:cubicBezTo>
                    <a:pt x="4323682" y="1363213"/>
                    <a:pt x="4315426" y="1369428"/>
                    <a:pt x="4306036" y="1369428"/>
                  </a:cubicBezTo>
                  <a:lnTo>
                    <a:pt x="21066" y="1369428"/>
                  </a:lnTo>
                  <a:cubicBezTo>
                    <a:pt x="11676" y="1369428"/>
                    <a:pt x="3420" y="1363213"/>
                    <a:pt x="823" y="1354189"/>
                  </a:cubicBezTo>
                  <a:cubicBezTo>
                    <a:pt x="-1774" y="1345166"/>
                    <a:pt x="1915" y="1335513"/>
                    <a:pt x="9869" y="1330522"/>
                  </a:cubicBezTo>
                  <a:lnTo>
                    <a:pt x="2101556" y="17842"/>
                  </a:lnTo>
                  <a:cubicBezTo>
                    <a:pt x="2139463" y="-5947"/>
                    <a:pt x="2187639" y="-5947"/>
                    <a:pt x="2225546" y="17842"/>
                  </a:cubicBezTo>
                  <a:close/>
                </a:path>
              </a:pathLst>
            </a:custGeom>
            <a:solidFill>
              <a:srgbClr val="00B58F"/>
            </a:solidFill>
          </p:spPr>
        </p:sp>
        <p:sp>
          <p:nvSpPr>
            <p:cNvPr name="TextBox 5" id="5"/>
            <p:cNvSpPr txBox="true"/>
            <p:nvPr/>
          </p:nvSpPr>
          <p:spPr>
            <a:xfrm>
              <a:off x="692399" y="607486"/>
              <a:ext cx="3046556" cy="683686"/>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7965846">
            <a:off x="1099825" y="6307352"/>
            <a:ext cx="1057761" cy="331909"/>
            <a:chOff x="0" y="0"/>
            <a:chExt cx="4431354" cy="1390492"/>
          </a:xfrm>
        </p:grpSpPr>
        <p:sp>
          <p:nvSpPr>
            <p:cNvPr name="Freeform 7" id="7"/>
            <p:cNvSpPr/>
            <p:nvPr/>
          </p:nvSpPr>
          <p:spPr>
            <a:xfrm flipH="false" flipV="false" rot="0">
              <a:off x="52126" y="21064"/>
              <a:ext cx="4327103" cy="1369428"/>
            </a:xfrm>
            <a:custGeom>
              <a:avLst/>
              <a:gdLst/>
              <a:ahLst/>
              <a:cxnLst/>
              <a:rect r="r" b="b" t="t" l="l"/>
              <a:pathLst>
                <a:path h="1369428" w="4327103">
                  <a:moveTo>
                    <a:pt x="2225546" y="17842"/>
                  </a:moveTo>
                  <a:lnTo>
                    <a:pt x="4317233" y="1330522"/>
                  </a:lnTo>
                  <a:cubicBezTo>
                    <a:pt x="4325187" y="1335513"/>
                    <a:pt x="4328876" y="1345166"/>
                    <a:pt x="4326279" y="1354189"/>
                  </a:cubicBezTo>
                  <a:cubicBezTo>
                    <a:pt x="4323682" y="1363213"/>
                    <a:pt x="4315426" y="1369428"/>
                    <a:pt x="4306036" y="1369428"/>
                  </a:cubicBezTo>
                  <a:lnTo>
                    <a:pt x="21066" y="1369428"/>
                  </a:lnTo>
                  <a:cubicBezTo>
                    <a:pt x="11676" y="1369428"/>
                    <a:pt x="3420" y="1363213"/>
                    <a:pt x="823" y="1354189"/>
                  </a:cubicBezTo>
                  <a:cubicBezTo>
                    <a:pt x="-1774" y="1345166"/>
                    <a:pt x="1915" y="1335513"/>
                    <a:pt x="9869" y="1330522"/>
                  </a:cubicBezTo>
                  <a:lnTo>
                    <a:pt x="2101556" y="17842"/>
                  </a:lnTo>
                  <a:cubicBezTo>
                    <a:pt x="2139463" y="-5947"/>
                    <a:pt x="2187639" y="-5947"/>
                    <a:pt x="2225546" y="17842"/>
                  </a:cubicBezTo>
                  <a:close/>
                </a:path>
              </a:pathLst>
            </a:custGeom>
            <a:solidFill>
              <a:srgbClr val="00B58F"/>
            </a:solidFill>
          </p:spPr>
        </p:sp>
        <p:sp>
          <p:nvSpPr>
            <p:cNvPr name="TextBox 8" id="8"/>
            <p:cNvSpPr txBox="true"/>
            <p:nvPr/>
          </p:nvSpPr>
          <p:spPr>
            <a:xfrm>
              <a:off x="692399" y="607486"/>
              <a:ext cx="3046556" cy="683686"/>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7965846">
            <a:off x="1099825" y="8684193"/>
            <a:ext cx="1057761" cy="331909"/>
            <a:chOff x="0" y="0"/>
            <a:chExt cx="4431354" cy="1390492"/>
          </a:xfrm>
        </p:grpSpPr>
        <p:sp>
          <p:nvSpPr>
            <p:cNvPr name="Freeform 10" id="10"/>
            <p:cNvSpPr/>
            <p:nvPr/>
          </p:nvSpPr>
          <p:spPr>
            <a:xfrm flipH="false" flipV="false" rot="0">
              <a:off x="52126" y="21064"/>
              <a:ext cx="4327103" cy="1369428"/>
            </a:xfrm>
            <a:custGeom>
              <a:avLst/>
              <a:gdLst/>
              <a:ahLst/>
              <a:cxnLst/>
              <a:rect r="r" b="b" t="t" l="l"/>
              <a:pathLst>
                <a:path h="1369428" w="4327103">
                  <a:moveTo>
                    <a:pt x="2225546" y="17842"/>
                  </a:moveTo>
                  <a:lnTo>
                    <a:pt x="4317233" y="1330522"/>
                  </a:lnTo>
                  <a:cubicBezTo>
                    <a:pt x="4325187" y="1335513"/>
                    <a:pt x="4328876" y="1345166"/>
                    <a:pt x="4326279" y="1354189"/>
                  </a:cubicBezTo>
                  <a:cubicBezTo>
                    <a:pt x="4323682" y="1363213"/>
                    <a:pt x="4315426" y="1369428"/>
                    <a:pt x="4306036" y="1369428"/>
                  </a:cubicBezTo>
                  <a:lnTo>
                    <a:pt x="21066" y="1369428"/>
                  </a:lnTo>
                  <a:cubicBezTo>
                    <a:pt x="11676" y="1369428"/>
                    <a:pt x="3420" y="1363213"/>
                    <a:pt x="823" y="1354189"/>
                  </a:cubicBezTo>
                  <a:cubicBezTo>
                    <a:pt x="-1774" y="1345166"/>
                    <a:pt x="1915" y="1335513"/>
                    <a:pt x="9869" y="1330522"/>
                  </a:cubicBezTo>
                  <a:lnTo>
                    <a:pt x="2101556" y="17842"/>
                  </a:lnTo>
                  <a:cubicBezTo>
                    <a:pt x="2139463" y="-5947"/>
                    <a:pt x="2187639" y="-5947"/>
                    <a:pt x="2225546" y="17842"/>
                  </a:cubicBezTo>
                  <a:close/>
                </a:path>
              </a:pathLst>
            </a:custGeom>
            <a:solidFill>
              <a:srgbClr val="00B58F"/>
            </a:solidFill>
          </p:spPr>
        </p:sp>
        <p:sp>
          <p:nvSpPr>
            <p:cNvPr name="TextBox 11" id="11"/>
            <p:cNvSpPr txBox="true"/>
            <p:nvPr/>
          </p:nvSpPr>
          <p:spPr>
            <a:xfrm>
              <a:off x="692399" y="607486"/>
              <a:ext cx="3046556" cy="683686"/>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6018748" y="6754510"/>
            <a:ext cx="2031862" cy="584815"/>
            <a:chOff x="0" y="0"/>
            <a:chExt cx="524822" cy="151055"/>
          </a:xfrm>
        </p:grpSpPr>
        <p:sp>
          <p:nvSpPr>
            <p:cNvPr name="Freeform 13" id="13"/>
            <p:cNvSpPr/>
            <p:nvPr/>
          </p:nvSpPr>
          <p:spPr>
            <a:xfrm flipH="false" flipV="false" rot="0">
              <a:off x="0" y="0"/>
              <a:ext cx="524822" cy="151055"/>
            </a:xfrm>
            <a:custGeom>
              <a:avLst/>
              <a:gdLst/>
              <a:ahLst/>
              <a:cxnLst/>
              <a:rect r="r" b="b" t="t" l="l"/>
              <a:pathLst>
                <a:path h="151055" w="524822">
                  <a:moveTo>
                    <a:pt x="38103" y="0"/>
                  </a:moveTo>
                  <a:lnTo>
                    <a:pt x="486719" y="0"/>
                  </a:lnTo>
                  <a:cubicBezTo>
                    <a:pt x="507762" y="0"/>
                    <a:pt x="524822" y="17059"/>
                    <a:pt x="524822" y="38103"/>
                  </a:cubicBezTo>
                  <a:lnTo>
                    <a:pt x="524822" y="112953"/>
                  </a:lnTo>
                  <a:cubicBezTo>
                    <a:pt x="524822" y="133996"/>
                    <a:pt x="507762" y="151055"/>
                    <a:pt x="486719" y="151055"/>
                  </a:cubicBezTo>
                  <a:lnTo>
                    <a:pt x="38103" y="151055"/>
                  </a:lnTo>
                  <a:cubicBezTo>
                    <a:pt x="17059" y="151055"/>
                    <a:pt x="0" y="133996"/>
                    <a:pt x="0" y="112953"/>
                  </a:cubicBezTo>
                  <a:lnTo>
                    <a:pt x="0" y="38103"/>
                  </a:lnTo>
                  <a:cubicBezTo>
                    <a:pt x="0" y="17059"/>
                    <a:pt x="17059" y="0"/>
                    <a:pt x="38103" y="0"/>
                  </a:cubicBezTo>
                  <a:close/>
                </a:path>
              </a:pathLst>
            </a:custGeom>
            <a:solidFill>
              <a:srgbClr val="00B58F"/>
            </a:solidFill>
            <a:ln cap="sq">
              <a:noFill/>
              <a:prstDash val="solid"/>
              <a:miter/>
            </a:ln>
          </p:spPr>
        </p:sp>
        <p:sp>
          <p:nvSpPr>
            <p:cNvPr name="TextBox 14" id="14"/>
            <p:cNvSpPr txBox="true"/>
            <p:nvPr/>
          </p:nvSpPr>
          <p:spPr>
            <a:xfrm>
              <a:off x="0" y="-38100"/>
              <a:ext cx="524822" cy="189155"/>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9384496" y="1286312"/>
            <a:ext cx="7719339" cy="3438142"/>
            <a:chOff x="0" y="0"/>
            <a:chExt cx="1993874" cy="888058"/>
          </a:xfrm>
        </p:grpSpPr>
        <p:sp>
          <p:nvSpPr>
            <p:cNvPr name="Freeform 16" id="16"/>
            <p:cNvSpPr/>
            <p:nvPr/>
          </p:nvSpPr>
          <p:spPr>
            <a:xfrm flipH="false" flipV="false" rot="0">
              <a:off x="0" y="0"/>
              <a:ext cx="1993874" cy="888058"/>
            </a:xfrm>
            <a:custGeom>
              <a:avLst/>
              <a:gdLst/>
              <a:ahLst/>
              <a:cxnLst/>
              <a:rect r="r" b="b" t="t" l="l"/>
              <a:pathLst>
                <a:path h="888058" w="1993874">
                  <a:moveTo>
                    <a:pt x="60176" y="0"/>
                  </a:moveTo>
                  <a:lnTo>
                    <a:pt x="1933698" y="0"/>
                  </a:lnTo>
                  <a:cubicBezTo>
                    <a:pt x="1966932" y="0"/>
                    <a:pt x="1993874" y="26941"/>
                    <a:pt x="1993874" y="60176"/>
                  </a:cubicBezTo>
                  <a:lnTo>
                    <a:pt x="1993874" y="827883"/>
                  </a:lnTo>
                  <a:cubicBezTo>
                    <a:pt x="1993874" y="843842"/>
                    <a:pt x="1987534" y="859148"/>
                    <a:pt x="1976249" y="870433"/>
                  </a:cubicBezTo>
                  <a:cubicBezTo>
                    <a:pt x="1964964" y="881718"/>
                    <a:pt x="1949658" y="888058"/>
                    <a:pt x="1933698" y="888058"/>
                  </a:cubicBezTo>
                  <a:lnTo>
                    <a:pt x="60176" y="888058"/>
                  </a:lnTo>
                  <a:cubicBezTo>
                    <a:pt x="26941" y="888058"/>
                    <a:pt x="0" y="861117"/>
                    <a:pt x="0" y="827883"/>
                  </a:cubicBezTo>
                  <a:lnTo>
                    <a:pt x="0" y="60176"/>
                  </a:lnTo>
                  <a:cubicBezTo>
                    <a:pt x="0" y="44216"/>
                    <a:pt x="6340" y="28910"/>
                    <a:pt x="17625" y="17625"/>
                  </a:cubicBezTo>
                  <a:cubicBezTo>
                    <a:pt x="28910" y="6340"/>
                    <a:pt x="44216" y="0"/>
                    <a:pt x="60176" y="0"/>
                  </a:cubicBezTo>
                  <a:close/>
                </a:path>
              </a:pathLst>
            </a:custGeom>
            <a:ln w="19050" cap="rnd">
              <a:solidFill>
                <a:srgbClr val="00B58F"/>
              </a:solidFill>
              <a:prstDash val="solid"/>
              <a:round/>
            </a:ln>
          </p:spPr>
        </p:sp>
        <p:sp>
          <p:nvSpPr>
            <p:cNvPr name="TextBox 17" id="17"/>
            <p:cNvSpPr txBox="true"/>
            <p:nvPr/>
          </p:nvSpPr>
          <p:spPr>
            <a:xfrm>
              <a:off x="0" y="-38100"/>
              <a:ext cx="1993874" cy="926158"/>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9144000" y="999338"/>
            <a:ext cx="7483052" cy="4033028"/>
            <a:chOff x="0" y="0"/>
            <a:chExt cx="7071593" cy="3811270"/>
          </a:xfrm>
        </p:grpSpPr>
        <p:sp>
          <p:nvSpPr>
            <p:cNvPr name="Freeform 19" id="19"/>
            <p:cNvSpPr/>
            <p:nvPr/>
          </p:nvSpPr>
          <p:spPr>
            <a:xfrm flipH="false" flipV="false" rot="0">
              <a:off x="0" y="0"/>
              <a:ext cx="7071592" cy="3811270"/>
            </a:xfrm>
            <a:custGeom>
              <a:avLst/>
              <a:gdLst/>
              <a:ahLst/>
              <a:cxnLst/>
              <a:rect r="r" b="b" t="t" l="l"/>
              <a:pathLst>
                <a:path h="3811270" w="7071592">
                  <a:moveTo>
                    <a:pt x="1835785" y="0"/>
                  </a:moveTo>
                  <a:lnTo>
                    <a:pt x="6473336" y="0"/>
                  </a:lnTo>
                  <a:cubicBezTo>
                    <a:pt x="6804287" y="0"/>
                    <a:pt x="7071592" y="240030"/>
                    <a:pt x="7071592" y="537210"/>
                  </a:cubicBezTo>
                  <a:lnTo>
                    <a:pt x="7071592" y="2466340"/>
                  </a:lnTo>
                  <a:cubicBezTo>
                    <a:pt x="7071592" y="2763520"/>
                    <a:pt x="6804287" y="3003550"/>
                    <a:pt x="6473336" y="3003550"/>
                  </a:cubicBezTo>
                  <a:lnTo>
                    <a:pt x="5290966" y="3003550"/>
                  </a:lnTo>
                  <a:cubicBezTo>
                    <a:pt x="5108519" y="3003550"/>
                    <a:pt x="4934557" y="3078480"/>
                    <a:pt x="4821412" y="3208020"/>
                  </a:cubicBezTo>
                  <a:lnTo>
                    <a:pt x="4469247" y="3606800"/>
                  </a:lnTo>
                  <a:cubicBezTo>
                    <a:pt x="4356101" y="3735070"/>
                    <a:pt x="4183554" y="3811270"/>
                    <a:pt x="3999693" y="3811270"/>
                  </a:cubicBezTo>
                  <a:lnTo>
                    <a:pt x="598257" y="3811270"/>
                  </a:lnTo>
                  <a:cubicBezTo>
                    <a:pt x="267306" y="3811270"/>
                    <a:pt x="0" y="3571240"/>
                    <a:pt x="0" y="3274060"/>
                  </a:cubicBezTo>
                  <a:lnTo>
                    <a:pt x="0" y="1375410"/>
                  </a:lnTo>
                  <a:cubicBezTo>
                    <a:pt x="0" y="1206500"/>
                    <a:pt x="87688" y="1047750"/>
                    <a:pt x="237606" y="946150"/>
                  </a:cubicBezTo>
                  <a:lnTo>
                    <a:pt x="1475134" y="107950"/>
                  </a:lnTo>
                  <a:cubicBezTo>
                    <a:pt x="1578380" y="38100"/>
                    <a:pt x="1705668" y="0"/>
                    <a:pt x="1835785" y="0"/>
                  </a:cubicBezTo>
                  <a:close/>
                </a:path>
              </a:pathLst>
            </a:custGeom>
            <a:blipFill>
              <a:blip r:embed="rId4"/>
              <a:stretch>
                <a:fillRect l="-404" t="-22857" r="-20781" b="-27232"/>
              </a:stretch>
            </a:blipFill>
          </p:spPr>
        </p:sp>
      </p:grpSp>
      <p:grpSp>
        <p:nvGrpSpPr>
          <p:cNvPr name="Group 20" id="20"/>
          <p:cNvGrpSpPr/>
          <p:nvPr/>
        </p:nvGrpSpPr>
        <p:grpSpPr>
          <a:xfrm rot="0">
            <a:off x="14260252" y="4429151"/>
            <a:ext cx="2366800" cy="476850"/>
            <a:chOff x="0" y="0"/>
            <a:chExt cx="1977575" cy="398431"/>
          </a:xfrm>
        </p:grpSpPr>
        <p:sp>
          <p:nvSpPr>
            <p:cNvPr name="Freeform 21" id="21"/>
            <p:cNvSpPr/>
            <p:nvPr/>
          </p:nvSpPr>
          <p:spPr>
            <a:xfrm flipH="false" flipV="false" rot="0">
              <a:off x="38022" y="0"/>
              <a:ext cx="1901531" cy="398431"/>
            </a:xfrm>
            <a:custGeom>
              <a:avLst/>
              <a:gdLst/>
              <a:ahLst/>
              <a:cxnLst/>
              <a:rect r="r" b="b" t="t" l="l"/>
              <a:pathLst>
                <a:path h="398431" w="1901531">
                  <a:moveTo>
                    <a:pt x="263309" y="0"/>
                  </a:moveTo>
                  <a:lnTo>
                    <a:pt x="1841422" y="0"/>
                  </a:lnTo>
                  <a:cubicBezTo>
                    <a:pt x="1862340" y="0"/>
                    <a:pt x="1881753" y="10875"/>
                    <a:pt x="1892679" y="28712"/>
                  </a:cubicBezTo>
                  <a:cubicBezTo>
                    <a:pt x="1903606" y="46550"/>
                    <a:pt x="1904473" y="68785"/>
                    <a:pt x="1894969" y="87419"/>
                  </a:cubicBezTo>
                  <a:lnTo>
                    <a:pt x="1780937" y="311012"/>
                  </a:lnTo>
                  <a:cubicBezTo>
                    <a:pt x="1753577" y="364659"/>
                    <a:pt x="1698443" y="398431"/>
                    <a:pt x="1638222" y="398431"/>
                  </a:cubicBezTo>
                  <a:lnTo>
                    <a:pt x="60109" y="398431"/>
                  </a:lnTo>
                  <a:cubicBezTo>
                    <a:pt x="39192" y="398431"/>
                    <a:pt x="19778" y="387556"/>
                    <a:pt x="8852" y="369719"/>
                  </a:cubicBezTo>
                  <a:cubicBezTo>
                    <a:pt x="-2074" y="351881"/>
                    <a:pt x="-2942" y="329646"/>
                    <a:pt x="6562" y="311012"/>
                  </a:cubicBezTo>
                  <a:lnTo>
                    <a:pt x="120594" y="87419"/>
                  </a:lnTo>
                  <a:cubicBezTo>
                    <a:pt x="147954" y="33772"/>
                    <a:pt x="203088" y="0"/>
                    <a:pt x="263309" y="0"/>
                  </a:cubicBezTo>
                  <a:close/>
                </a:path>
              </a:pathLst>
            </a:custGeom>
            <a:solidFill>
              <a:srgbClr val="00B58F"/>
            </a:solidFill>
          </p:spPr>
        </p:sp>
        <p:sp>
          <p:nvSpPr>
            <p:cNvPr name="TextBox 22" id="22"/>
            <p:cNvSpPr txBox="true"/>
            <p:nvPr/>
          </p:nvSpPr>
          <p:spPr>
            <a:xfrm>
              <a:off x="101600" y="-38100"/>
              <a:ext cx="1774375" cy="436531"/>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11502671" y="9960324"/>
            <a:ext cx="9960587" cy="1142074"/>
            <a:chOff x="0" y="0"/>
            <a:chExt cx="2572779" cy="294993"/>
          </a:xfrm>
        </p:grpSpPr>
        <p:sp>
          <p:nvSpPr>
            <p:cNvPr name="Freeform 24" id="24"/>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25" id="25"/>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26" id="26"/>
          <p:cNvGrpSpPr/>
          <p:nvPr/>
        </p:nvGrpSpPr>
        <p:grpSpPr>
          <a:xfrm rot="0">
            <a:off x="-5959063" y="-784283"/>
            <a:ext cx="9960587" cy="1142074"/>
            <a:chOff x="0" y="0"/>
            <a:chExt cx="2572779" cy="294993"/>
          </a:xfrm>
        </p:grpSpPr>
        <p:sp>
          <p:nvSpPr>
            <p:cNvPr name="Freeform 27" id="27"/>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28" id="28"/>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sp>
        <p:nvSpPr>
          <p:cNvPr name="TextBox 29" id="29"/>
          <p:cNvSpPr txBox="true"/>
          <p:nvPr/>
        </p:nvSpPr>
        <p:spPr>
          <a:xfrm rot="0">
            <a:off x="953562" y="1442053"/>
            <a:ext cx="6978010" cy="848360"/>
          </a:xfrm>
          <a:prstGeom prst="rect">
            <a:avLst/>
          </a:prstGeom>
        </p:spPr>
        <p:txBody>
          <a:bodyPr anchor="t" rtlCol="false" tIns="0" lIns="0" bIns="0" rIns="0">
            <a:spAutoFit/>
          </a:bodyPr>
          <a:lstStyle/>
          <a:p>
            <a:pPr algn="l">
              <a:lnSpc>
                <a:spcPts val="6399"/>
              </a:lnSpc>
            </a:pPr>
            <a:r>
              <a:rPr lang="en-US" sz="6399">
                <a:solidFill>
                  <a:srgbClr val="0B132B"/>
                </a:solidFill>
                <a:latin typeface="Rubik One"/>
                <a:ea typeface="Rubik One"/>
                <a:cs typeface="Rubik One"/>
                <a:sym typeface="Rubik One"/>
              </a:rPr>
              <a:t>TOOLS</a:t>
            </a:r>
          </a:p>
        </p:txBody>
      </p:sp>
      <p:sp>
        <p:nvSpPr>
          <p:cNvPr name="TextBox 30" id="30"/>
          <p:cNvSpPr txBox="true"/>
          <p:nvPr/>
        </p:nvSpPr>
        <p:spPr>
          <a:xfrm rot="0">
            <a:off x="3739024" y="4902742"/>
            <a:ext cx="4192549" cy="626744"/>
          </a:xfrm>
          <a:prstGeom prst="rect">
            <a:avLst/>
          </a:prstGeom>
        </p:spPr>
        <p:txBody>
          <a:bodyPr anchor="t" rtlCol="false" tIns="0" lIns="0" bIns="0" rIns="0">
            <a:spAutoFit/>
          </a:bodyPr>
          <a:lstStyle/>
          <a:p>
            <a:pPr algn="l" marL="0" indent="0" lvl="0">
              <a:lnSpc>
                <a:spcPts val="4799"/>
              </a:lnSpc>
              <a:spcBef>
                <a:spcPct val="0"/>
              </a:spcBef>
            </a:pPr>
            <a:r>
              <a:rPr lang="en-US" sz="4799" strike="noStrike" u="none">
                <a:solidFill>
                  <a:srgbClr val="0B132B"/>
                </a:solidFill>
                <a:latin typeface="Rubik One"/>
                <a:ea typeface="Rubik One"/>
                <a:cs typeface="Rubik One"/>
                <a:sym typeface="Rubik One"/>
              </a:rPr>
              <a:t>PYTHON</a:t>
            </a:r>
          </a:p>
        </p:txBody>
      </p:sp>
      <p:sp>
        <p:nvSpPr>
          <p:cNvPr name="TextBox 31" id="31"/>
          <p:cNvSpPr txBox="true"/>
          <p:nvPr/>
        </p:nvSpPr>
        <p:spPr>
          <a:xfrm rot="0">
            <a:off x="3739024" y="7219837"/>
            <a:ext cx="4192549" cy="626762"/>
          </a:xfrm>
          <a:prstGeom prst="rect">
            <a:avLst/>
          </a:prstGeom>
        </p:spPr>
        <p:txBody>
          <a:bodyPr anchor="t" rtlCol="false" tIns="0" lIns="0" bIns="0" rIns="0">
            <a:spAutoFit/>
          </a:bodyPr>
          <a:lstStyle/>
          <a:p>
            <a:pPr algn="l" marL="0" indent="0" lvl="0">
              <a:lnSpc>
                <a:spcPts val="4799"/>
              </a:lnSpc>
              <a:spcBef>
                <a:spcPct val="0"/>
              </a:spcBef>
            </a:pPr>
            <a:r>
              <a:rPr lang="en-US" sz="4799" strike="noStrike" u="none">
                <a:solidFill>
                  <a:srgbClr val="0B132B"/>
                </a:solidFill>
                <a:latin typeface="Rubik One"/>
                <a:ea typeface="Rubik One"/>
                <a:cs typeface="Rubik One"/>
                <a:sym typeface="Rubik One"/>
              </a:rPr>
              <a:t>POWER-BI</a:t>
            </a:r>
          </a:p>
        </p:txBody>
      </p:sp>
      <p:sp>
        <p:nvSpPr>
          <p:cNvPr name="TextBox 32" id="32"/>
          <p:cNvSpPr txBox="true"/>
          <p:nvPr/>
        </p:nvSpPr>
        <p:spPr>
          <a:xfrm rot="0">
            <a:off x="3739024" y="3281103"/>
            <a:ext cx="4192549" cy="1600200"/>
          </a:xfrm>
          <a:prstGeom prst="rect">
            <a:avLst/>
          </a:prstGeom>
        </p:spPr>
        <p:txBody>
          <a:bodyPr anchor="t" rtlCol="false" tIns="0" lIns="0" bIns="0" rIns="0">
            <a:spAutoFit/>
          </a:bodyPr>
          <a:lstStyle/>
          <a:p>
            <a:pPr algn="l">
              <a:lnSpc>
                <a:spcPts val="2100"/>
              </a:lnSpc>
            </a:pPr>
            <a:r>
              <a:rPr lang="en-US" sz="1500" spc="37" b="true">
                <a:solidFill>
                  <a:srgbClr val="0B132B"/>
                </a:solidFill>
                <a:latin typeface="Bricolage Grotesque Bold"/>
                <a:ea typeface="Bricolage Grotesque Bold"/>
                <a:cs typeface="Bricolage Grotesque Bold"/>
                <a:sym typeface="Bricolage Grotesque Bold"/>
              </a:rPr>
              <a:t>f</a:t>
            </a:r>
            <a:r>
              <a:rPr lang="en-US" b="true" sz="1500" spc="37">
                <a:solidFill>
                  <a:srgbClr val="0B132B"/>
                </a:solidFill>
                <a:latin typeface="Bricolage Grotesque Bold"/>
                <a:ea typeface="Bricolage Grotesque Bold"/>
                <a:cs typeface="Bricolage Grotesque Bold"/>
                <a:sym typeface="Bricolage Grotesque Bold"/>
              </a:rPr>
              <a:t>or data extraction and transformation</a:t>
            </a:r>
          </a:p>
          <a:p>
            <a:pPr algn="l">
              <a:lnSpc>
                <a:spcPts val="2100"/>
              </a:lnSpc>
            </a:pPr>
            <a:r>
              <a:rPr lang="en-US" b="true" sz="1500" spc="37">
                <a:solidFill>
                  <a:srgbClr val="0B132B"/>
                </a:solidFill>
                <a:latin typeface="Bricolage Grotesque Bold"/>
                <a:ea typeface="Bricolage Grotesque Bold"/>
                <a:cs typeface="Bricolage Grotesque Bold"/>
                <a:sym typeface="Bricolage Grotesque Bold"/>
              </a:rPr>
              <a:t>andclean, filter, and structure the dataset</a:t>
            </a:r>
          </a:p>
          <a:p>
            <a:pPr algn="l">
              <a:lnSpc>
                <a:spcPts val="2100"/>
              </a:lnSpc>
            </a:pPr>
            <a:r>
              <a:rPr lang="en-US" b="true" sz="1500" spc="37">
                <a:solidFill>
                  <a:srgbClr val="0B132B"/>
                </a:solidFill>
                <a:latin typeface="Bricolage Grotesque Bold"/>
                <a:ea typeface="Bricolage Grotesque Bold"/>
                <a:cs typeface="Bricolage Grotesque Bold"/>
                <a:sym typeface="Bricolage Grotesque Bold"/>
              </a:rPr>
              <a:t>extract, clean, and aggregate the raw data, ensuring data accuracy and preparing it for analysis.</a:t>
            </a:r>
          </a:p>
          <a:p>
            <a:pPr algn="l">
              <a:lnSpc>
                <a:spcPts val="2100"/>
              </a:lnSpc>
            </a:pPr>
          </a:p>
        </p:txBody>
      </p:sp>
      <p:sp>
        <p:nvSpPr>
          <p:cNvPr name="TextBox 33" id="33"/>
          <p:cNvSpPr txBox="true"/>
          <p:nvPr/>
        </p:nvSpPr>
        <p:spPr>
          <a:xfrm rot="0">
            <a:off x="3739024" y="5588161"/>
            <a:ext cx="4192549" cy="1600200"/>
          </a:xfrm>
          <a:prstGeom prst="rect">
            <a:avLst/>
          </a:prstGeom>
        </p:spPr>
        <p:txBody>
          <a:bodyPr anchor="t" rtlCol="false" tIns="0" lIns="0" bIns="0" rIns="0">
            <a:spAutoFit/>
          </a:bodyPr>
          <a:lstStyle/>
          <a:p>
            <a:pPr algn="l" marL="0" indent="0" lvl="0">
              <a:lnSpc>
                <a:spcPts val="2100"/>
              </a:lnSpc>
              <a:spcBef>
                <a:spcPct val="0"/>
              </a:spcBef>
            </a:pPr>
            <a:r>
              <a:rPr lang="en-US" b="true" sz="1500" spc="37" strike="noStrike" u="none">
                <a:solidFill>
                  <a:srgbClr val="0B132B"/>
                </a:solidFill>
                <a:latin typeface="Bricolage Grotesque Bold"/>
                <a:ea typeface="Bricolage Grotesque Bold"/>
                <a:cs typeface="Bricolage Grotesque Bold"/>
                <a:sym typeface="Bricolage Grotesque Bold"/>
              </a:rPr>
              <a:t>perform analytical modeling and derive insights,applied to perform deeper analysis, calculate KPIs such as growth rates and affordability, and explore trends using data visualization.</a:t>
            </a:r>
          </a:p>
          <a:p>
            <a:pPr algn="l" marL="0" indent="0" lvl="0">
              <a:lnSpc>
                <a:spcPts val="2100"/>
              </a:lnSpc>
              <a:spcBef>
                <a:spcPct val="0"/>
              </a:spcBef>
            </a:pPr>
          </a:p>
        </p:txBody>
      </p:sp>
      <p:sp>
        <p:nvSpPr>
          <p:cNvPr name="TextBox 34" id="34"/>
          <p:cNvSpPr txBox="true"/>
          <p:nvPr/>
        </p:nvSpPr>
        <p:spPr>
          <a:xfrm rot="0">
            <a:off x="11502671" y="5355931"/>
            <a:ext cx="4923139" cy="1925913"/>
          </a:xfrm>
          <a:prstGeom prst="rect">
            <a:avLst/>
          </a:prstGeom>
        </p:spPr>
        <p:txBody>
          <a:bodyPr anchor="t" rtlCol="false" tIns="0" lIns="0" bIns="0" rIns="0">
            <a:spAutoFit/>
          </a:bodyPr>
          <a:lstStyle/>
          <a:p>
            <a:pPr algn="l" marL="793792" indent="-396896" lvl="1">
              <a:lnSpc>
                <a:spcPts val="5147"/>
              </a:lnSpc>
              <a:buFont typeface="Arial"/>
              <a:buChar char="•"/>
            </a:pPr>
            <a:r>
              <a:rPr lang="en-US" sz="3676" spc="91">
                <a:solidFill>
                  <a:srgbClr val="0B132B"/>
                </a:solidFill>
                <a:latin typeface="Bricolage Grotesque"/>
                <a:ea typeface="Bricolage Grotesque"/>
                <a:cs typeface="Bricolage Grotesque"/>
                <a:sym typeface="Bricolage Grotesque"/>
              </a:rPr>
              <a:t>26422 CELLS</a:t>
            </a:r>
          </a:p>
          <a:p>
            <a:pPr algn="l" marL="793792" indent="-396896" lvl="1">
              <a:lnSpc>
                <a:spcPts val="5147"/>
              </a:lnSpc>
              <a:buFont typeface="Arial"/>
              <a:buChar char="•"/>
            </a:pPr>
            <a:r>
              <a:rPr lang="en-US" sz="3676" spc="91">
                <a:solidFill>
                  <a:srgbClr val="0B132B"/>
                </a:solidFill>
                <a:latin typeface="Bricolage Grotesque"/>
                <a:ea typeface="Bricolage Grotesque"/>
                <a:cs typeface="Bricolage Grotesque"/>
                <a:sym typeface="Bricolage Grotesque"/>
              </a:rPr>
              <a:t>22 COLUMNS</a:t>
            </a:r>
          </a:p>
          <a:p>
            <a:pPr algn="l" marL="793792" indent="-396896" lvl="1">
              <a:lnSpc>
                <a:spcPts val="5147"/>
              </a:lnSpc>
              <a:buFont typeface="Arial"/>
              <a:buChar char="•"/>
            </a:pPr>
            <a:r>
              <a:rPr lang="en-US" sz="3676" spc="91">
                <a:solidFill>
                  <a:srgbClr val="0B132B"/>
                </a:solidFill>
                <a:latin typeface="Bricolage Grotesque"/>
                <a:ea typeface="Bricolage Grotesque"/>
                <a:cs typeface="Bricolage Grotesque"/>
                <a:sym typeface="Bricolage Grotesque"/>
              </a:rPr>
              <a:t>1201 RAWS</a:t>
            </a:r>
          </a:p>
        </p:txBody>
      </p:sp>
      <p:sp>
        <p:nvSpPr>
          <p:cNvPr name="TextBox 35" id="35"/>
          <p:cNvSpPr txBox="true"/>
          <p:nvPr/>
        </p:nvSpPr>
        <p:spPr>
          <a:xfrm rot="0">
            <a:off x="16642630" y="6795457"/>
            <a:ext cx="922408" cy="455296"/>
          </a:xfrm>
          <a:prstGeom prst="rect">
            <a:avLst/>
          </a:prstGeom>
        </p:spPr>
        <p:txBody>
          <a:bodyPr anchor="t" rtlCol="false" tIns="0" lIns="0" bIns="0" rIns="0">
            <a:spAutoFit/>
          </a:bodyPr>
          <a:lstStyle/>
          <a:p>
            <a:pPr algn="ctr">
              <a:lnSpc>
                <a:spcPts val="3779"/>
              </a:lnSpc>
            </a:pPr>
            <a:r>
              <a:rPr lang="en-US" b="true" sz="2699" spc="67">
                <a:solidFill>
                  <a:srgbClr val="FFFFFF"/>
                </a:solidFill>
                <a:latin typeface="Bricolage Grotesque Bold"/>
                <a:ea typeface="Bricolage Grotesque Bold"/>
                <a:cs typeface="Bricolage Grotesque Bold"/>
                <a:sym typeface="Bricolage Grotesque Bold"/>
              </a:rPr>
              <a:t>Visit</a:t>
            </a:r>
          </a:p>
        </p:txBody>
      </p:sp>
      <p:sp>
        <p:nvSpPr>
          <p:cNvPr name="TextBox 36" id="36"/>
          <p:cNvSpPr txBox="true"/>
          <p:nvPr/>
        </p:nvSpPr>
        <p:spPr>
          <a:xfrm rot="0">
            <a:off x="3875126" y="7913256"/>
            <a:ext cx="4192549" cy="1333500"/>
          </a:xfrm>
          <a:prstGeom prst="rect">
            <a:avLst/>
          </a:prstGeom>
        </p:spPr>
        <p:txBody>
          <a:bodyPr anchor="t" rtlCol="false" tIns="0" lIns="0" bIns="0" rIns="0">
            <a:spAutoFit/>
          </a:bodyPr>
          <a:lstStyle/>
          <a:p>
            <a:pPr algn="l" marL="0" indent="0" lvl="0">
              <a:lnSpc>
                <a:spcPts val="2100"/>
              </a:lnSpc>
              <a:spcBef>
                <a:spcPct val="0"/>
              </a:spcBef>
            </a:pPr>
            <a:r>
              <a:rPr lang="en-US" b="true" sz="1500" spc="37" strike="noStrike" u="none">
                <a:solidFill>
                  <a:srgbClr val="0B132B"/>
                </a:solidFill>
                <a:latin typeface="Bricolage Grotesque Bold"/>
                <a:ea typeface="Bricolage Grotesque Bold"/>
                <a:cs typeface="Bricolage Grotesque Bold"/>
                <a:sym typeface="Bricolage Grotesque Bold"/>
              </a:rPr>
              <a:t>design interactive dashboards and present insights through visual storytelling, enabling stakeholders to make data-driven decisions.</a:t>
            </a:r>
          </a:p>
          <a:p>
            <a:pPr algn="l" marL="0" indent="0" lvl="0">
              <a:lnSpc>
                <a:spcPts val="2100"/>
              </a:lnSpc>
              <a:spcBef>
                <a:spcPct val="0"/>
              </a:spcBef>
            </a:pPr>
          </a:p>
        </p:txBody>
      </p:sp>
      <p:sp>
        <p:nvSpPr>
          <p:cNvPr name="TextBox 37" id="37"/>
          <p:cNvSpPr txBox="true"/>
          <p:nvPr/>
        </p:nvSpPr>
        <p:spPr>
          <a:xfrm rot="0">
            <a:off x="3734647" y="2585648"/>
            <a:ext cx="4192549" cy="626744"/>
          </a:xfrm>
          <a:prstGeom prst="rect">
            <a:avLst/>
          </a:prstGeom>
        </p:spPr>
        <p:txBody>
          <a:bodyPr anchor="t" rtlCol="false" tIns="0" lIns="0" bIns="0" rIns="0">
            <a:spAutoFit/>
          </a:bodyPr>
          <a:lstStyle/>
          <a:p>
            <a:pPr algn="l">
              <a:lnSpc>
                <a:spcPts val="4799"/>
              </a:lnSpc>
            </a:pPr>
            <a:r>
              <a:rPr lang="en-US" sz="4799">
                <a:solidFill>
                  <a:srgbClr val="0B132B"/>
                </a:solidFill>
                <a:latin typeface="Rubik One"/>
                <a:ea typeface="Rubik One"/>
                <a:cs typeface="Rubik One"/>
                <a:sym typeface="Rubik One"/>
              </a:rPr>
              <a:t>SQL</a:t>
            </a:r>
          </a:p>
        </p:txBody>
      </p:sp>
      <p:sp>
        <p:nvSpPr>
          <p:cNvPr name="Freeform 38" id="38"/>
          <p:cNvSpPr/>
          <p:nvPr/>
        </p:nvSpPr>
        <p:spPr>
          <a:xfrm flipH="false" flipV="false" rot="0">
            <a:off x="1624708" y="4906000"/>
            <a:ext cx="1508188" cy="1508188"/>
          </a:xfrm>
          <a:custGeom>
            <a:avLst/>
            <a:gdLst/>
            <a:ahLst/>
            <a:cxnLst/>
            <a:rect r="r" b="b" t="t" l="l"/>
            <a:pathLst>
              <a:path h="1508188" w="1508188">
                <a:moveTo>
                  <a:pt x="0" y="0"/>
                </a:moveTo>
                <a:lnTo>
                  <a:pt x="1508188" y="0"/>
                </a:lnTo>
                <a:lnTo>
                  <a:pt x="1508188" y="1508189"/>
                </a:lnTo>
                <a:lnTo>
                  <a:pt x="0" y="150818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9" id="39"/>
          <p:cNvSpPr/>
          <p:nvPr/>
        </p:nvSpPr>
        <p:spPr>
          <a:xfrm flipH="false" flipV="false" rot="0">
            <a:off x="1715726" y="2728563"/>
            <a:ext cx="1417170" cy="1368857"/>
          </a:xfrm>
          <a:custGeom>
            <a:avLst/>
            <a:gdLst/>
            <a:ahLst/>
            <a:cxnLst/>
            <a:rect r="r" b="b" t="t" l="l"/>
            <a:pathLst>
              <a:path h="1368857" w="1417170">
                <a:moveTo>
                  <a:pt x="0" y="0"/>
                </a:moveTo>
                <a:lnTo>
                  <a:pt x="1417170" y="0"/>
                </a:lnTo>
                <a:lnTo>
                  <a:pt x="1417170" y="1368857"/>
                </a:lnTo>
                <a:lnTo>
                  <a:pt x="0" y="136885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40" id="40"/>
          <p:cNvSpPr/>
          <p:nvPr/>
        </p:nvSpPr>
        <p:spPr>
          <a:xfrm flipH="false" flipV="false" rot="0">
            <a:off x="1485338" y="7281844"/>
            <a:ext cx="1786927" cy="1189119"/>
          </a:xfrm>
          <a:custGeom>
            <a:avLst/>
            <a:gdLst/>
            <a:ahLst/>
            <a:cxnLst/>
            <a:rect r="r" b="b" t="t" l="l"/>
            <a:pathLst>
              <a:path h="1189119" w="1786927">
                <a:moveTo>
                  <a:pt x="0" y="0"/>
                </a:moveTo>
                <a:lnTo>
                  <a:pt x="1786928" y="0"/>
                </a:lnTo>
                <a:lnTo>
                  <a:pt x="1786928" y="1189119"/>
                </a:lnTo>
                <a:lnTo>
                  <a:pt x="0" y="118911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41" id="41"/>
          <p:cNvSpPr txBox="true"/>
          <p:nvPr/>
        </p:nvSpPr>
        <p:spPr>
          <a:xfrm rot="0">
            <a:off x="1357399" y="578413"/>
            <a:ext cx="2381625" cy="1102360"/>
          </a:xfrm>
          <a:prstGeom prst="rect">
            <a:avLst/>
          </a:prstGeom>
        </p:spPr>
        <p:txBody>
          <a:bodyPr anchor="t" rtlCol="false" tIns="0" lIns="0" bIns="0" rIns="0">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Group-1</a:t>
            </a:r>
          </a:p>
          <a:p>
            <a:pPr algn="l">
              <a:lnSpc>
                <a:spcPts val="2239"/>
              </a:lnSpc>
            </a:pPr>
            <a:r>
              <a:rPr lang="en-US" sz="1599" spc="39">
                <a:solidFill>
                  <a:srgbClr val="0B132B"/>
                </a:solidFill>
                <a:latin typeface="Bricolage Grotesque"/>
                <a:ea typeface="Bricolage Grotesque"/>
                <a:cs typeface="Bricolage Grotesque"/>
                <a:sym typeface="Bricolage Grotesque"/>
              </a:rPr>
              <a:t> Data Analysis</a:t>
            </a:r>
          </a:p>
          <a:p>
            <a:pPr algn="l">
              <a:lnSpc>
                <a:spcPts val="2239"/>
              </a:lnSpc>
            </a:pPr>
          </a:p>
          <a:p>
            <a:pPr algn="l">
              <a:lnSpc>
                <a:spcPts val="223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808637"/>
            <a:ext cx="229386" cy="182674"/>
          </a:xfrm>
          <a:custGeom>
            <a:avLst/>
            <a:gdLst/>
            <a:ahLst/>
            <a:cxnLst/>
            <a:rect r="r" b="b" t="t" l="l"/>
            <a:pathLst>
              <a:path h="182674" w="229386">
                <a:moveTo>
                  <a:pt x="0" y="0"/>
                </a:moveTo>
                <a:lnTo>
                  <a:pt x="229386" y="0"/>
                </a:lnTo>
                <a:lnTo>
                  <a:pt x="229386" y="182675"/>
                </a:lnTo>
                <a:lnTo>
                  <a:pt x="0" y="1826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651701" y="2557067"/>
            <a:ext cx="2584266" cy="3007146"/>
            <a:chOff x="0" y="0"/>
            <a:chExt cx="698500" cy="812800"/>
          </a:xfrm>
        </p:grpSpPr>
        <p:sp>
          <p:nvSpPr>
            <p:cNvPr name="Freeform 4" id="4"/>
            <p:cNvSpPr/>
            <p:nvPr/>
          </p:nvSpPr>
          <p:spPr>
            <a:xfrm flipH="false" flipV="false" rot="0">
              <a:off x="0" y="13889"/>
              <a:ext cx="698500" cy="785022"/>
            </a:xfrm>
            <a:custGeom>
              <a:avLst/>
              <a:gdLst/>
              <a:ahLst/>
              <a:cxnLst/>
              <a:rect r="r" b="b" t="t" l="l"/>
              <a:pathLst>
                <a:path h="785022" w="698500">
                  <a:moveTo>
                    <a:pt x="393755" y="12005"/>
                  </a:moveTo>
                  <a:lnTo>
                    <a:pt x="653995" y="163417"/>
                  </a:lnTo>
                  <a:cubicBezTo>
                    <a:pt x="681549" y="179449"/>
                    <a:pt x="698500" y="208922"/>
                    <a:pt x="698500" y="240801"/>
                  </a:cubicBezTo>
                  <a:lnTo>
                    <a:pt x="698500" y="544221"/>
                  </a:lnTo>
                  <a:cubicBezTo>
                    <a:pt x="698500" y="576100"/>
                    <a:pt x="681549" y="605573"/>
                    <a:pt x="653995" y="621605"/>
                  </a:cubicBezTo>
                  <a:lnTo>
                    <a:pt x="393755" y="773017"/>
                  </a:lnTo>
                  <a:cubicBezTo>
                    <a:pt x="366244" y="789024"/>
                    <a:pt x="332256" y="789024"/>
                    <a:pt x="304745" y="773017"/>
                  </a:cubicBezTo>
                  <a:lnTo>
                    <a:pt x="44505" y="621605"/>
                  </a:lnTo>
                  <a:cubicBezTo>
                    <a:pt x="16951" y="605573"/>
                    <a:pt x="0" y="576100"/>
                    <a:pt x="0" y="544221"/>
                  </a:cubicBezTo>
                  <a:lnTo>
                    <a:pt x="0" y="240801"/>
                  </a:lnTo>
                  <a:cubicBezTo>
                    <a:pt x="0" y="208922"/>
                    <a:pt x="16951" y="179449"/>
                    <a:pt x="44505" y="163417"/>
                  </a:cubicBezTo>
                  <a:lnTo>
                    <a:pt x="304745" y="12005"/>
                  </a:lnTo>
                  <a:cubicBezTo>
                    <a:pt x="332256" y="-4002"/>
                    <a:pt x="366244" y="-4002"/>
                    <a:pt x="393755" y="12005"/>
                  </a:cubicBezTo>
                  <a:close/>
                </a:path>
              </a:pathLst>
            </a:custGeom>
            <a:ln w="19050" cap="sq">
              <a:solidFill>
                <a:srgbClr val="00B58F"/>
              </a:solidFill>
              <a:prstDash val="solid"/>
              <a:miter/>
            </a:ln>
          </p:spPr>
        </p:sp>
        <p:sp>
          <p:nvSpPr>
            <p:cNvPr name="TextBox 5" id="5"/>
            <p:cNvSpPr txBox="true"/>
            <p:nvPr/>
          </p:nvSpPr>
          <p:spPr>
            <a:xfrm>
              <a:off x="0" y="101600"/>
              <a:ext cx="698500" cy="5715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604727" y="2538017"/>
            <a:ext cx="2584266" cy="3007146"/>
            <a:chOff x="0" y="0"/>
            <a:chExt cx="698500" cy="812800"/>
          </a:xfrm>
        </p:grpSpPr>
        <p:sp>
          <p:nvSpPr>
            <p:cNvPr name="Freeform 7" id="7"/>
            <p:cNvSpPr/>
            <p:nvPr/>
          </p:nvSpPr>
          <p:spPr>
            <a:xfrm flipH="false" flipV="false" rot="0">
              <a:off x="0" y="13889"/>
              <a:ext cx="698500" cy="785022"/>
            </a:xfrm>
            <a:custGeom>
              <a:avLst/>
              <a:gdLst/>
              <a:ahLst/>
              <a:cxnLst/>
              <a:rect r="r" b="b" t="t" l="l"/>
              <a:pathLst>
                <a:path h="785022" w="698500">
                  <a:moveTo>
                    <a:pt x="393755" y="12005"/>
                  </a:moveTo>
                  <a:lnTo>
                    <a:pt x="653995" y="163417"/>
                  </a:lnTo>
                  <a:cubicBezTo>
                    <a:pt x="681549" y="179449"/>
                    <a:pt x="698500" y="208922"/>
                    <a:pt x="698500" y="240801"/>
                  </a:cubicBezTo>
                  <a:lnTo>
                    <a:pt x="698500" y="544221"/>
                  </a:lnTo>
                  <a:cubicBezTo>
                    <a:pt x="698500" y="576100"/>
                    <a:pt x="681549" y="605573"/>
                    <a:pt x="653995" y="621605"/>
                  </a:cubicBezTo>
                  <a:lnTo>
                    <a:pt x="393755" y="773017"/>
                  </a:lnTo>
                  <a:cubicBezTo>
                    <a:pt x="366244" y="789024"/>
                    <a:pt x="332256" y="789024"/>
                    <a:pt x="304745" y="773017"/>
                  </a:cubicBezTo>
                  <a:lnTo>
                    <a:pt x="44505" y="621605"/>
                  </a:lnTo>
                  <a:cubicBezTo>
                    <a:pt x="16951" y="605573"/>
                    <a:pt x="0" y="576100"/>
                    <a:pt x="0" y="544221"/>
                  </a:cubicBezTo>
                  <a:lnTo>
                    <a:pt x="0" y="240801"/>
                  </a:lnTo>
                  <a:cubicBezTo>
                    <a:pt x="0" y="208922"/>
                    <a:pt x="16951" y="179449"/>
                    <a:pt x="44505" y="163417"/>
                  </a:cubicBezTo>
                  <a:lnTo>
                    <a:pt x="304745" y="12005"/>
                  </a:lnTo>
                  <a:cubicBezTo>
                    <a:pt x="332256" y="-4002"/>
                    <a:pt x="366244" y="-4002"/>
                    <a:pt x="393755" y="12005"/>
                  </a:cubicBezTo>
                  <a:close/>
                </a:path>
              </a:pathLst>
            </a:custGeom>
            <a:ln w="19050" cap="sq">
              <a:solidFill>
                <a:srgbClr val="00B58F"/>
              </a:solidFill>
              <a:prstDash val="solid"/>
              <a:miter/>
            </a:ln>
          </p:spPr>
        </p:sp>
        <p:sp>
          <p:nvSpPr>
            <p:cNvPr name="TextBox 8" id="8"/>
            <p:cNvSpPr txBox="true"/>
            <p:nvPr/>
          </p:nvSpPr>
          <p:spPr>
            <a:xfrm>
              <a:off x="0" y="101600"/>
              <a:ext cx="698500" cy="571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037881" y="5764822"/>
            <a:ext cx="2584266" cy="3007146"/>
            <a:chOff x="0" y="0"/>
            <a:chExt cx="698500" cy="812800"/>
          </a:xfrm>
        </p:grpSpPr>
        <p:sp>
          <p:nvSpPr>
            <p:cNvPr name="Freeform 10" id="10"/>
            <p:cNvSpPr/>
            <p:nvPr/>
          </p:nvSpPr>
          <p:spPr>
            <a:xfrm flipH="false" flipV="false" rot="0">
              <a:off x="0" y="13889"/>
              <a:ext cx="698500" cy="785022"/>
            </a:xfrm>
            <a:custGeom>
              <a:avLst/>
              <a:gdLst/>
              <a:ahLst/>
              <a:cxnLst/>
              <a:rect r="r" b="b" t="t" l="l"/>
              <a:pathLst>
                <a:path h="785022" w="698500">
                  <a:moveTo>
                    <a:pt x="393755" y="12005"/>
                  </a:moveTo>
                  <a:lnTo>
                    <a:pt x="653995" y="163417"/>
                  </a:lnTo>
                  <a:cubicBezTo>
                    <a:pt x="681549" y="179449"/>
                    <a:pt x="698500" y="208922"/>
                    <a:pt x="698500" y="240801"/>
                  </a:cubicBezTo>
                  <a:lnTo>
                    <a:pt x="698500" y="544221"/>
                  </a:lnTo>
                  <a:cubicBezTo>
                    <a:pt x="698500" y="576100"/>
                    <a:pt x="681549" y="605573"/>
                    <a:pt x="653995" y="621605"/>
                  </a:cubicBezTo>
                  <a:lnTo>
                    <a:pt x="393755" y="773017"/>
                  </a:lnTo>
                  <a:cubicBezTo>
                    <a:pt x="366244" y="789024"/>
                    <a:pt x="332256" y="789024"/>
                    <a:pt x="304745" y="773017"/>
                  </a:cubicBezTo>
                  <a:lnTo>
                    <a:pt x="44505" y="621605"/>
                  </a:lnTo>
                  <a:cubicBezTo>
                    <a:pt x="16951" y="605573"/>
                    <a:pt x="0" y="576100"/>
                    <a:pt x="0" y="544221"/>
                  </a:cubicBezTo>
                  <a:lnTo>
                    <a:pt x="0" y="240801"/>
                  </a:lnTo>
                  <a:cubicBezTo>
                    <a:pt x="0" y="208922"/>
                    <a:pt x="16951" y="179449"/>
                    <a:pt x="44505" y="163417"/>
                  </a:cubicBezTo>
                  <a:lnTo>
                    <a:pt x="304745" y="12005"/>
                  </a:lnTo>
                  <a:cubicBezTo>
                    <a:pt x="332256" y="-4002"/>
                    <a:pt x="366244" y="-4002"/>
                    <a:pt x="393755" y="12005"/>
                  </a:cubicBezTo>
                  <a:close/>
                </a:path>
              </a:pathLst>
            </a:custGeom>
            <a:ln w="19050" cap="sq">
              <a:solidFill>
                <a:srgbClr val="00B58F"/>
              </a:solidFill>
              <a:prstDash val="solid"/>
              <a:miter/>
            </a:ln>
          </p:spPr>
        </p:sp>
        <p:sp>
          <p:nvSpPr>
            <p:cNvPr name="TextBox 11" id="11"/>
            <p:cNvSpPr txBox="true"/>
            <p:nvPr/>
          </p:nvSpPr>
          <p:spPr>
            <a:xfrm>
              <a:off x="0" y="101600"/>
              <a:ext cx="698500" cy="57150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5056182" y="5764822"/>
            <a:ext cx="2584266" cy="3007146"/>
            <a:chOff x="0" y="0"/>
            <a:chExt cx="698500" cy="812800"/>
          </a:xfrm>
        </p:grpSpPr>
        <p:sp>
          <p:nvSpPr>
            <p:cNvPr name="Freeform 13" id="13"/>
            <p:cNvSpPr/>
            <p:nvPr/>
          </p:nvSpPr>
          <p:spPr>
            <a:xfrm flipH="false" flipV="false" rot="0">
              <a:off x="0" y="13889"/>
              <a:ext cx="698500" cy="785022"/>
            </a:xfrm>
            <a:custGeom>
              <a:avLst/>
              <a:gdLst/>
              <a:ahLst/>
              <a:cxnLst/>
              <a:rect r="r" b="b" t="t" l="l"/>
              <a:pathLst>
                <a:path h="785022" w="698500">
                  <a:moveTo>
                    <a:pt x="393755" y="12005"/>
                  </a:moveTo>
                  <a:lnTo>
                    <a:pt x="653995" y="163417"/>
                  </a:lnTo>
                  <a:cubicBezTo>
                    <a:pt x="681549" y="179449"/>
                    <a:pt x="698500" y="208922"/>
                    <a:pt x="698500" y="240801"/>
                  </a:cubicBezTo>
                  <a:lnTo>
                    <a:pt x="698500" y="544221"/>
                  </a:lnTo>
                  <a:cubicBezTo>
                    <a:pt x="698500" y="576100"/>
                    <a:pt x="681549" y="605573"/>
                    <a:pt x="653995" y="621605"/>
                  </a:cubicBezTo>
                  <a:lnTo>
                    <a:pt x="393755" y="773017"/>
                  </a:lnTo>
                  <a:cubicBezTo>
                    <a:pt x="366244" y="789024"/>
                    <a:pt x="332256" y="789024"/>
                    <a:pt x="304745" y="773017"/>
                  </a:cubicBezTo>
                  <a:lnTo>
                    <a:pt x="44505" y="621605"/>
                  </a:lnTo>
                  <a:cubicBezTo>
                    <a:pt x="16951" y="605573"/>
                    <a:pt x="0" y="576100"/>
                    <a:pt x="0" y="544221"/>
                  </a:cubicBezTo>
                  <a:lnTo>
                    <a:pt x="0" y="240801"/>
                  </a:lnTo>
                  <a:cubicBezTo>
                    <a:pt x="0" y="208922"/>
                    <a:pt x="16951" y="179449"/>
                    <a:pt x="44505" y="163417"/>
                  </a:cubicBezTo>
                  <a:lnTo>
                    <a:pt x="304745" y="12005"/>
                  </a:lnTo>
                  <a:cubicBezTo>
                    <a:pt x="332256" y="-4002"/>
                    <a:pt x="366244" y="-4002"/>
                    <a:pt x="393755" y="12005"/>
                  </a:cubicBezTo>
                  <a:close/>
                </a:path>
              </a:pathLst>
            </a:custGeom>
            <a:ln w="19050" cap="sq">
              <a:solidFill>
                <a:srgbClr val="00B58F"/>
              </a:solidFill>
              <a:prstDash val="solid"/>
              <a:miter/>
            </a:ln>
          </p:spPr>
        </p:sp>
        <p:sp>
          <p:nvSpPr>
            <p:cNvPr name="TextBox 14" id="14"/>
            <p:cNvSpPr txBox="true"/>
            <p:nvPr/>
          </p:nvSpPr>
          <p:spPr>
            <a:xfrm>
              <a:off x="0" y="101600"/>
              <a:ext cx="698500" cy="5715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6872046" y="2576117"/>
            <a:ext cx="2943763" cy="3425469"/>
            <a:chOff x="0" y="0"/>
            <a:chExt cx="698500" cy="812800"/>
          </a:xfrm>
        </p:grpSpPr>
        <p:sp>
          <p:nvSpPr>
            <p:cNvPr name="Freeform 16" id="16"/>
            <p:cNvSpPr/>
            <p:nvPr/>
          </p:nvSpPr>
          <p:spPr>
            <a:xfrm flipH="false" flipV="false" rot="0">
              <a:off x="0" y="12193"/>
              <a:ext cx="698500" cy="788414"/>
            </a:xfrm>
            <a:custGeom>
              <a:avLst/>
              <a:gdLst/>
              <a:ahLst/>
              <a:cxnLst/>
              <a:rect r="r" b="b" t="t" l="l"/>
              <a:pathLst>
                <a:path h="788414" w="698500">
                  <a:moveTo>
                    <a:pt x="388320" y="10539"/>
                  </a:moveTo>
                  <a:lnTo>
                    <a:pt x="659430" y="168275"/>
                  </a:lnTo>
                  <a:cubicBezTo>
                    <a:pt x="683619" y="182349"/>
                    <a:pt x="698500" y="208223"/>
                    <a:pt x="698500" y="236209"/>
                  </a:cubicBezTo>
                  <a:lnTo>
                    <a:pt x="698500" y="552205"/>
                  </a:lnTo>
                  <a:cubicBezTo>
                    <a:pt x="698500" y="580191"/>
                    <a:pt x="683619" y="606065"/>
                    <a:pt x="659430" y="620139"/>
                  </a:cubicBezTo>
                  <a:lnTo>
                    <a:pt x="388320" y="777875"/>
                  </a:lnTo>
                  <a:cubicBezTo>
                    <a:pt x="364169" y="791927"/>
                    <a:pt x="334331" y="791927"/>
                    <a:pt x="310180" y="777875"/>
                  </a:cubicBezTo>
                  <a:lnTo>
                    <a:pt x="39070" y="620139"/>
                  </a:lnTo>
                  <a:cubicBezTo>
                    <a:pt x="14881" y="606065"/>
                    <a:pt x="0" y="580191"/>
                    <a:pt x="0" y="552205"/>
                  </a:cubicBezTo>
                  <a:lnTo>
                    <a:pt x="0" y="236209"/>
                  </a:lnTo>
                  <a:cubicBezTo>
                    <a:pt x="0" y="208223"/>
                    <a:pt x="14881" y="182349"/>
                    <a:pt x="39070" y="168275"/>
                  </a:cubicBezTo>
                  <a:lnTo>
                    <a:pt x="310180" y="10539"/>
                  </a:lnTo>
                  <a:cubicBezTo>
                    <a:pt x="334331" y="-3513"/>
                    <a:pt x="364169" y="-3513"/>
                    <a:pt x="388320" y="10539"/>
                  </a:cubicBezTo>
                  <a:close/>
                </a:path>
              </a:pathLst>
            </a:custGeom>
            <a:solidFill>
              <a:srgbClr val="00B58F"/>
            </a:solidFill>
          </p:spPr>
        </p:sp>
        <p:sp>
          <p:nvSpPr>
            <p:cNvPr name="TextBox 17" id="17"/>
            <p:cNvSpPr txBox="true"/>
            <p:nvPr/>
          </p:nvSpPr>
          <p:spPr>
            <a:xfrm>
              <a:off x="0" y="-12700"/>
              <a:ext cx="698500" cy="685800"/>
            </a:xfrm>
            <a:prstGeom prst="rect">
              <a:avLst/>
            </a:prstGeom>
          </p:spPr>
          <p:txBody>
            <a:bodyPr anchor="ctr" rtlCol="false" tIns="50800" lIns="50800" bIns="50800" rIns="50800"/>
            <a:lstStyle/>
            <a:p>
              <a:pPr algn="ctr">
                <a:lnSpc>
                  <a:spcPts val="11479"/>
                </a:lnSpc>
              </a:pPr>
              <a:r>
                <a:rPr lang="en-US" sz="8199">
                  <a:solidFill>
                    <a:srgbClr val="FFFFFF"/>
                  </a:solidFill>
                  <a:latin typeface="Bricolage Grotesque"/>
                  <a:ea typeface="Bricolage Grotesque"/>
                  <a:cs typeface="Bricolage Grotesque"/>
                  <a:sym typeface="Bricolage Grotesque"/>
                </a:rPr>
                <a:t>16</a:t>
              </a:r>
            </a:p>
          </p:txBody>
        </p:sp>
      </p:grpSp>
      <p:grpSp>
        <p:nvGrpSpPr>
          <p:cNvPr name="Group 18" id="18"/>
          <p:cNvGrpSpPr/>
          <p:nvPr/>
        </p:nvGrpSpPr>
        <p:grpSpPr>
          <a:xfrm rot="0">
            <a:off x="10042425" y="2557067"/>
            <a:ext cx="2943763" cy="3425469"/>
            <a:chOff x="0" y="0"/>
            <a:chExt cx="698500" cy="812800"/>
          </a:xfrm>
        </p:grpSpPr>
        <p:sp>
          <p:nvSpPr>
            <p:cNvPr name="Freeform 19" id="19"/>
            <p:cNvSpPr/>
            <p:nvPr/>
          </p:nvSpPr>
          <p:spPr>
            <a:xfrm flipH="false" flipV="false" rot="0">
              <a:off x="0" y="12193"/>
              <a:ext cx="698500" cy="788414"/>
            </a:xfrm>
            <a:custGeom>
              <a:avLst/>
              <a:gdLst/>
              <a:ahLst/>
              <a:cxnLst/>
              <a:rect r="r" b="b" t="t" l="l"/>
              <a:pathLst>
                <a:path h="788414" w="698500">
                  <a:moveTo>
                    <a:pt x="388320" y="10539"/>
                  </a:moveTo>
                  <a:lnTo>
                    <a:pt x="659430" y="168275"/>
                  </a:lnTo>
                  <a:cubicBezTo>
                    <a:pt x="683619" y="182349"/>
                    <a:pt x="698500" y="208223"/>
                    <a:pt x="698500" y="236209"/>
                  </a:cubicBezTo>
                  <a:lnTo>
                    <a:pt x="698500" y="552205"/>
                  </a:lnTo>
                  <a:cubicBezTo>
                    <a:pt x="698500" y="580191"/>
                    <a:pt x="683619" y="606065"/>
                    <a:pt x="659430" y="620139"/>
                  </a:cubicBezTo>
                  <a:lnTo>
                    <a:pt x="388320" y="777875"/>
                  </a:lnTo>
                  <a:cubicBezTo>
                    <a:pt x="364169" y="791927"/>
                    <a:pt x="334331" y="791927"/>
                    <a:pt x="310180" y="777875"/>
                  </a:cubicBezTo>
                  <a:lnTo>
                    <a:pt x="39070" y="620139"/>
                  </a:lnTo>
                  <a:cubicBezTo>
                    <a:pt x="14881" y="606065"/>
                    <a:pt x="0" y="580191"/>
                    <a:pt x="0" y="552205"/>
                  </a:cubicBezTo>
                  <a:lnTo>
                    <a:pt x="0" y="236209"/>
                  </a:lnTo>
                  <a:cubicBezTo>
                    <a:pt x="0" y="208223"/>
                    <a:pt x="14881" y="182349"/>
                    <a:pt x="39070" y="168275"/>
                  </a:cubicBezTo>
                  <a:lnTo>
                    <a:pt x="310180" y="10539"/>
                  </a:lnTo>
                  <a:cubicBezTo>
                    <a:pt x="334331" y="-3513"/>
                    <a:pt x="364169" y="-3513"/>
                    <a:pt x="388320" y="10539"/>
                  </a:cubicBezTo>
                  <a:close/>
                </a:path>
              </a:pathLst>
            </a:custGeom>
            <a:solidFill>
              <a:srgbClr val="00B58F"/>
            </a:solidFill>
            <a:ln cap="sq">
              <a:noFill/>
              <a:prstDash val="solid"/>
              <a:miter/>
            </a:ln>
          </p:spPr>
        </p:sp>
        <p:sp>
          <p:nvSpPr>
            <p:cNvPr name="TextBox 20" id="20"/>
            <p:cNvSpPr txBox="true"/>
            <p:nvPr/>
          </p:nvSpPr>
          <p:spPr>
            <a:xfrm>
              <a:off x="0" y="-12700"/>
              <a:ext cx="698500" cy="685800"/>
            </a:xfrm>
            <a:prstGeom prst="rect">
              <a:avLst/>
            </a:prstGeom>
          </p:spPr>
          <p:txBody>
            <a:bodyPr anchor="ctr" rtlCol="false" tIns="50800" lIns="50800" bIns="50800" rIns="50800"/>
            <a:lstStyle/>
            <a:p>
              <a:pPr algn="ctr" marL="0" indent="0" lvl="0">
                <a:lnSpc>
                  <a:spcPts val="11479"/>
                </a:lnSpc>
                <a:spcBef>
                  <a:spcPct val="0"/>
                </a:spcBef>
              </a:pPr>
              <a:r>
                <a:rPr lang="en-US" sz="8199" strike="noStrike" u="none">
                  <a:solidFill>
                    <a:srgbClr val="FFFFFF"/>
                  </a:solidFill>
                  <a:latin typeface="Bricolage Grotesque"/>
                  <a:ea typeface="Bricolage Grotesque"/>
                  <a:cs typeface="Bricolage Grotesque"/>
                  <a:sym typeface="Bricolage Grotesque"/>
                </a:rPr>
                <a:t>5</a:t>
              </a:r>
            </a:p>
          </p:txBody>
        </p:sp>
      </p:grpSp>
      <p:grpSp>
        <p:nvGrpSpPr>
          <p:cNvPr name="Group 21" id="21"/>
          <p:cNvGrpSpPr/>
          <p:nvPr/>
        </p:nvGrpSpPr>
        <p:grpSpPr>
          <a:xfrm rot="0">
            <a:off x="5275103" y="5327448"/>
            <a:ext cx="2943763" cy="3425469"/>
            <a:chOff x="0" y="0"/>
            <a:chExt cx="698500" cy="812800"/>
          </a:xfrm>
        </p:grpSpPr>
        <p:sp>
          <p:nvSpPr>
            <p:cNvPr name="Freeform 22" id="22"/>
            <p:cNvSpPr/>
            <p:nvPr/>
          </p:nvSpPr>
          <p:spPr>
            <a:xfrm flipH="false" flipV="false" rot="0">
              <a:off x="0" y="12193"/>
              <a:ext cx="698500" cy="788414"/>
            </a:xfrm>
            <a:custGeom>
              <a:avLst/>
              <a:gdLst/>
              <a:ahLst/>
              <a:cxnLst/>
              <a:rect r="r" b="b" t="t" l="l"/>
              <a:pathLst>
                <a:path h="788414" w="698500">
                  <a:moveTo>
                    <a:pt x="388320" y="10539"/>
                  </a:moveTo>
                  <a:lnTo>
                    <a:pt x="659430" y="168275"/>
                  </a:lnTo>
                  <a:cubicBezTo>
                    <a:pt x="683619" y="182349"/>
                    <a:pt x="698500" y="208223"/>
                    <a:pt x="698500" y="236209"/>
                  </a:cubicBezTo>
                  <a:lnTo>
                    <a:pt x="698500" y="552205"/>
                  </a:lnTo>
                  <a:cubicBezTo>
                    <a:pt x="698500" y="580191"/>
                    <a:pt x="683619" y="606065"/>
                    <a:pt x="659430" y="620139"/>
                  </a:cubicBezTo>
                  <a:lnTo>
                    <a:pt x="388320" y="777875"/>
                  </a:lnTo>
                  <a:cubicBezTo>
                    <a:pt x="364169" y="791927"/>
                    <a:pt x="334331" y="791927"/>
                    <a:pt x="310180" y="777875"/>
                  </a:cubicBezTo>
                  <a:lnTo>
                    <a:pt x="39070" y="620139"/>
                  </a:lnTo>
                  <a:cubicBezTo>
                    <a:pt x="14881" y="606065"/>
                    <a:pt x="0" y="580191"/>
                    <a:pt x="0" y="552205"/>
                  </a:cubicBezTo>
                  <a:lnTo>
                    <a:pt x="0" y="236209"/>
                  </a:lnTo>
                  <a:cubicBezTo>
                    <a:pt x="0" y="208223"/>
                    <a:pt x="14881" y="182349"/>
                    <a:pt x="39070" y="168275"/>
                  </a:cubicBezTo>
                  <a:lnTo>
                    <a:pt x="310180" y="10539"/>
                  </a:lnTo>
                  <a:cubicBezTo>
                    <a:pt x="334331" y="-3513"/>
                    <a:pt x="364169" y="-3513"/>
                    <a:pt x="388320" y="10539"/>
                  </a:cubicBezTo>
                  <a:close/>
                </a:path>
              </a:pathLst>
            </a:custGeom>
            <a:solidFill>
              <a:srgbClr val="00B58F"/>
            </a:solidFill>
            <a:ln cap="sq">
              <a:noFill/>
              <a:prstDash val="solid"/>
              <a:miter/>
            </a:ln>
          </p:spPr>
        </p:sp>
        <p:sp>
          <p:nvSpPr>
            <p:cNvPr name="TextBox 23" id="23"/>
            <p:cNvSpPr txBox="true"/>
            <p:nvPr/>
          </p:nvSpPr>
          <p:spPr>
            <a:xfrm>
              <a:off x="0" y="-12700"/>
              <a:ext cx="698500" cy="685800"/>
            </a:xfrm>
            <a:prstGeom prst="rect">
              <a:avLst/>
            </a:prstGeom>
          </p:spPr>
          <p:txBody>
            <a:bodyPr anchor="ctr" rtlCol="false" tIns="50800" lIns="50800" bIns="50800" rIns="50800"/>
            <a:lstStyle/>
            <a:p>
              <a:pPr algn="ctr" marL="0" indent="0" lvl="0">
                <a:lnSpc>
                  <a:spcPts val="11479"/>
                </a:lnSpc>
                <a:spcBef>
                  <a:spcPct val="0"/>
                </a:spcBef>
              </a:pPr>
              <a:r>
                <a:rPr lang="en-US" sz="8199">
                  <a:solidFill>
                    <a:srgbClr val="FFFFFF"/>
                  </a:solidFill>
                  <a:latin typeface="Bricolage Grotesque"/>
                  <a:ea typeface="Bricolage Grotesque"/>
                  <a:cs typeface="Bricolage Grotesque"/>
                  <a:sym typeface="Bricolage Grotesque"/>
                </a:rPr>
                <a:t>16</a:t>
              </a:r>
            </a:p>
          </p:txBody>
        </p:sp>
      </p:grpSp>
      <p:grpSp>
        <p:nvGrpSpPr>
          <p:cNvPr name="Group 24" id="24"/>
          <p:cNvGrpSpPr/>
          <p:nvPr/>
        </p:nvGrpSpPr>
        <p:grpSpPr>
          <a:xfrm rot="0">
            <a:off x="8468988" y="5327448"/>
            <a:ext cx="2943763" cy="3425469"/>
            <a:chOff x="0" y="0"/>
            <a:chExt cx="698500" cy="812800"/>
          </a:xfrm>
        </p:grpSpPr>
        <p:sp>
          <p:nvSpPr>
            <p:cNvPr name="Freeform 25" id="25"/>
            <p:cNvSpPr/>
            <p:nvPr/>
          </p:nvSpPr>
          <p:spPr>
            <a:xfrm flipH="false" flipV="false" rot="0">
              <a:off x="0" y="12193"/>
              <a:ext cx="698500" cy="788414"/>
            </a:xfrm>
            <a:custGeom>
              <a:avLst/>
              <a:gdLst/>
              <a:ahLst/>
              <a:cxnLst/>
              <a:rect r="r" b="b" t="t" l="l"/>
              <a:pathLst>
                <a:path h="788414" w="698500">
                  <a:moveTo>
                    <a:pt x="388320" y="10539"/>
                  </a:moveTo>
                  <a:lnTo>
                    <a:pt x="659430" y="168275"/>
                  </a:lnTo>
                  <a:cubicBezTo>
                    <a:pt x="683619" y="182349"/>
                    <a:pt x="698500" y="208223"/>
                    <a:pt x="698500" y="236209"/>
                  </a:cubicBezTo>
                  <a:lnTo>
                    <a:pt x="698500" y="552205"/>
                  </a:lnTo>
                  <a:cubicBezTo>
                    <a:pt x="698500" y="580191"/>
                    <a:pt x="683619" y="606065"/>
                    <a:pt x="659430" y="620139"/>
                  </a:cubicBezTo>
                  <a:lnTo>
                    <a:pt x="388320" y="777875"/>
                  </a:lnTo>
                  <a:cubicBezTo>
                    <a:pt x="364169" y="791927"/>
                    <a:pt x="334331" y="791927"/>
                    <a:pt x="310180" y="777875"/>
                  </a:cubicBezTo>
                  <a:lnTo>
                    <a:pt x="39070" y="620139"/>
                  </a:lnTo>
                  <a:cubicBezTo>
                    <a:pt x="14881" y="606065"/>
                    <a:pt x="0" y="580191"/>
                    <a:pt x="0" y="552205"/>
                  </a:cubicBezTo>
                  <a:lnTo>
                    <a:pt x="0" y="236209"/>
                  </a:lnTo>
                  <a:cubicBezTo>
                    <a:pt x="0" y="208223"/>
                    <a:pt x="14881" y="182349"/>
                    <a:pt x="39070" y="168275"/>
                  </a:cubicBezTo>
                  <a:lnTo>
                    <a:pt x="310180" y="10539"/>
                  </a:lnTo>
                  <a:cubicBezTo>
                    <a:pt x="334331" y="-3513"/>
                    <a:pt x="364169" y="-3513"/>
                    <a:pt x="388320" y="10539"/>
                  </a:cubicBezTo>
                  <a:close/>
                </a:path>
              </a:pathLst>
            </a:custGeom>
            <a:solidFill>
              <a:srgbClr val="00B58F"/>
            </a:solidFill>
            <a:ln cap="sq">
              <a:noFill/>
              <a:prstDash val="solid"/>
              <a:miter/>
            </a:ln>
          </p:spPr>
        </p:sp>
        <p:sp>
          <p:nvSpPr>
            <p:cNvPr name="TextBox 26" id="26"/>
            <p:cNvSpPr txBox="true"/>
            <p:nvPr/>
          </p:nvSpPr>
          <p:spPr>
            <a:xfrm>
              <a:off x="0" y="-12700"/>
              <a:ext cx="698500" cy="685800"/>
            </a:xfrm>
            <a:prstGeom prst="rect">
              <a:avLst/>
            </a:prstGeom>
          </p:spPr>
          <p:txBody>
            <a:bodyPr anchor="ctr" rtlCol="false" tIns="50800" lIns="50800" bIns="50800" rIns="50800"/>
            <a:lstStyle/>
            <a:p>
              <a:pPr algn="ctr" marL="0" indent="0" lvl="0">
                <a:lnSpc>
                  <a:spcPts val="11479"/>
                </a:lnSpc>
                <a:spcBef>
                  <a:spcPct val="0"/>
                </a:spcBef>
              </a:pPr>
              <a:r>
                <a:rPr lang="en-US" sz="8199" strike="noStrike" u="none">
                  <a:solidFill>
                    <a:srgbClr val="FFFFFF"/>
                  </a:solidFill>
                  <a:latin typeface="Bricolage Grotesque"/>
                  <a:ea typeface="Bricolage Grotesque"/>
                  <a:cs typeface="Bricolage Grotesque"/>
                  <a:sym typeface="Bricolage Grotesque"/>
                </a:rPr>
                <a:t>3</a:t>
              </a:r>
            </a:p>
          </p:txBody>
        </p:sp>
      </p:grpSp>
      <p:grpSp>
        <p:nvGrpSpPr>
          <p:cNvPr name="Group 27" id="27"/>
          <p:cNvGrpSpPr/>
          <p:nvPr/>
        </p:nvGrpSpPr>
        <p:grpSpPr>
          <a:xfrm rot="0">
            <a:off x="11502671" y="9960324"/>
            <a:ext cx="9960587" cy="1142074"/>
            <a:chOff x="0" y="0"/>
            <a:chExt cx="2572779" cy="294993"/>
          </a:xfrm>
        </p:grpSpPr>
        <p:sp>
          <p:nvSpPr>
            <p:cNvPr name="Freeform 28" id="28"/>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29" id="29"/>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30" id="30"/>
          <p:cNvGrpSpPr/>
          <p:nvPr/>
        </p:nvGrpSpPr>
        <p:grpSpPr>
          <a:xfrm rot="0">
            <a:off x="-5959063" y="-784283"/>
            <a:ext cx="9000306" cy="1142074"/>
            <a:chOff x="0" y="0"/>
            <a:chExt cx="2324742" cy="294993"/>
          </a:xfrm>
        </p:grpSpPr>
        <p:sp>
          <p:nvSpPr>
            <p:cNvPr name="Freeform 31" id="31"/>
            <p:cNvSpPr/>
            <p:nvPr/>
          </p:nvSpPr>
          <p:spPr>
            <a:xfrm flipH="false" flipV="false" rot="0">
              <a:off x="0" y="0"/>
              <a:ext cx="2324742" cy="294993"/>
            </a:xfrm>
            <a:custGeom>
              <a:avLst/>
              <a:gdLst/>
              <a:ahLst/>
              <a:cxnLst/>
              <a:rect r="r" b="b" t="t" l="l"/>
              <a:pathLst>
                <a:path h="294993" w="2324742">
                  <a:moveTo>
                    <a:pt x="51611" y="0"/>
                  </a:moveTo>
                  <a:lnTo>
                    <a:pt x="2273131" y="0"/>
                  </a:lnTo>
                  <a:cubicBezTo>
                    <a:pt x="2286820" y="0"/>
                    <a:pt x="2299947" y="5438"/>
                    <a:pt x="2309626" y="15117"/>
                  </a:cubicBezTo>
                  <a:cubicBezTo>
                    <a:pt x="2319305" y="24795"/>
                    <a:pt x="2324742" y="37923"/>
                    <a:pt x="2324742" y="51611"/>
                  </a:cubicBezTo>
                  <a:lnTo>
                    <a:pt x="2324742" y="243382"/>
                  </a:lnTo>
                  <a:cubicBezTo>
                    <a:pt x="2324742" y="257070"/>
                    <a:pt x="2319305" y="270198"/>
                    <a:pt x="2309626" y="279876"/>
                  </a:cubicBezTo>
                  <a:cubicBezTo>
                    <a:pt x="2299947" y="289555"/>
                    <a:pt x="2286820" y="294993"/>
                    <a:pt x="2273131" y="294993"/>
                  </a:cubicBezTo>
                  <a:lnTo>
                    <a:pt x="51611" y="294993"/>
                  </a:lnTo>
                  <a:cubicBezTo>
                    <a:pt x="37923" y="294993"/>
                    <a:pt x="24795" y="289555"/>
                    <a:pt x="15117" y="279876"/>
                  </a:cubicBezTo>
                  <a:cubicBezTo>
                    <a:pt x="5438" y="270198"/>
                    <a:pt x="0" y="257070"/>
                    <a:pt x="0" y="243382"/>
                  </a:cubicBezTo>
                  <a:lnTo>
                    <a:pt x="0" y="51611"/>
                  </a:lnTo>
                  <a:cubicBezTo>
                    <a:pt x="0" y="37923"/>
                    <a:pt x="5438" y="24795"/>
                    <a:pt x="15117" y="15117"/>
                  </a:cubicBezTo>
                  <a:cubicBezTo>
                    <a:pt x="24795" y="5438"/>
                    <a:pt x="37923" y="0"/>
                    <a:pt x="51611" y="0"/>
                  </a:cubicBezTo>
                  <a:close/>
                </a:path>
              </a:pathLst>
            </a:custGeom>
            <a:ln w="19050" cap="rnd">
              <a:solidFill>
                <a:srgbClr val="00B58F"/>
              </a:solidFill>
              <a:prstDash val="solid"/>
              <a:round/>
            </a:ln>
          </p:spPr>
        </p:sp>
        <p:sp>
          <p:nvSpPr>
            <p:cNvPr name="TextBox 32" id="32"/>
            <p:cNvSpPr txBox="true"/>
            <p:nvPr/>
          </p:nvSpPr>
          <p:spPr>
            <a:xfrm>
              <a:off x="0" y="-38100"/>
              <a:ext cx="2324742" cy="333093"/>
            </a:xfrm>
            <a:prstGeom prst="rect">
              <a:avLst/>
            </a:prstGeom>
          </p:spPr>
          <p:txBody>
            <a:bodyPr anchor="ctr" rtlCol="false" tIns="50800" lIns="50800" bIns="50800" rIns="50800"/>
            <a:lstStyle/>
            <a:p>
              <a:pPr algn="ctr">
                <a:lnSpc>
                  <a:spcPts val="2659"/>
                </a:lnSpc>
                <a:spcBef>
                  <a:spcPct val="0"/>
                </a:spcBef>
              </a:pPr>
            </a:p>
          </p:txBody>
        </p:sp>
      </p:grpSp>
      <p:sp>
        <p:nvSpPr>
          <p:cNvPr name="TextBox 33" id="33"/>
          <p:cNvSpPr txBox="true"/>
          <p:nvPr/>
        </p:nvSpPr>
        <p:spPr>
          <a:xfrm rot="0">
            <a:off x="4473164" y="1442053"/>
            <a:ext cx="9341671" cy="848360"/>
          </a:xfrm>
          <a:prstGeom prst="rect">
            <a:avLst/>
          </a:prstGeom>
        </p:spPr>
        <p:txBody>
          <a:bodyPr anchor="t" rtlCol="false" tIns="0" lIns="0" bIns="0" rIns="0">
            <a:spAutoFit/>
          </a:bodyPr>
          <a:lstStyle/>
          <a:p>
            <a:pPr algn="ctr">
              <a:lnSpc>
                <a:spcPts val="6399"/>
              </a:lnSpc>
            </a:pPr>
            <a:r>
              <a:rPr lang="en-US" sz="6399">
                <a:solidFill>
                  <a:srgbClr val="0B132B"/>
                </a:solidFill>
                <a:latin typeface="Rubik One"/>
                <a:ea typeface="Rubik One"/>
                <a:cs typeface="Rubik One"/>
                <a:sym typeface="Rubik One"/>
              </a:rPr>
              <a:t>DATA OVERVIEW</a:t>
            </a:r>
          </a:p>
        </p:txBody>
      </p:sp>
      <p:sp>
        <p:nvSpPr>
          <p:cNvPr name="TextBox 34" id="34"/>
          <p:cNvSpPr txBox="true"/>
          <p:nvPr/>
        </p:nvSpPr>
        <p:spPr>
          <a:xfrm rot="0">
            <a:off x="1353022" y="754961"/>
            <a:ext cx="2381625" cy="273685"/>
          </a:xfrm>
          <a:prstGeom prst="rect">
            <a:avLst/>
          </a:prstGeom>
        </p:spPr>
        <p:txBody>
          <a:bodyPr anchor="t" rtlCol="false" tIns="0" lIns="0" bIns="0" rIns="0">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data overview</a:t>
            </a:r>
          </a:p>
        </p:txBody>
      </p:sp>
      <p:sp>
        <p:nvSpPr>
          <p:cNvPr name="TextBox 35" id="35"/>
          <p:cNvSpPr txBox="true"/>
          <p:nvPr/>
        </p:nvSpPr>
        <p:spPr>
          <a:xfrm rot="0">
            <a:off x="13077695" y="3411917"/>
            <a:ext cx="4192549" cy="876935"/>
          </a:xfrm>
          <a:prstGeom prst="rect">
            <a:avLst/>
          </a:prstGeom>
        </p:spPr>
        <p:txBody>
          <a:bodyPr anchor="t" rtlCol="false" tIns="0" lIns="0" bIns="0" rIns="0">
            <a:spAutoFit/>
          </a:bodyPr>
          <a:lstStyle/>
          <a:p>
            <a:pPr algn="ctr">
              <a:lnSpc>
                <a:spcPts val="3399"/>
              </a:lnSpc>
            </a:pPr>
            <a:r>
              <a:rPr lang="en-US" sz="3399">
                <a:solidFill>
                  <a:srgbClr val="0B132B"/>
                </a:solidFill>
                <a:latin typeface="Rubik One"/>
                <a:ea typeface="Rubik One"/>
                <a:cs typeface="Rubik One"/>
                <a:sym typeface="Rubik One"/>
              </a:rPr>
              <a:t>continental</a:t>
            </a:r>
          </a:p>
          <a:p>
            <a:pPr algn="ctr">
              <a:lnSpc>
                <a:spcPts val="3399"/>
              </a:lnSpc>
            </a:pPr>
          </a:p>
        </p:txBody>
      </p:sp>
      <p:sp>
        <p:nvSpPr>
          <p:cNvPr name="TextBox 36" id="36"/>
          <p:cNvSpPr txBox="true"/>
          <p:nvPr/>
        </p:nvSpPr>
        <p:spPr>
          <a:xfrm rot="0">
            <a:off x="2059102" y="3532757"/>
            <a:ext cx="4192549" cy="448310"/>
          </a:xfrm>
          <a:prstGeom prst="rect">
            <a:avLst/>
          </a:prstGeom>
        </p:spPr>
        <p:txBody>
          <a:bodyPr anchor="t" rtlCol="false" tIns="0" lIns="0" bIns="0" rIns="0">
            <a:spAutoFit/>
          </a:bodyPr>
          <a:lstStyle/>
          <a:p>
            <a:pPr algn="ctr">
              <a:lnSpc>
                <a:spcPts val="3399"/>
              </a:lnSpc>
            </a:pPr>
            <a:r>
              <a:rPr lang="en-US" sz="3399">
                <a:solidFill>
                  <a:srgbClr val="0B132B"/>
                </a:solidFill>
                <a:latin typeface="Rubik One"/>
                <a:ea typeface="Rubik One"/>
                <a:cs typeface="Rubik One"/>
                <a:sym typeface="Rubik One"/>
              </a:rPr>
              <a:t>years</a:t>
            </a:r>
          </a:p>
        </p:txBody>
      </p:sp>
      <p:sp>
        <p:nvSpPr>
          <p:cNvPr name="TextBox 37" id="37"/>
          <p:cNvSpPr txBox="true"/>
          <p:nvPr/>
        </p:nvSpPr>
        <p:spPr>
          <a:xfrm rot="0">
            <a:off x="12241271" y="6239800"/>
            <a:ext cx="4192549" cy="448310"/>
          </a:xfrm>
          <a:prstGeom prst="rect">
            <a:avLst/>
          </a:prstGeom>
        </p:spPr>
        <p:txBody>
          <a:bodyPr anchor="t" rtlCol="false" tIns="0" lIns="0" bIns="0" rIns="0">
            <a:spAutoFit/>
          </a:bodyPr>
          <a:lstStyle/>
          <a:p>
            <a:pPr algn="ctr">
              <a:lnSpc>
                <a:spcPts val="3399"/>
              </a:lnSpc>
            </a:pPr>
            <a:r>
              <a:rPr lang="en-US" sz="3399">
                <a:solidFill>
                  <a:srgbClr val="0B132B"/>
                </a:solidFill>
                <a:latin typeface="Rubik One"/>
                <a:ea typeface="Rubik One"/>
                <a:cs typeface="Rubik One"/>
                <a:sym typeface="Rubik One"/>
              </a:rPr>
              <a:t>segments</a:t>
            </a:r>
          </a:p>
        </p:txBody>
      </p:sp>
      <p:sp>
        <p:nvSpPr>
          <p:cNvPr name="TextBox 38" id="38"/>
          <p:cNvSpPr txBox="true"/>
          <p:nvPr/>
        </p:nvSpPr>
        <p:spPr>
          <a:xfrm rot="0">
            <a:off x="467808" y="6284088"/>
            <a:ext cx="4192549" cy="448310"/>
          </a:xfrm>
          <a:prstGeom prst="rect">
            <a:avLst/>
          </a:prstGeom>
        </p:spPr>
        <p:txBody>
          <a:bodyPr anchor="t" rtlCol="false" tIns="0" lIns="0" bIns="0" rIns="0">
            <a:spAutoFit/>
          </a:bodyPr>
          <a:lstStyle/>
          <a:p>
            <a:pPr algn="ctr">
              <a:lnSpc>
                <a:spcPts val="3399"/>
              </a:lnSpc>
            </a:pPr>
            <a:r>
              <a:rPr lang="en-US" sz="3399">
                <a:solidFill>
                  <a:srgbClr val="0B132B"/>
                </a:solidFill>
                <a:latin typeface="Rubik One"/>
                <a:ea typeface="Rubik One"/>
                <a:cs typeface="Rubik One"/>
                <a:sym typeface="Rubik One"/>
              </a:rPr>
              <a:t>countries</a:t>
            </a:r>
          </a:p>
        </p:txBody>
      </p:sp>
      <p:sp>
        <p:nvSpPr>
          <p:cNvPr name="TextBox 39" id="39"/>
          <p:cNvSpPr txBox="true"/>
          <p:nvPr/>
        </p:nvSpPr>
        <p:spPr>
          <a:xfrm rot="0">
            <a:off x="13077695" y="3989997"/>
            <a:ext cx="4701427" cy="1308265"/>
          </a:xfrm>
          <a:prstGeom prst="rect">
            <a:avLst/>
          </a:prstGeom>
        </p:spPr>
        <p:txBody>
          <a:bodyPr anchor="t" rtlCol="false" tIns="0" lIns="0" bIns="0" rIns="0">
            <a:spAutoFit/>
          </a:bodyPr>
          <a:lstStyle/>
          <a:p>
            <a:pPr algn="ctr">
              <a:lnSpc>
                <a:spcPts val="3453"/>
              </a:lnSpc>
            </a:pPr>
            <a:r>
              <a:rPr lang="en-US" sz="2467" spc="61">
                <a:solidFill>
                  <a:srgbClr val="0B132B"/>
                </a:solidFill>
                <a:latin typeface="Bricolage Grotesque"/>
                <a:ea typeface="Bricolage Grotesque"/>
                <a:cs typeface="Bricolage Grotesque"/>
                <a:sym typeface="Bricolage Grotesque"/>
              </a:rPr>
              <a:t>over euorpe , africa </a:t>
            </a:r>
          </a:p>
          <a:p>
            <a:pPr algn="ctr">
              <a:lnSpc>
                <a:spcPts val="3453"/>
              </a:lnSpc>
            </a:pPr>
            <a:r>
              <a:rPr lang="en-US" sz="2467" spc="61">
                <a:solidFill>
                  <a:srgbClr val="0B132B"/>
                </a:solidFill>
                <a:latin typeface="Bricolage Grotesque"/>
                <a:ea typeface="Bricolage Grotesque"/>
                <a:cs typeface="Bricolage Grotesque"/>
                <a:sym typeface="Bricolage Grotesque"/>
              </a:rPr>
              <a:t>apac,north america</a:t>
            </a:r>
          </a:p>
          <a:p>
            <a:pPr algn="ctr">
              <a:lnSpc>
                <a:spcPts val="3453"/>
              </a:lnSpc>
            </a:pPr>
            <a:r>
              <a:rPr lang="en-US" sz="2467" spc="61">
                <a:solidFill>
                  <a:srgbClr val="0B132B"/>
                </a:solidFill>
                <a:latin typeface="Bricolage Grotesque"/>
                <a:ea typeface="Bricolage Grotesque"/>
                <a:cs typeface="Bricolage Grotesque"/>
                <a:sym typeface="Bricolage Grotesque"/>
              </a:rPr>
              <a:t>south america, ociena</a:t>
            </a:r>
          </a:p>
        </p:txBody>
      </p:sp>
      <p:sp>
        <p:nvSpPr>
          <p:cNvPr name="TextBox 40" id="40"/>
          <p:cNvSpPr txBox="true"/>
          <p:nvPr/>
        </p:nvSpPr>
        <p:spPr>
          <a:xfrm rot="0">
            <a:off x="2059102" y="3999522"/>
            <a:ext cx="4363999" cy="824866"/>
          </a:xfrm>
          <a:prstGeom prst="rect">
            <a:avLst/>
          </a:prstGeom>
        </p:spPr>
        <p:txBody>
          <a:bodyPr anchor="t" rtlCol="false" tIns="0" lIns="0" bIns="0" rIns="0">
            <a:spAutoFit/>
          </a:bodyPr>
          <a:lstStyle/>
          <a:p>
            <a:pPr algn="ctr">
              <a:lnSpc>
                <a:spcPts val="3359"/>
              </a:lnSpc>
            </a:pPr>
            <a:r>
              <a:rPr lang="en-US" sz="2399" spc="59">
                <a:solidFill>
                  <a:srgbClr val="0B132B"/>
                </a:solidFill>
                <a:latin typeface="Bricolage Grotesque"/>
                <a:ea typeface="Bricolage Grotesque"/>
                <a:cs typeface="Bricolage Grotesque"/>
                <a:sym typeface="Bricolage Grotesque"/>
              </a:rPr>
              <a:t>time frame </a:t>
            </a:r>
          </a:p>
          <a:p>
            <a:pPr algn="ctr">
              <a:lnSpc>
                <a:spcPts val="3359"/>
              </a:lnSpc>
            </a:pPr>
            <a:r>
              <a:rPr lang="en-US" sz="2399" spc="59">
                <a:solidFill>
                  <a:srgbClr val="0B132B"/>
                </a:solidFill>
                <a:latin typeface="Bricolage Grotesque"/>
                <a:ea typeface="Bricolage Grotesque"/>
                <a:cs typeface="Bricolage Grotesque"/>
                <a:sym typeface="Bricolage Grotesque"/>
              </a:rPr>
              <a:t>starting from 2010 to 2025.</a:t>
            </a:r>
          </a:p>
        </p:txBody>
      </p:sp>
      <p:sp>
        <p:nvSpPr>
          <p:cNvPr name="TextBox 41" id="41"/>
          <p:cNvSpPr txBox="true"/>
          <p:nvPr/>
        </p:nvSpPr>
        <p:spPr>
          <a:xfrm rot="0">
            <a:off x="13814836" y="6878464"/>
            <a:ext cx="4273113" cy="835292"/>
          </a:xfrm>
          <a:prstGeom prst="rect">
            <a:avLst/>
          </a:prstGeom>
        </p:spPr>
        <p:txBody>
          <a:bodyPr anchor="t" rtlCol="false" tIns="0" lIns="0" bIns="0" rIns="0">
            <a:spAutoFit/>
          </a:bodyPr>
          <a:lstStyle/>
          <a:p>
            <a:pPr algn="l" marL="0" indent="0" lvl="0">
              <a:lnSpc>
                <a:spcPts val="3310"/>
              </a:lnSpc>
              <a:spcBef>
                <a:spcPct val="0"/>
              </a:spcBef>
            </a:pPr>
            <a:r>
              <a:rPr lang="en-US" sz="2364" spc="59" strike="noStrike" u="none">
                <a:solidFill>
                  <a:srgbClr val="0B132B"/>
                </a:solidFill>
                <a:latin typeface="Bricolage Grotesque"/>
                <a:ea typeface="Bricolage Grotesque"/>
                <a:cs typeface="Bricolage Grotesque"/>
                <a:sym typeface="Bricolage Grotesque"/>
              </a:rPr>
              <a:t>commercial, </a:t>
            </a:r>
            <a:r>
              <a:rPr lang="en-US" sz="2364" spc="59" strike="noStrike" u="none">
                <a:solidFill>
                  <a:srgbClr val="0B132B"/>
                </a:solidFill>
                <a:latin typeface="Bricolage Grotesque"/>
                <a:ea typeface="Bricolage Grotesque"/>
                <a:cs typeface="Bricolage Grotesque"/>
                <a:sym typeface="Bricolage Grotesque"/>
              </a:rPr>
              <a:t>mass market</a:t>
            </a:r>
          </a:p>
          <a:p>
            <a:pPr algn="l" marL="0" indent="0" lvl="0">
              <a:lnSpc>
                <a:spcPts val="3310"/>
              </a:lnSpc>
              <a:spcBef>
                <a:spcPct val="0"/>
              </a:spcBef>
            </a:pPr>
            <a:r>
              <a:rPr lang="en-US" sz="2364" spc="59" strike="noStrike" u="none">
                <a:solidFill>
                  <a:srgbClr val="0B132B"/>
                </a:solidFill>
                <a:latin typeface="Bricolage Grotesque"/>
                <a:ea typeface="Bricolage Grotesque"/>
                <a:cs typeface="Bricolage Grotesque"/>
                <a:sym typeface="Bricolage Grotesque"/>
              </a:rPr>
              <a:t> and premium segments</a:t>
            </a:r>
          </a:p>
        </p:txBody>
      </p:sp>
      <p:sp>
        <p:nvSpPr>
          <p:cNvPr name="TextBox 42" id="42"/>
          <p:cNvSpPr txBox="true"/>
          <p:nvPr/>
        </p:nvSpPr>
        <p:spPr>
          <a:xfrm rot="0">
            <a:off x="467808" y="6750853"/>
            <a:ext cx="4192549" cy="824866"/>
          </a:xfrm>
          <a:prstGeom prst="rect">
            <a:avLst/>
          </a:prstGeom>
        </p:spPr>
        <p:txBody>
          <a:bodyPr anchor="t" rtlCol="false" tIns="0" lIns="0" bIns="0" rIns="0">
            <a:spAutoFit/>
          </a:bodyPr>
          <a:lstStyle/>
          <a:p>
            <a:pPr algn="ctr" marL="0" indent="0" lvl="0">
              <a:lnSpc>
                <a:spcPts val="3359"/>
              </a:lnSpc>
              <a:spcBef>
                <a:spcPct val="0"/>
              </a:spcBef>
            </a:pPr>
            <a:r>
              <a:rPr lang="en-US" sz="2399" spc="59" strike="noStrike" u="none">
                <a:solidFill>
                  <a:srgbClr val="0B132B"/>
                </a:solidFill>
                <a:latin typeface="Bricolage Grotesque"/>
                <a:ea typeface="Bricolage Grotesque"/>
                <a:cs typeface="Bricolage Grotesque"/>
                <a:sym typeface="Bricolage Grotesque"/>
              </a:rPr>
              <a:t>over 16 countries</a:t>
            </a:r>
          </a:p>
          <a:p>
            <a:pPr algn="ctr" marL="0" indent="0" lvl="0">
              <a:lnSpc>
                <a:spcPts val="3359"/>
              </a:lnSpc>
              <a:spcBef>
                <a:spcPct val="0"/>
              </a:spcBef>
            </a:pPr>
            <a:r>
              <a:rPr lang="en-US" sz="2399" spc="59" strike="noStrike" u="none">
                <a:solidFill>
                  <a:srgbClr val="0B132B"/>
                </a:solidFill>
                <a:latin typeface="Bricolage Grotesque"/>
                <a:ea typeface="Bricolage Grotesque"/>
                <a:cs typeface="Bricolage Grotesque"/>
                <a:sym typeface="Bricolage Grotesque"/>
              </a:rPr>
              <a:t> all over the world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808637"/>
            <a:ext cx="229386" cy="182674"/>
          </a:xfrm>
          <a:custGeom>
            <a:avLst/>
            <a:gdLst/>
            <a:ahLst/>
            <a:cxnLst/>
            <a:rect r="r" b="b" t="t" l="l"/>
            <a:pathLst>
              <a:path h="182674" w="229386">
                <a:moveTo>
                  <a:pt x="0" y="0"/>
                </a:moveTo>
                <a:lnTo>
                  <a:pt x="229386" y="0"/>
                </a:lnTo>
                <a:lnTo>
                  <a:pt x="229386" y="182675"/>
                </a:lnTo>
                <a:lnTo>
                  <a:pt x="0" y="1826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426731" y="3169056"/>
            <a:ext cx="3077979" cy="5545320"/>
            <a:chOff x="0" y="0"/>
            <a:chExt cx="795029" cy="1432334"/>
          </a:xfrm>
        </p:grpSpPr>
        <p:sp>
          <p:nvSpPr>
            <p:cNvPr name="Freeform 4" id="4"/>
            <p:cNvSpPr/>
            <p:nvPr/>
          </p:nvSpPr>
          <p:spPr>
            <a:xfrm flipH="false" flipV="false" rot="0">
              <a:off x="0" y="0"/>
              <a:ext cx="795030" cy="1432334"/>
            </a:xfrm>
            <a:custGeom>
              <a:avLst/>
              <a:gdLst/>
              <a:ahLst/>
              <a:cxnLst/>
              <a:rect r="r" b="b" t="t" l="l"/>
              <a:pathLst>
                <a:path h="1432334" w="795030">
                  <a:moveTo>
                    <a:pt x="150916" y="0"/>
                  </a:moveTo>
                  <a:lnTo>
                    <a:pt x="644114" y="0"/>
                  </a:lnTo>
                  <a:cubicBezTo>
                    <a:pt x="684139" y="0"/>
                    <a:pt x="722525" y="15900"/>
                    <a:pt x="750827" y="44202"/>
                  </a:cubicBezTo>
                  <a:cubicBezTo>
                    <a:pt x="779130" y="72504"/>
                    <a:pt x="795030" y="110890"/>
                    <a:pt x="795030" y="150916"/>
                  </a:cubicBezTo>
                  <a:lnTo>
                    <a:pt x="795030" y="1281418"/>
                  </a:lnTo>
                  <a:cubicBezTo>
                    <a:pt x="795030" y="1321443"/>
                    <a:pt x="779130" y="1359829"/>
                    <a:pt x="750827" y="1388131"/>
                  </a:cubicBezTo>
                  <a:cubicBezTo>
                    <a:pt x="722525" y="1416434"/>
                    <a:pt x="684139" y="1432334"/>
                    <a:pt x="644114" y="1432334"/>
                  </a:cubicBezTo>
                  <a:lnTo>
                    <a:pt x="150916" y="1432334"/>
                  </a:lnTo>
                  <a:cubicBezTo>
                    <a:pt x="110890" y="1432334"/>
                    <a:pt x="72504" y="1416434"/>
                    <a:pt x="44202" y="1388131"/>
                  </a:cubicBezTo>
                  <a:cubicBezTo>
                    <a:pt x="15900" y="1359829"/>
                    <a:pt x="0" y="1321443"/>
                    <a:pt x="0" y="1281418"/>
                  </a:cubicBezTo>
                  <a:lnTo>
                    <a:pt x="0" y="150916"/>
                  </a:lnTo>
                  <a:cubicBezTo>
                    <a:pt x="0" y="110890"/>
                    <a:pt x="15900" y="72504"/>
                    <a:pt x="44202" y="44202"/>
                  </a:cubicBezTo>
                  <a:cubicBezTo>
                    <a:pt x="72504" y="15900"/>
                    <a:pt x="110890" y="0"/>
                    <a:pt x="150916" y="0"/>
                  </a:cubicBezTo>
                  <a:close/>
                </a:path>
              </a:pathLst>
            </a:custGeom>
            <a:ln w="19050" cap="rnd">
              <a:solidFill>
                <a:srgbClr val="00B58F"/>
              </a:solidFill>
              <a:prstDash val="solid"/>
              <a:round/>
            </a:ln>
          </p:spPr>
        </p:sp>
        <p:sp>
          <p:nvSpPr>
            <p:cNvPr name="TextBox 5" id="5"/>
            <p:cNvSpPr txBox="true"/>
            <p:nvPr/>
          </p:nvSpPr>
          <p:spPr>
            <a:xfrm>
              <a:off x="0" y="-38100"/>
              <a:ext cx="795029" cy="1470434"/>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2723348" y="2614263"/>
            <a:ext cx="3946558" cy="6644037"/>
            <a:chOff x="0" y="0"/>
            <a:chExt cx="3771900" cy="6350000"/>
          </a:xfrm>
        </p:grpSpPr>
        <p:sp>
          <p:nvSpPr>
            <p:cNvPr name="Freeform 7" id="7"/>
            <p:cNvSpPr/>
            <p:nvPr/>
          </p:nvSpPr>
          <p:spPr>
            <a:xfrm flipH="false" flipV="false" rot="0">
              <a:off x="0" y="0"/>
              <a:ext cx="3771900" cy="6349937"/>
            </a:xfrm>
            <a:custGeom>
              <a:avLst/>
              <a:gdLst/>
              <a:ahLst/>
              <a:cxnLst/>
              <a:rect r="r" b="b" t="t" l="l"/>
              <a:pathLst>
                <a:path h="6349937" w="3771900">
                  <a:moveTo>
                    <a:pt x="0" y="546100"/>
                  </a:moveTo>
                  <a:lnTo>
                    <a:pt x="0" y="3953510"/>
                  </a:lnTo>
                  <a:cubicBezTo>
                    <a:pt x="0" y="4132580"/>
                    <a:pt x="87630" y="4301490"/>
                    <a:pt x="236220" y="4403090"/>
                  </a:cubicBezTo>
                  <a:lnTo>
                    <a:pt x="2914650" y="6252210"/>
                  </a:lnTo>
                  <a:cubicBezTo>
                    <a:pt x="3276600" y="6502400"/>
                    <a:pt x="3771900" y="6243320"/>
                    <a:pt x="3771900" y="5802630"/>
                  </a:cubicBezTo>
                  <a:lnTo>
                    <a:pt x="3771900" y="546100"/>
                  </a:lnTo>
                  <a:cubicBezTo>
                    <a:pt x="3771900" y="243840"/>
                    <a:pt x="3526790" y="0"/>
                    <a:pt x="3225800" y="0"/>
                  </a:cubicBezTo>
                  <a:lnTo>
                    <a:pt x="546100" y="0"/>
                  </a:lnTo>
                  <a:cubicBezTo>
                    <a:pt x="245110" y="0"/>
                    <a:pt x="0" y="245110"/>
                    <a:pt x="0" y="546100"/>
                  </a:cubicBezTo>
                  <a:close/>
                </a:path>
              </a:pathLst>
            </a:custGeom>
            <a:blipFill>
              <a:blip r:embed="rId4"/>
              <a:stretch>
                <a:fillRect l="-45919" t="0" r="-17095" b="-29109"/>
              </a:stretch>
            </a:blipFill>
          </p:spPr>
        </p:sp>
      </p:grpSp>
      <p:grpSp>
        <p:nvGrpSpPr>
          <p:cNvPr name="Group 8" id="8"/>
          <p:cNvGrpSpPr/>
          <p:nvPr/>
        </p:nvGrpSpPr>
        <p:grpSpPr>
          <a:xfrm rot="-8714302">
            <a:off x="12302692" y="8266204"/>
            <a:ext cx="3052823" cy="1082740"/>
            <a:chOff x="0" y="0"/>
            <a:chExt cx="3787228" cy="1343210"/>
          </a:xfrm>
        </p:grpSpPr>
        <p:sp>
          <p:nvSpPr>
            <p:cNvPr name="Freeform 9" id="9"/>
            <p:cNvSpPr/>
            <p:nvPr/>
          </p:nvSpPr>
          <p:spPr>
            <a:xfrm flipH="false" flipV="false" rot="0">
              <a:off x="17278" y="8081"/>
              <a:ext cx="3752672" cy="1335129"/>
            </a:xfrm>
            <a:custGeom>
              <a:avLst/>
              <a:gdLst/>
              <a:ahLst/>
              <a:cxnLst/>
              <a:rect r="r" b="b" t="t" l="l"/>
              <a:pathLst>
                <a:path h="1335129" w="3752672">
                  <a:moveTo>
                    <a:pt x="1897020" y="6591"/>
                  </a:moveTo>
                  <a:lnTo>
                    <a:pt x="3749266" y="1320457"/>
                  </a:lnTo>
                  <a:cubicBezTo>
                    <a:pt x="3752135" y="1322492"/>
                    <a:pt x="3753358" y="1326150"/>
                    <a:pt x="3752290" y="1329502"/>
                  </a:cubicBezTo>
                  <a:cubicBezTo>
                    <a:pt x="3751222" y="1332854"/>
                    <a:pt x="3748108" y="1335129"/>
                    <a:pt x="3744590" y="1335129"/>
                  </a:cubicBezTo>
                  <a:lnTo>
                    <a:pt x="8082" y="1335129"/>
                  </a:lnTo>
                  <a:cubicBezTo>
                    <a:pt x="4564" y="1335129"/>
                    <a:pt x="1450" y="1332854"/>
                    <a:pt x="382" y="1329502"/>
                  </a:cubicBezTo>
                  <a:cubicBezTo>
                    <a:pt x="-686" y="1326150"/>
                    <a:pt x="537" y="1322492"/>
                    <a:pt x="3406" y="1320457"/>
                  </a:cubicBezTo>
                  <a:lnTo>
                    <a:pt x="1855652" y="6591"/>
                  </a:lnTo>
                  <a:cubicBezTo>
                    <a:pt x="1868041" y="-2197"/>
                    <a:pt x="1884631" y="-2197"/>
                    <a:pt x="1897020" y="6591"/>
                  </a:cubicBezTo>
                  <a:close/>
                </a:path>
              </a:pathLst>
            </a:custGeom>
            <a:solidFill>
              <a:srgbClr val="00B58F"/>
            </a:solidFill>
          </p:spPr>
        </p:sp>
        <p:sp>
          <p:nvSpPr>
            <p:cNvPr name="TextBox 10" id="10"/>
            <p:cNvSpPr txBox="true"/>
            <p:nvPr/>
          </p:nvSpPr>
          <p:spPr>
            <a:xfrm>
              <a:off x="591754" y="585533"/>
              <a:ext cx="2603719" cy="661733"/>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3150242" y="10122631"/>
            <a:ext cx="9960587" cy="979767"/>
            <a:chOff x="0" y="0"/>
            <a:chExt cx="2572779" cy="253070"/>
          </a:xfrm>
        </p:grpSpPr>
        <p:sp>
          <p:nvSpPr>
            <p:cNvPr name="Freeform 12" id="12"/>
            <p:cNvSpPr/>
            <p:nvPr/>
          </p:nvSpPr>
          <p:spPr>
            <a:xfrm flipH="false" flipV="false" rot="0">
              <a:off x="0" y="0"/>
              <a:ext cx="2572779" cy="253070"/>
            </a:xfrm>
            <a:custGeom>
              <a:avLst/>
              <a:gdLst/>
              <a:ahLst/>
              <a:cxnLst/>
              <a:rect r="r" b="b" t="t" l="l"/>
              <a:pathLst>
                <a:path h="253070" w="2572779">
                  <a:moveTo>
                    <a:pt x="46635" y="0"/>
                  </a:moveTo>
                  <a:lnTo>
                    <a:pt x="2526144" y="0"/>
                  </a:lnTo>
                  <a:cubicBezTo>
                    <a:pt x="2551900" y="0"/>
                    <a:pt x="2572779" y="20879"/>
                    <a:pt x="2572779" y="46635"/>
                  </a:cubicBezTo>
                  <a:lnTo>
                    <a:pt x="2572779" y="206434"/>
                  </a:lnTo>
                  <a:cubicBezTo>
                    <a:pt x="2572779" y="232190"/>
                    <a:pt x="2551900" y="253070"/>
                    <a:pt x="2526144" y="253070"/>
                  </a:cubicBezTo>
                  <a:lnTo>
                    <a:pt x="46635" y="253070"/>
                  </a:lnTo>
                  <a:cubicBezTo>
                    <a:pt x="34267" y="253070"/>
                    <a:pt x="22405" y="248156"/>
                    <a:pt x="13659" y="239411"/>
                  </a:cubicBezTo>
                  <a:cubicBezTo>
                    <a:pt x="4913" y="230665"/>
                    <a:pt x="0" y="218803"/>
                    <a:pt x="0" y="206434"/>
                  </a:cubicBezTo>
                  <a:lnTo>
                    <a:pt x="0" y="46635"/>
                  </a:lnTo>
                  <a:cubicBezTo>
                    <a:pt x="0" y="20879"/>
                    <a:pt x="20879" y="0"/>
                    <a:pt x="46635" y="0"/>
                  </a:cubicBezTo>
                  <a:close/>
                </a:path>
              </a:pathLst>
            </a:custGeom>
            <a:ln w="19050" cap="rnd">
              <a:solidFill>
                <a:srgbClr val="00B58F"/>
              </a:solidFill>
              <a:prstDash val="solid"/>
              <a:round/>
            </a:ln>
          </p:spPr>
        </p:sp>
        <p:sp>
          <p:nvSpPr>
            <p:cNvPr name="TextBox 13" id="13"/>
            <p:cNvSpPr txBox="true"/>
            <p:nvPr/>
          </p:nvSpPr>
          <p:spPr>
            <a:xfrm>
              <a:off x="0" y="-38100"/>
              <a:ext cx="2572779" cy="29117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13829104" y="-784283"/>
            <a:ext cx="12967080" cy="1142074"/>
            <a:chOff x="0" y="0"/>
            <a:chExt cx="3349344" cy="294993"/>
          </a:xfrm>
        </p:grpSpPr>
        <p:sp>
          <p:nvSpPr>
            <p:cNvPr name="Freeform 15" id="15"/>
            <p:cNvSpPr/>
            <p:nvPr/>
          </p:nvSpPr>
          <p:spPr>
            <a:xfrm flipH="false" flipV="false" rot="0">
              <a:off x="0" y="0"/>
              <a:ext cx="3349344" cy="294993"/>
            </a:xfrm>
            <a:custGeom>
              <a:avLst/>
              <a:gdLst/>
              <a:ahLst/>
              <a:cxnLst/>
              <a:rect r="r" b="b" t="t" l="l"/>
              <a:pathLst>
                <a:path h="294993" w="3349344">
                  <a:moveTo>
                    <a:pt x="35823" y="0"/>
                  </a:moveTo>
                  <a:lnTo>
                    <a:pt x="3313521" y="0"/>
                  </a:lnTo>
                  <a:cubicBezTo>
                    <a:pt x="3323022" y="0"/>
                    <a:pt x="3332134" y="3774"/>
                    <a:pt x="3338852" y="10492"/>
                  </a:cubicBezTo>
                  <a:cubicBezTo>
                    <a:pt x="3345570" y="17210"/>
                    <a:pt x="3349344" y="26322"/>
                    <a:pt x="3349344" y="35823"/>
                  </a:cubicBezTo>
                  <a:lnTo>
                    <a:pt x="3349344" y="259170"/>
                  </a:lnTo>
                  <a:cubicBezTo>
                    <a:pt x="3349344" y="278955"/>
                    <a:pt x="3333306" y="294993"/>
                    <a:pt x="3313521" y="294993"/>
                  </a:cubicBezTo>
                  <a:lnTo>
                    <a:pt x="35823" y="294993"/>
                  </a:lnTo>
                  <a:cubicBezTo>
                    <a:pt x="16038" y="294993"/>
                    <a:pt x="0" y="278955"/>
                    <a:pt x="0" y="259170"/>
                  </a:cubicBezTo>
                  <a:lnTo>
                    <a:pt x="0" y="35823"/>
                  </a:lnTo>
                  <a:cubicBezTo>
                    <a:pt x="0" y="16038"/>
                    <a:pt x="16038" y="0"/>
                    <a:pt x="35823" y="0"/>
                  </a:cubicBezTo>
                  <a:close/>
                </a:path>
              </a:pathLst>
            </a:custGeom>
            <a:ln w="19050" cap="rnd">
              <a:solidFill>
                <a:srgbClr val="00B58F"/>
              </a:solidFill>
              <a:prstDash val="solid"/>
              <a:round/>
            </a:ln>
          </p:spPr>
        </p:sp>
        <p:sp>
          <p:nvSpPr>
            <p:cNvPr name="TextBox 16" id="16"/>
            <p:cNvSpPr txBox="true"/>
            <p:nvPr/>
          </p:nvSpPr>
          <p:spPr>
            <a:xfrm>
              <a:off x="0" y="-38100"/>
              <a:ext cx="3349344"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953562" y="2744416"/>
            <a:ext cx="10540881" cy="6257799"/>
            <a:chOff x="0" y="0"/>
            <a:chExt cx="14054509" cy="8343732"/>
          </a:xfrm>
        </p:grpSpPr>
        <p:grpSp>
          <p:nvGrpSpPr>
            <p:cNvPr name="Group 18" id="18"/>
            <p:cNvGrpSpPr/>
            <p:nvPr/>
          </p:nvGrpSpPr>
          <p:grpSpPr>
            <a:xfrm rot="0">
              <a:off x="0" y="0"/>
              <a:ext cx="14054509" cy="984735"/>
              <a:chOff x="0" y="0"/>
              <a:chExt cx="2722667" cy="190765"/>
            </a:xfrm>
          </p:grpSpPr>
          <p:sp>
            <p:nvSpPr>
              <p:cNvPr name="Freeform 19" id="19"/>
              <p:cNvSpPr/>
              <p:nvPr/>
            </p:nvSpPr>
            <p:spPr>
              <a:xfrm flipH="false" flipV="false" rot="0">
                <a:off x="0" y="0"/>
                <a:ext cx="2722667" cy="190765"/>
              </a:xfrm>
              <a:custGeom>
                <a:avLst/>
                <a:gdLst/>
                <a:ahLst/>
                <a:cxnLst/>
                <a:rect r="r" b="b" t="t" l="l"/>
                <a:pathLst>
                  <a:path h="190765" w="2722667">
                    <a:moveTo>
                      <a:pt x="7345" y="0"/>
                    </a:moveTo>
                    <a:lnTo>
                      <a:pt x="2715322" y="0"/>
                    </a:lnTo>
                    <a:cubicBezTo>
                      <a:pt x="2719378" y="0"/>
                      <a:pt x="2722667" y="3288"/>
                      <a:pt x="2722667" y="7345"/>
                    </a:cubicBezTo>
                    <a:lnTo>
                      <a:pt x="2722667" y="183420"/>
                    </a:lnTo>
                    <a:cubicBezTo>
                      <a:pt x="2722667" y="187477"/>
                      <a:pt x="2719378" y="190765"/>
                      <a:pt x="2715322" y="190765"/>
                    </a:cubicBezTo>
                    <a:lnTo>
                      <a:pt x="7345" y="190765"/>
                    </a:lnTo>
                    <a:cubicBezTo>
                      <a:pt x="3288" y="190765"/>
                      <a:pt x="0" y="187477"/>
                      <a:pt x="0" y="183420"/>
                    </a:cubicBezTo>
                    <a:lnTo>
                      <a:pt x="0" y="7345"/>
                    </a:lnTo>
                    <a:cubicBezTo>
                      <a:pt x="0" y="3288"/>
                      <a:pt x="3288" y="0"/>
                      <a:pt x="7345" y="0"/>
                    </a:cubicBezTo>
                    <a:close/>
                  </a:path>
                </a:pathLst>
              </a:custGeom>
              <a:solidFill>
                <a:srgbClr val="00B58F"/>
              </a:solidFill>
              <a:ln cap="sq">
                <a:noFill/>
                <a:prstDash val="solid"/>
                <a:miter/>
              </a:ln>
            </p:spPr>
          </p:sp>
          <p:sp>
            <p:nvSpPr>
              <p:cNvPr name="TextBox 20" id="20"/>
              <p:cNvSpPr txBox="true"/>
              <p:nvPr/>
            </p:nvSpPr>
            <p:spPr>
              <a:xfrm>
                <a:off x="0" y="-47625"/>
                <a:ext cx="2722667" cy="238390"/>
              </a:xfrm>
              <a:prstGeom prst="rect">
                <a:avLst/>
              </a:prstGeom>
            </p:spPr>
            <p:txBody>
              <a:bodyPr anchor="ctr" rtlCol="false" tIns="50800" lIns="50800" bIns="50800" rIns="50800"/>
              <a:lstStyle/>
              <a:p>
                <a:pPr algn="ctr">
                  <a:lnSpc>
                    <a:spcPts val="3499"/>
                  </a:lnSpc>
                  <a:spcBef>
                    <a:spcPct val="0"/>
                  </a:spcBef>
                </a:pPr>
                <a:r>
                  <a:rPr lang="en-US" b="true" sz="2499">
                    <a:solidFill>
                      <a:srgbClr val="000000"/>
                    </a:solidFill>
                    <a:latin typeface="Bricolage Grotesque Bold"/>
                    <a:ea typeface="Bricolage Grotesque Bold"/>
                    <a:cs typeface="Bricolage Grotesque Bold"/>
                    <a:sym typeface="Bricolage Grotesque Bold"/>
                  </a:rPr>
                  <a:t>1-Is the market share of electric vehicles going up or down?</a:t>
                </a:r>
              </a:p>
            </p:txBody>
          </p:sp>
        </p:grpSp>
        <p:grpSp>
          <p:nvGrpSpPr>
            <p:cNvPr name="Group 21" id="21"/>
            <p:cNvGrpSpPr/>
            <p:nvPr/>
          </p:nvGrpSpPr>
          <p:grpSpPr>
            <a:xfrm rot="0">
              <a:off x="0" y="4366598"/>
              <a:ext cx="14054509" cy="984735"/>
              <a:chOff x="0" y="0"/>
              <a:chExt cx="2722667" cy="190765"/>
            </a:xfrm>
          </p:grpSpPr>
          <p:sp>
            <p:nvSpPr>
              <p:cNvPr name="Freeform 22" id="22"/>
              <p:cNvSpPr/>
              <p:nvPr/>
            </p:nvSpPr>
            <p:spPr>
              <a:xfrm flipH="false" flipV="false" rot="0">
                <a:off x="0" y="0"/>
                <a:ext cx="2722667" cy="190765"/>
              </a:xfrm>
              <a:custGeom>
                <a:avLst/>
                <a:gdLst/>
                <a:ahLst/>
                <a:cxnLst/>
                <a:rect r="r" b="b" t="t" l="l"/>
                <a:pathLst>
                  <a:path h="190765" w="2722667">
                    <a:moveTo>
                      <a:pt x="7345" y="0"/>
                    </a:moveTo>
                    <a:lnTo>
                      <a:pt x="2715322" y="0"/>
                    </a:lnTo>
                    <a:cubicBezTo>
                      <a:pt x="2719378" y="0"/>
                      <a:pt x="2722667" y="3288"/>
                      <a:pt x="2722667" y="7345"/>
                    </a:cubicBezTo>
                    <a:lnTo>
                      <a:pt x="2722667" y="183420"/>
                    </a:lnTo>
                    <a:cubicBezTo>
                      <a:pt x="2722667" y="187477"/>
                      <a:pt x="2719378" y="190765"/>
                      <a:pt x="2715322" y="190765"/>
                    </a:cubicBezTo>
                    <a:lnTo>
                      <a:pt x="7345" y="190765"/>
                    </a:lnTo>
                    <a:cubicBezTo>
                      <a:pt x="3288" y="190765"/>
                      <a:pt x="0" y="187477"/>
                      <a:pt x="0" y="183420"/>
                    </a:cubicBezTo>
                    <a:lnTo>
                      <a:pt x="0" y="7345"/>
                    </a:lnTo>
                    <a:cubicBezTo>
                      <a:pt x="0" y="3288"/>
                      <a:pt x="3288" y="0"/>
                      <a:pt x="7345" y="0"/>
                    </a:cubicBezTo>
                    <a:close/>
                  </a:path>
                </a:pathLst>
              </a:custGeom>
              <a:solidFill>
                <a:srgbClr val="00B58F"/>
              </a:solidFill>
              <a:ln cap="sq">
                <a:noFill/>
                <a:prstDash val="solid"/>
                <a:miter/>
              </a:ln>
            </p:spPr>
          </p:sp>
          <p:sp>
            <p:nvSpPr>
              <p:cNvPr name="TextBox 23" id="23"/>
              <p:cNvSpPr txBox="true"/>
              <p:nvPr/>
            </p:nvSpPr>
            <p:spPr>
              <a:xfrm>
                <a:off x="0" y="-47625"/>
                <a:ext cx="2722667" cy="238390"/>
              </a:xfrm>
              <a:prstGeom prst="rect">
                <a:avLst/>
              </a:prstGeom>
            </p:spPr>
            <p:txBody>
              <a:bodyPr anchor="ctr" rtlCol="false" tIns="50800" lIns="50800" bIns="50800" rIns="50800"/>
              <a:lstStyle/>
              <a:p>
                <a:pPr algn="ctr">
                  <a:lnSpc>
                    <a:spcPts val="3499"/>
                  </a:lnSpc>
                  <a:spcBef>
                    <a:spcPct val="0"/>
                  </a:spcBef>
                </a:pPr>
                <a:r>
                  <a:rPr lang="en-US" b="true" sz="2499">
                    <a:solidFill>
                      <a:srgbClr val="000000"/>
                    </a:solidFill>
                    <a:latin typeface="Bricolage Grotesque Bold"/>
                    <a:ea typeface="Bricolage Grotesque Bold"/>
                    <a:cs typeface="Bricolage Grotesque Bold"/>
                    <a:sym typeface="Bricolage Grotesque Bold"/>
                  </a:rPr>
                  <a:t>4-What drives EV success (infrastructure, pricing, policy)?</a:t>
                </a:r>
              </a:p>
            </p:txBody>
          </p:sp>
        </p:grpSp>
        <p:grpSp>
          <p:nvGrpSpPr>
            <p:cNvPr name="Group 24" id="24"/>
            <p:cNvGrpSpPr/>
            <p:nvPr/>
          </p:nvGrpSpPr>
          <p:grpSpPr>
            <a:xfrm rot="0">
              <a:off x="0" y="2911963"/>
              <a:ext cx="14054509" cy="984735"/>
              <a:chOff x="0" y="0"/>
              <a:chExt cx="2722667" cy="190765"/>
            </a:xfrm>
          </p:grpSpPr>
          <p:sp>
            <p:nvSpPr>
              <p:cNvPr name="Freeform 25" id="25"/>
              <p:cNvSpPr/>
              <p:nvPr/>
            </p:nvSpPr>
            <p:spPr>
              <a:xfrm flipH="false" flipV="false" rot="0">
                <a:off x="0" y="0"/>
                <a:ext cx="2722667" cy="190765"/>
              </a:xfrm>
              <a:custGeom>
                <a:avLst/>
                <a:gdLst/>
                <a:ahLst/>
                <a:cxnLst/>
                <a:rect r="r" b="b" t="t" l="l"/>
                <a:pathLst>
                  <a:path h="190765" w="2722667">
                    <a:moveTo>
                      <a:pt x="7345" y="0"/>
                    </a:moveTo>
                    <a:lnTo>
                      <a:pt x="2715322" y="0"/>
                    </a:lnTo>
                    <a:cubicBezTo>
                      <a:pt x="2719378" y="0"/>
                      <a:pt x="2722667" y="3288"/>
                      <a:pt x="2722667" y="7345"/>
                    </a:cubicBezTo>
                    <a:lnTo>
                      <a:pt x="2722667" y="183420"/>
                    </a:lnTo>
                    <a:cubicBezTo>
                      <a:pt x="2722667" y="187477"/>
                      <a:pt x="2719378" y="190765"/>
                      <a:pt x="2715322" y="190765"/>
                    </a:cubicBezTo>
                    <a:lnTo>
                      <a:pt x="7345" y="190765"/>
                    </a:lnTo>
                    <a:cubicBezTo>
                      <a:pt x="3288" y="190765"/>
                      <a:pt x="0" y="187477"/>
                      <a:pt x="0" y="183420"/>
                    </a:cubicBezTo>
                    <a:lnTo>
                      <a:pt x="0" y="7345"/>
                    </a:lnTo>
                    <a:cubicBezTo>
                      <a:pt x="0" y="3288"/>
                      <a:pt x="3288" y="0"/>
                      <a:pt x="7345" y="0"/>
                    </a:cubicBezTo>
                    <a:close/>
                  </a:path>
                </a:pathLst>
              </a:custGeom>
              <a:solidFill>
                <a:srgbClr val="00B58F"/>
              </a:solidFill>
              <a:ln cap="sq">
                <a:noFill/>
                <a:prstDash val="solid"/>
                <a:miter/>
              </a:ln>
            </p:spPr>
          </p:sp>
          <p:sp>
            <p:nvSpPr>
              <p:cNvPr name="TextBox 26" id="26"/>
              <p:cNvSpPr txBox="true"/>
              <p:nvPr/>
            </p:nvSpPr>
            <p:spPr>
              <a:xfrm>
                <a:off x="0" y="-47625"/>
                <a:ext cx="2722667" cy="238390"/>
              </a:xfrm>
              <a:prstGeom prst="rect">
                <a:avLst/>
              </a:prstGeom>
            </p:spPr>
            <p:txBody>
              <a:bodyPr anchor="ctr" rtlCol="false" tIns="50800" lIns="50800" bIns="50800" rIns="50800"/>
              <a:lstStyle/>
              <a:p>
                <a:pPr algn="ctr">
                  <a:lnSpc>
                    <a:spcPts val="3499"/>
                  </a:lnSpc>
                  <a:spcBef>
                    <a:spcPct val="0"/>
                  </a:spcBef>
                </a:pPr>
                <a:r>
                  <a:rPr lang="en-US" b="true" sz="2499">
                    <a:solidFill>
                      <a:srgbClr val="000000"/>
                    </a:solidFill>
                    <a:latin typeface="Bricolage Grotesque Bold"/>
                    <a:ea typeface="Bricolage Grotesque Bold"/>
                    <a:cs typeface="Bricolage Grotesque Bold"/>
                    <a:sym typeface="Bricolage Grotesque Bold"/>
                  </a:rPr>
                  <a:t>3- Which Vehicle segment has more electric Vehicles?</a:t>
                </a:r>
              </a:p>
            </p:txBody>
          </p:sp>
        </p:grpSp>
        <p:grpSp>
          <p:nvGrpSpPr>
            <p:cNvPr name="Group 27" id="27"/>
            <p:cNvGrpSpPr/>
            <p:nvPr/>
          </p:nvGrpSpPr>
          <p:grpSpPr>
            <a:xfrm rot="0">
              <a:off x="0" y="1457328"/>
              <a:ext cx="14054509" cy="984735"/>
              <a:chOff x="0" y="0"/>
              <a:chExt cx="2722667" cy="190765"/>
            </a:xfrm>
          </p:grpSpPr>
          <p:sp>
            <p:nvSpPr>
              <p:cNvPr name="Freeform 28" id="28"/>
              <p:cNvSpPr/>
              <p:nvPr/>
            </p:nvSpPr>
            <p:spPr>
              <a:xfrm flipH="false" flipV="false" rot="0">
                <a:off x="0" y="0"/>
                <a:ext cx="2722667" cy="190765"/>
              </a:xfrm>
              <a:custGeom>
                <a:avLst/>
                <a:gdLst/>
                <a:ahLst/>
                <a:cxnLst/>
                <a:rect r="r" b="b" t="t" l="l"/>
                <a:pathLst>
                  <a:path h="190765" w="2722667">
                    <a:moveTo>
                      <a:pt x="7345" y="0"/>
                    </a:moveTo>
                    <a:lnTo>
                      <a:pt x="2715322" y="0"/>
                    </a:lnTo>
                    <a:cubicBezTo>
                      <a:pt x="2719378" y="0"/>
                      <a:pt x="2722667" y="3288"/>
                      <a:pt x="2722667" y="7345"/>
                    </a:cubicBezTo>
                    <a:lnTo>
                      <a:pt x="2722667" y="183420"/>
                    </a:lnTo>
                    <a:cubicBezTo>
                      <a:pt x="2722667" y="187477"/>
                      <a:pt x="2719378" y="190765"/>
                      <a:pt x="2715322" y="190765"/>
                    </a:cubicBezTo>
                    <a:lnTo>
                      <a:pt x="7345" y="190765"/>
                    </a:lnTo>
                    <a:cubicBezTo>
                      <a:pt x="3288" y="190765"/>
                      <a:pt x="0" y="187477"/>
                      <a:pt x="0" y="183420"/>
                    </a:cubicBezTo>
                    <a:lnTo>
                      <a:pt x="0" y="7345"/>
                    </a:lnTo>
                    <a:cubicBezTo>
                      <a:pt x="0" y="3288"/>
                      <a:pt x="3288" y="0"/>
                      <a:pt x="7345" y="0"/>
                    </a:cubicBezTo>
                    <a:close/>
                  </a:path>
                </a:pathLst>
              </a:custGeom>
              <a:solidFill>
                <a:srgbClr val="00B58F"/>
              </a:solidFill>
              <a:ln cap="sq">
                <a:noFill/>
                <a:prstDash val="solid"/>
                <a:miter/>
              </a:ln>
            </p:spPr>
          </p:sp>
          <p:sp>
            <p:nvSpPr>
              <p:cNvPr name="TextBox 29" id="29"/>
              <p:cNvSpPr txBox="true"/>
              <p:nvPr/>
            </p:nvSpPr>
            <p:spPr>
              <a:xfrm>
                <a:off x="0" y="-47625"/>
                <a:ext cx="2722667" cy="238390"/>
              </a:xfrm>
              <a:prstGeom prst="rect">
                <a:avLst/>
              </a:prstGeom>
            </p:spPr>
            <p:txBody>
              <a:bodyPr anchor="ctr" rtlCol="false" tIns="50800" lIns="50800" bIns="50800" rIns="50800"/>
              <a:lstStyle/>
              <a:p>
                <a:pPr algn="ctr">
                  <a:lnSpc>
                    <a:spcPts val="3499"/>
                  </a:lnSpc>
                  <a:spcBef>
                    <a:spcPct val="0"/>
                  </a:spcBef>
                </a:pPr>
                <a:r>
                  <a:rPr lang="en-US" b="true" sz="2499">
                    <a:solidFill>
                      <a:srgbClr val="000000"/>
                    </a:solidFill>
                    <a:latin typeface="Bricolage Grotesque Bold"/>
                    <a:ea typeface="Bricolage Grotesque Bold"/>
                    <a:cs typeface="Bricolage Grotesque Bold"/>
                    <a:sym typeface="Bricolage Grotesque Bold"/>
                  </a:rPr>
                  <a:t>2-What are the top 10 countries in EV market share?</a:t>
                </a:r>
              </a:p>
            </p:txBody>
          </p:sp>
        </p:grpSp>
        <p:grpSp>
          <p:nvGrpSpPr>
            <p:cNvPr name="Group 30" id="30"/>
            <p:cNvGrpSpPr/>
            <p:nvPr/>
          </p:nvGrpSpPr>
          <p:grpSpPr>
            <a:xfrm rot="0">
              <a:off x="0" y="7358996"/>
              <a:ext cx="14054509" cy="984735"/>
              <a:chOff x="0" y="0"/>
              <a:chExt cx="2722667" cy="190765"/>
            </a:xfrm>
          </p:grpSpPr>
          <p:sp>
            <p:nvSpPr>
              <p:cNvPr name="Freeform 31" id="31"/>
              <p:cNvSpPr/>
              <p:nvPr/>
            </p:nvSpPr>
            <p:spPr>
              <a:xfrm flipH="false" flipV="false" rot="0">
                <a:off x="0" y="0"/>
                <a:ext cx="2722667" cy="190765"/>
              </a:xfrm>
              <a:custGeom>
                <a:avLst/>
                <a:gdLst/>
                <a:ahLst/>
                <a:cxnLst/>
                <a:rect r="r" b="b" t="t" l="l"/>
                <a:pathLst>
                  <a:path h="190765" w="2722667">
                    <a:moveTo>
                      <a:pt x="7345" y="0"/>
                    </a:moveTo>
                    <a:lnTo>
                      <a:pt x="2715322" y="0"/>
                    </a:lnTo>
                    <a:cubicBezTo>
                      <a:pt x="2719378" y="0"/>
                      <a:pt x="2722667" y="3288"/>
                      <a:pt x="2722667" y="7345"/>
                    </a:cubicBezTo>
                    <a:lnTo>
                      <a:pt x="2722667" y="183420"/>
                    </a:lnTo>
                    <a:cubicBezTo>
                      <a:pt x="2722667" y="187477"/>
                      <a:pt x="2719378" y="190765"/>
                      <a:pt x="2715322" y="190765"/>
                    </a:cubicBezTo>
                    <a:lnTo>
                      <a:pt x="7345" y="190765"/>
                    </a:lnTo>
                    <a:cubicBezTo>
                      <a:pt x="3288" y="190765"/>
                      <a:pt x="0" y="187477"/>
                      <a:pt x="0" y="183420"/>
                    </a:cubicBezTo>
                    <a:lnTo>
                      <a:pt x="0" y="7345"/>
                    </a:lnTo>
                    <a:cubicBezTo>
                      <a:pt x="0" y="3288"/>
                      <a:pt x="3288" y="0"/>
                      <a:pt x="7345" y="0"/>
                    </a:cubicBezTo>
                    <a:close/>
                  </a:path>
                </a:pathLst>
              </a:custGeom>
              <a:solidFill>
                <a:srgbClr val="00B58F"/>
              </a:solidFill>
              <a:ln cap="sq">
                <a:noFill/>
                <a:prstDash val="solid"/>
                <a:miter/>
              </a:ln>
            </p:spPr>
          </p:sp>
          <p:sp>
            <p:nvSpPr>
              <p:cNvPr name="TextBox 32" id="32"/>
              <p:cNvSpPr txBox="true"/>
              <p:nvPr/>
            </p:nvSpPr>
            <p:spPr>
              <a:xfrm>
                <a:off x="0" y="-47625"/>
                <a:ext cx="2722667" cy="238390"/>
              </a:xfrm>
              <a:prstGeom prst="rect">
                <a:avLst/>
              </a:prstGeom>
            </p:spPr>
            <p:txBody>
              <a:bodyPr anchor="ctr" rtlCol="false" tIns="50800" lIns="50800" bIns="50800" rIns="50800"/>
              <a:lstStyle/>
              <a:p>
                <a:pPr algn="ctr">
                  <a:lnSpc>
                    <a:spcPts val="3499"/>
                  </a:lnSpc>
                  <a:spcBef>
                    <a:spcPct val="0"/>
                  </a:spcBef>
                </a:pPr>
                <a:r>
                  <a:rPr lang="en-US" b="true" sz="2499">
                    <a:solidFill>
                      <a:srgbClr val="000000"/>
                    </a:solidFill>
                    <a:latin typeface="Bricolage Grotesque Bold"/>
                    <a:ea typeface="Bricolage Grotesque Bold"/>
                    <a:cs typeface="Bricolage Grotesque Bold"/>
                    <a:sym typeface="Bricolage Grotesque Bold"/>
                  </a:rPr>
                  <a:t>6-What future investments are required (charging, subsidies)?</a:t>
                </a:r>
              </a:p>
            </p:txBody>
          </p:sp>
        </p:grpSp>
        <p:grpSp>
          <p:nvGrpSpPr>
            <p:cNvPr name="Group 33" id="33"/>
            <p:cNvGrpSpPr/>
            <p:nvPr/>
          </p:nvGrpSpPr>
          <p:grpSpPr>
            <a:xfrm rot="0">
              <a:off x="0" y="5731336"/>
              <a:ext cx="14054509" cy="1096041"/>
              <a:chOff x="0" y="0"/>
              <a:chExt cx="2722667" cy="212327"/>
            </a:xfrm>
          </p:grpSpPr>
          <p:sp>
            <p:nvSpPr>
              <p:cNvPr name="Freeform 34" id="34"/>
              <p:cNvSpPr/>
              <p:nvPr/>
            </p:nvSpPr>
            <p:spPr>
              <a:xfrm flipH="false" flipV="false" rot="0">
                <a:off x="0" y="0"/>
                <a:ext cx="2722667" cy="212327"/>
              </a:xfrm>
              <a:custGeom>
                <a:avLst/>
                <a:gdLst/>
                <a:ahLst/>
                <a:cxnLst/>
                <a:rect r="r" b="b" t="t" l="l"/>
                <a:pathLst>
                  <a:path h="212327" w="2722667">
                    <a:moveTo>
                      <a:pt x="7345" y="0"/>
                    </a:moveTo>
                    <a:lnTo>
                      <a:pt x="2715322" y="0"/>
                    </a:lnTo>
                    <a:cubicBezTo>
                      <a:pt x="2719378" y="0"/>
                      <a:pt x="2722667" y="3288"/>
                      <a:pt x="2722667" y="7345"/>
                    </a:cubicBezTo>
                    <a:lnTo>
                      <a:pt x="2722667" y="204982"/>
                    </a:lnTo>
                    <a:cubicBezTo>
                      <a:pt x="2722667" y="209039"/>
                      <a:pt x="2719378" y="212327"/>
                      <a:pt x="2715322" y="212327"/>
                    </a:cubicBezTo>
                    <a:lnTo>
                      <a:pt x="7345" y="212327"/>
                    </a:lnTo>
                    <a:cubicBezTo>
                      <a:pt x="3288" y="212327"/>
                      <a:pt x="0" y="209039"/>
                      <a:pt x="0" y="204982"/>
                    </a:cubicBezTo>
                    <a:lnTo>
                      <a:pt x="0" y="7345"/>
                    </a:lnTo>
                    <a:cubicBezTo>
                      <a:pt x="0" y="3288"/>
                      <a:pt x="3288" y="0"/>
                      <a:pt x="7345" y="0"/>
                    </a:cubicBezTo>
                    <a:close/>
                  </a:path>
                </a:pathLst>
              </a:custGeom>
              <a:solidFill>
                <a:srgbClr val="00B58F"/>
              </a:solidFill>
              <a:ln cap="sq">
                <a:noFill/>
                <a:prstDash val="solid"/>
                <a:miter/>
              </a:ln>
            </p:spPr>
          </p:sp>
          <p:sp>
            <p:nvSpPr>
              <p:cNvPr name="TextBox 35" id="35"/>
              <p:cNvSpPr txBox="true"/>
              <p:nvPr/>
            </p:nvSpPr>
            <p:spPr>
              <a:xfrm>
                <a:off x="0" y="-47625"/>
                <a:ext cx="2722667" cy="259952"/>
              </a:xfrm>
              <a:prstGeom prst="rect">
                <a:avLst/>
              </a:prstGeom>
            </p:spPr>
            <p:txBody>
              <a:bodyPr anchor="ctr" rtlCol="false" tIns="50800" lIns="50800" bIns="50800" rIns="50800"/>
              <a:lstStyle/>
              <a:p>
                <a:pPr algn="ctr">
                  <a:lnSpc>
                    <a:spcPts val="3499"/>
                  </a:lnSpc>
                  <a:spcBef>
                    <a:spcPct val="0"/>
                  </a:spcBef>
                </a:pPr>
                <a:r>
                  <a:rPr lang="en-US" b="true" sz="2499">
                    <a:solidFill>
                      <a:srgbClr val="000000"/>
                    </a:solidFill>
                    <a:latin typeface="Bricolage Grotesque Bold"/>
                    <a:ea typeface="Bricolage Grotesque Bold"/>
                    <a:cs typeface="Bricolage Grotesque Bold"/>
                    <a:sym typeface="Bricolage Grotesque Bold"/>
                  </a:rPr>
                  <a:t>5-what is the enviromental impact of ev up market?</a:t>
                </a:r>
              </a:p>
            </p:txBody>
          </p:sp>
        </p:grpSp>
      </p:grpSp>
      <p:sp>
        <p:nvSpPr>
          <p:cNvPr name="TextBox 36" id="36"/>
          <p:cNvSpPr txBox="true"/>
          <p:nvPr/>
        </p:nvSpPr>
        <p:spPr>
          <a:xfrm rot="0">
            <a:off x="1353022" y="754961"/>
            <a:ext cx="2381625" cy="1102360"/>
          </a:xfrm>
          <a:prstGeom prst="rect">
            <a:avLst/>
          </a:prstGeom>
        </p:spPr>
        <p:txBody>
          <a:bodyPr anchor="t" rtlCol="false" tIns="0" lIns="0" bIns="0" rIns="0">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Group-1</a:t>
            </a:r>
          </a:p>
          <a:p>
            <a:pPr algn="l">
              <a:lnSpc>
                <a:spcPts val="2239"/>
              </a:lnSpc>
            </a:pPr>
            <a:r>
              <a:rPr lang="en-US" sz="1599" spc="39">
                <a:solidFill>
                  <a:srgbClr val="0B132B"/>
                </a:solidFill>
                <a:latin typeface="Bricolage Grotesque"/>
                <a:ea typeface="Bricolage Grotesque"/>
                <a:cs typeface="Bricolage Grotesque"/>
                <a:sym typeface="Bricolage Grotesque"/>
              </a:rPr>
              <a:t> Data Analysis</a:t>
            </a:r>
          </a:p>
          <a:p>
            <a:pPr algn="l">
              <a:lnSpc>
                <a:spcPts val="2239"/>
              </a:lnSpc>
            </a:pPr>
          </a:p>
          <a:p>
            <a:pPr algn="l">
              <a:lnSpc>
                <a:spcPts val="2239"/>
              </a:lnSpc>
            </a:pPr>
          </a:p>
        </p:txBody>
      </p:sp>
      <p:sp>
        <p:nvSpPr>
          <p:cNvPr name="TextBox 37" id="37"/>
          <p:cNvSpPr txBox="true"/>
          <p:nvPr/>
        </p:nvSpPr>
        <p:spPr>
          <a:xfrm rot="0">
            <a:off x="953562" y="1459214"/>
            <a:ext cx="4816454" cy="848360"/>
          </a:xfrm>
          <a:prstGeom prst="rect">
            <a:avLst/>
          </a:prstGeom>
        </p:spPr>
        <p:txBody>
          <a:bodyPr anchor="t" rtlCol="false" tIns="0" lIns="0" bIns="0" rIns="0">
            <a:spAutoFit/>
          </a:bodyPr>
          <a:lstStyle/>
          <a:p>
            <a:pPr algn="l">
              <a:lnSpc>
                <a:spcPts val="6399"/>
              </a:lnSpc>
            </a:pPr>
            <a:r>
              <a:rPr lang="en-US" sz="6399">
                <a:solidFill>
                  <a:srgbClr val="0B132B"/>
                </a:solidFill>
                <a:latin typeface="Rubik One"/>
                <a:ea typeface="Rubik One"/>
                <a:cs typeface="Rubik One"/>
                <a:sym typeface="Rubik One"/>
              </a:rPr>
              <a:t>INSIGHTS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808637"/>
            <a:ext cx="229386" cy="182674"/>
          </a:xfrm>
          <a:custGeom>
            <a:avLst/>
            <a:gdLst/>
            <a:ahLst/>
            <a:cxnLst/>
            <a:rect r="r" b="b" t="t" l="l"/>
            <a:pathLst>
              <a:path h="182674" w="229386">
                <a:moveTo>
                  <a:pt x="0" y="0"/>
                </a:moveTo>
                <a:lnTo>
                  <a:pt x="229386" y="0"/>
                </a:lnTo>
                <a:lnTo>
                  <a:pt x="229386" y="182675"/>
                </a:lnTo>
                <a:lnTo>
                  <a:pt x="0" y="1826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953562" y="1442053"/>
            <a:ext cx="9341671" cy="2467610"/>
          </a:xfrm>
          <a:prstGeom prst="rect">
            <a:avLst/>
          </a:prstGeom>
        </p:spPr>
        <p:txBody>
          <a:bodyPr anchor="t" rtlCol="false" tIns="0" lIns="0" bIns="0" rIns="0">
            <a:spAutoFit/>
          </a:bodyPr>
          <a:lstStyle/>
          <a:p>
            <a:pPr algn="l">
              <a:lnSpc>
                <a:spcPts val="6399"/>
              </a:lnSpc>
            </a:pPr>
            <a:r>
              <a:rPr lang="en-US" sz="6399">
                <a:solidFill>
                  <a:srgbClr val="0B132B"/>
                </a:solidFill>
                <a:latin typeface="Rubik One"/>
                <a:ea typeface="Rubik One"/>
                <a:cs typeface="Rubik One"/>
                <a:sym typeface="Rubik One"/>
              </a:rPr>
              <a:t>MARKET SHARE </a:t>
            </a:r>
          </a:p>
          <a:p>
            <a:pPr algn="l">
              <a:lnSpc>
                <a:spcPts val="6399"/>
              </a:lnSpc>
            </a:pPr>
            <a:r>
              <a:rPr lang="en-US" sz="6399">
                <a:solidFill>
                  <a:srgbClr val="0B132B"/>
                </a:solidFill>
                <a:latin typeface="Rubik One"/>
                <a:ea typeface="Rubik One"/>
                <a:cs typeface="Rubik One"/>
                <a:sym typeface="Rubik One"/>
              </a:rPr>
              <a:t>&amp; GROWTH</a:t>
            </a:r>
          </a:p>
          <a:p>
            <a:pPr algn="l">
              <a:lnSpc>
                <a:spcPts val="6399"/>
              </a:lnSpc>
            </a:pPr>
          </a:p>
        </p:txBody>
      </p:sp>
      <p:grpSp>
        <p:nvGrpSpPr>
          <p:cNvPr name="Group 4" id="4"/>
          <p:cNvGrpSpPr/>
          <p:nvPr/>
        </p:nvGrpSpPr>
        <p:grpSpPr>
          <a:xfrm rot="0">
            <a:off x="1445258" y="7373581"/>
            <a:ext cx="1560815" cy="1369315"/>
            <a:chOff x="0" y="0"/>
            <a:chExt cx="528322" cy="463501"/>
          </a:xfrm>
        </p:grpSpPr>
        <p:sp>
          <p:nvSpPr>
            <p:cNvPr name="Freeform 5" id="5"/>
            <p:cNvSpPr/>
            <p:nvPr/>
          </p:nvSpPr>
          <p:spPr>
            <a:xfrm flipH="false" flipV="false" rot="0">
              <a:off x="25782" y="0"/>
              <a:ext cx="476758" cy="463501"/>
            </a:xfrm>
            <a:custGeom>
              <a:avLst/>
              <a:gdLst/>
              <a:ahLst/>
              <a:cxnLst/>
              <a:rect r="r" b="b" t="t" l="l"/>
              <a:pathLst>
                <a:path h="463501" w="476758">
                  <a:moveTo>
                    <a:pt x="251821" y="0"/>
                  </a:moveTo>
                  <a:lnTo>
                    <a:pt x="428137" y="0"/>
                  </a:lnTo>
                  <a:cubicBezTo>
                    <a:pt x="444552" y="0"/>
                    <a:pt x="459859" y="8282"/>
                    <a:pt x="468838" y="22023"/>
                  </a:cubicBezTo>
                  <a:cubicBezTo>
                    <a:pt x="477817" y="35764"/>
                    <a:pt x="479257" y="53108"/>
                    <a:pt x="472666" y="68142"/>
                  </a:cubicBezTo>
                  <a:lnTo>
                    <a:pt x="329214" y="395359"/>
                  </a:lnTo>
                  <a:cubicBezTo>
                    <a:pt x="311064" y="436759"/>
                    <a:pt x="270141" y="463501"/>
                    <a:pt x="224937" y="463501"/>
                  </a:cubicBezTo>
                  <a:lnTo>
                    <a:pt x="48621" y="463501"/>
                  </a:lnTo>
                  <a:cubicBezTo>
                    <a:pt x="32206" y="463501"/>
                    <a:pt x="16899" y="455218"/>
                    <a:pt x="7920" y="441477"/>
                  </a:cubicBezTo>
                  <a:cubicBezTo>
                    <a:pt x="-1059" y="427736"/>
                    <a:pt x="-2499" y="410392"/>
                    <a:pt x="4092" y="395359"/>
                  </a:cubicBezTo>
                  <a:lnTo>
                    <a:pt x="147544" y="68142"/>
                  </a:lnTo>
                  <a:cubicBezTo>
                    <a:pt x="165694" y="26742"/>
                    <a:pt x="206617" y="0"/>
                    <a:pt x="251821" y="0"/>
                  </a:cubicBezTo>
                  <a:close/>
                </a:path>
              </a:pathLst>
            </a:custGeom>
            <a:solidFill>
              <a:srgbClr val="00B58F"/>
            </a:solidFill>
          </p:spPr>
        </p:sp>
        <p:sp>
          <p:nvSpPr>
            <p:cNvPr name="TextBox 6" id="6"/>
            <p:cNvSpPr txBox="true"/>
            <p:nvPr/>
          </p:nvSpPr>
          <p:spPr>
            <a:xfrm>
              <a:off x="101600" y="-38100"/>
              <a:ext cx="325122" cy="501601"/>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190353" y="3491369"/>
            <a:ext cx="1815721" cy="1369315"/>
            <a:chOff x="0" y="0"/>
            <a:chExt cx="528322" cy="398431"/>
          </a:xfrm>
        </p:grpSpPr>
        <p:sp>
          <p:nvSpPr>
            <p:cNvPr name="Freeform 8" id="8"/>
            <p:cNvSpPr/>
            <p:nvPr/>
          </p:nvSpPr>
          <p:spPr>
            <a:xfrm flipH="false" flipV="false" rot="0">
              <a:off x="24781" y="0"/>
              <a:ext cx="478760" cy="398431"/>
            </a:xfrm>
            <a:custGeom>
              <a:avLst/>
              <a:gdLst/>
              <a:ahLst/>
              <a:cxnLst/>
              <a:rect r="r" b="b" t="t" l="l"/>
              <a:pathLst>
                <a:path h="398431" w="478760">
                  <a:moveTo>
                    <a:pt x="242376" y="0"/>
                  </a:moveTo>
                  <a:lnTo>
                    <a:pt x="439584" y="0"/>
                  </a:lnTo>
                  <a:cubicBezTo>
                    <a:pt x="453217" y="0"/>
                    <a:pt x="465870" y="7088"/>
                    <a:pt x="472991" y="18713"/>
                  </a:cubicBezTo>
                  <a:cubicBezTo>
                    <a:pt x="480112" y="30339"/>
                    <a:pt x="480677" y="44831"/>
                    <a:pt x="474483" y="56976"/>
                  </a:cubicBezTo>
                  <a:lnTo>
                    <a:pt x="329399" y="341455"/>
                  </a:lnTo>
                  <a:cubicBezTo>
                    <a:pt x="311567" y="376420"/>
                    <a:pt x="275633" y="398431"/>
                    <a:pt x="236384" y="398431"/>
                  </a:cubicBezTo>
                  <a:lnTo>
                    <a:pt x="39176" y="398431"/>
                  </a:lnTo>
                  <a:cubicBezTo>
                    <a:pt x="25543" y="398431"/>
                    <a:pt x="12890" y="391343"/>
                    <a:pt x="5769" y="379718"/>
                  </a:cubicBezTo>
                  <a:cubicBezTo>
                    <a:pt x="-1352" y="368092"/>
                    <a:pt x="-1917" y="353600"/>
                    <a:pt x="4277" y="341455"/>
                  </a:cubicBezTo>
                  <a:lnTo>
                    <a:pt x="149361" y="56976"/>
                  </a:lnTo>
                  <a:cubicBezTo>
                    <a:pt x="167193" y="22011"/>
                    <a:pt x="203127" y="0"/>
                    <a:pt x="242376" y="0"/>
                  </a:cubicBezTo>
                  <a:close/>
                </a:path>
              </a:pathLst>
            </a:custGeom>
            <a:solidFill>
              <a:srgbClr val="2D8BBA"/>
            </a:solidFill>
          </p:spPr>
        </p:sp>
        <p:sp>
          <p:nvSpPr>
            <p:cNvPr name="TextBox 9" id="9"/>
            <p:cNvSpPr txBox="true"/>
            <p:nvPr/>
          </p:nvSpPr>
          <p:spPr>
            <a:xfrm>
              <a:off x="101600" y="-38100"/>
              <a:ext cx="325122" cy="436531"/>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1190353" y="3818201"/>
            <a:ext cx="1092008" cy="869635"/>
          </a:xfrm>
          <a:custGeom>
            <a:avLst/>
            <a:gdLst/>
            <a:ahLst/>
            <a:cxnLst/>
            <a:rect r="r" b="b" t="t" l="l"/>
            <a:pathLst>
              <a:path h="869635" w="1092008">
                <a:moveTo>
                  <a:pt x="0" y="0"/>
                </a:moveTo>
                <a:lnTo>
                  <a:pt x="1092008" y="0"/>
                </a:lnTo>
                <a:lnTo>
                  <a:pt x="1092008" y="869635"/>
                </a:lnTo>
                <a:lnTo>
                  <a:pt x="0" y="8696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1301145" y="5432766"/>
            <a:ext cx="1815721" cy="1369315"/>
            <a:chOff x="0" y="0"/>
            <a:chExt cx="528322" cy="398431"/>
          </a:xfrm>
        </p:grpSpPr>
        <p:sp>
          <p:nvSpPr>
            <p:cNvPr name="Freeform 12" id="12"/>
            <p:cNvSpPr/>
            <p:nvPr/>
          </p:nvSpPr>
          <p:spPr>
            <a:xfrm flipH="false" flipV="false" rot="0">
              <a:off x="24781" y="0"/>
              <a:ext cx="478760" cy="398431"/>
            </a:xfrm>
            <a:custGeom>
              <a:avLst/>
              <a:gdLst/>
              <a:ahLst/>
              <a:cxnLst/>
              <a:rect r="r" b="b" t="t" l="l"/>
              <a:pathLst>
                <a:path h="398431" w="478760">
                  <a:moveTo>
                    <a:pt x="242376" y="0"/>
                  </a:moveTo>
                  <a:lnTo>
                    <a:pt x="439584" y="0"/>
                  </a:lnTo>
                  <a:cubicBezTo>
                    <a:pt x="453217" y="0"/>
                    <a:pt x="465870" y="7088"/>
                    <a:pt x="472991" y="18713"/>
                  </a:cubicBezTo>
                  <a:cubicBezTo>
                    <a:pt x="480112" y="30339"/>
                    <a:pt x="480677" y="44831"/>
                    <a:pt x="474483" y="56976"/>
                  </a:cubicBezTo>
                  <a:lnTo>
                    <a:pt x="329399" y="341455"/>
                  </a:lnTo>
                  <a:cubicBezTo>
                    <a:pt x="311567" y="376420"/>
                    <a:pt x="275633" y="398431"/>
                    <a:pt x="236384" y="398431"/>
                  </a:cubicBezTo>
                  <a:lnTo>
                    <a:pt x="39176" y="398431"/>
                  </a:lnTo>
                  <a:cubicBezTo>
                    <a:pt x="25543" y="398431"/>
                    <a:pt x="12890" y="391343"/>
                    <a:pt x="5769" y="379718"/>
                  </a:cubicBezTo>
                  <a:cubicBezTo>
                    <a:pt x="-1352" y="368092"/>
                    <a:pt x="-1917" y="353600"/>
                    <a:pt x="4277" y="341455"/>
                  </a:cubicBezTo>
                  <a:lnTo>
                    <a:pt x="149361" y="56976"/>
                  </a:lnTo>
                  <a:cubicBezTo>
                    <a:pt x="167193" y="22011"/>
                    <a:pt x="203127" y="0"/>
                    <a:pt x="242376" y="0"/>
                  </a:cubicBezTo>
                  <a:close/>
                </a:path>
              </a:pathLst>
            </a:custGeom>
            <a:solidFill>
              <a:srgbClr val="FF914D"/>
            </a:solidFill>
          </p:spPr>
        </p:sp>
        <p:sp>
          <p:nvSpPr>
            <p:cNvPr name="TextBox 13" id="13"/>
            <p:cNvSpPr txBox="true"/>
            <p:nvPr/>
          </p:nvSpPr>
          <p:spPr>
            <a:xfrm>
              <a:off x="101600" y="-38100"/>
              <a:ext cx="325122" cy="436531"/>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1325819" y="5488751"/>
            <a:ext cx="956542" cy="1313330"/>
          </a:xfrm>
          <a:custGeom>
            <a:avLst/>
            <a:gdLst/>
            <a:ahLst/>
            <a:cxnLst/>
            <a:rect r="r" b="b" t="t" l="l"/>
            <a:pathLst>
              <a:path h="1313330" w="956542">
                <a:moveTo>
                  <a:pt x="0" y="0"/>
                </a:moveTo>
                <a:lnTo>
                  <a:pt x="956542" y="0"/>
                </a:lnTo>
                <a:lnTo>
                  <a:pt x="956542" y="1313330"/>
                </a:lnTo>
                <a:lnTo>
                  <a:pt x="0" y="13133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1267611" y="7423076"/>
            <a:ext cx="941394" cy="1251442"/>
          </a:xfrm>
          <a:custGeom>
            <a:avLst/>
            <a:gdLst/>
            <a:ahLst/>
            <a:cxnLst/>
            <a:rect r="r" b="b" t="t" l="l"/>
            <a:pathLst>
              <a:path h="1251442" w="941394">
                <a:moveTo>
                  <a:pt x="0" y="0"/>
                </a:moveTo>
                <a:lnTo>
                  <a:pt x="941394" y="0"/>
                </a:lnTo>
                <a:lnTo>
                  <a:pt x="941394" y="1251442"/>
                </a:lnTo>
                <a:lnTo>
                  <a:pt x="0" y="12514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6" id="16"/>
          <p:cNvGrpSpPr/>
          <p:nvPr/>
        </p:nvGrpSpPr>
        <p:grpSpPr>
          <a:xfrm rot="0">
            <a:off x="11502671" y="9960324"/>
            <a:ext cx="9960587" cy="1142074"/>
            <a:chOff x="0" y="0"/>
            <a:chExt cx="2572779" cy="294993"/>
          </a:xfrm>
        </p:grpSpPr>
        <p:sp>
          <p:nvSpPr>
            <p:cNvPr name="Freeform 17" id="17"/>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18" id="18"/>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0">
            <a:off x="-5959063" y="-784283"/>
            <a:ext cx="8918177" cy="1142074"/>
            <a:chOff x="0" y="0"/>
            <a:chExt cx="2303529" cy="294993"/>
          </a:xfrm>
        </p:grpSpPr>
        <p:sp>
          <p:nvSpPr>
            <p:cNvPr name="Freeform 20" id="20"/>
            <p:cNvSpPr/>
            <p:nvPr/>
          </p:nvSpPr>
          <p:spPr>
            <a:xfrm flipH="false" flipV="false" rot="0">
              <a:off x="0" y="0"/>
              <a:ext cx="2303529" cy="294993"/>
            </a:xfrm>
            <a:custGeom>
              <a:avLst/>
              <a:gdLst/>
              <a:ahLst/>
              <a:cxnLst/>
              <a:rect r="r" b="b" t="t" l="l"/>
              <a:pathLst>
                <a:path h="294993" w="2303529">
                  <a:moveTo>
                    <a:pt x="52086" y="0"/>
                  </a:moveTo>
                  <a:lnTo>
                    <a:pt x="2251442" y="0"/>
                  </a:lnTo>
                  <a:cubicBezTo>
                    <a:pt x="2265256" y="0"/>
                    <a:pt x="2278505" y="5488"/>
                    <a:pt x="2288273" y="15256"/>
                  </a:cubicBezTo>
                  <a:cubicBezTo>
                    <a:pt x="2298041" y="25024"/>
                    <a:pt x="2303529" y="38272"/>
                    <a:pt x="2303529" y="52086"/>
                  </a:cubicBezTo>
                  <a:lnTo>
                    <a:pt x="2303529" y="242907"/>
                  </a:lnTo>
                  <a:cubicBezTo>
                    <a:pt x="2303529" y="271673"/>
                    <a:pt x="2280209" y="294993"/>
                    <a:pt x="2251442" y="294993"/>
                  </a:cubicBezTo>
                  <a:lnTo>
                    <a:pt x="52086" y="294993"/>
                  </a:lnTo>
                  <a:cubicBezTo>
                    <a:pt x="23320" y="294993"/>
                    <a:pt x="0" y="271673"/>
                    <a:pt x="0" y="242907"/>
                  </a:cubicBezTo>
                  <a:lnTo>
                    <a:pt x="0" y="52086"/>
                  </a:lnTo>
                  <a:cubicBezTo>
                    <a:pt x="0" y="23320"/>
                    <a:pt x="23320" y="0"/>
                    <a:pt x="52086" y="0"/>
                  </a:cubicBezTo>
                  <a:close/>
                </a:path>
              </a:pathLst>
            </a:custGeom>
            <a:ln w="19050" cap="rnd">
              <a:solidFill>
                <a:srgbClr val="00B58F"/>
              </a:solidFill>
              <a:prstDash val="solid"/>
              <a:round/>
            </a:ln>
          </p:spPr>
        </p:sp>
        <p:sp>
          <p:nvSpPr>
            <p:cNvPr name="TextBox 21" id="21"/>
            <p:cNvSpPr txBox="true"/>
            <p:nvPr/>
          </p:nvSpPr>
          <p:spPr>
            <a:xfrm>
              <a:off x="0" y="-38100"/>
              <a:ext cx="2303529" cy="333093"/>
            </a:xfrm>
            <a:prstGeom prst="rect">
              <a:avLst/>
            </a:prstGeom>
          </p:spPr>
          <p:txBody>
            <a:bodyPr anchor="ctr" rtlCol="false" tIns="50800" lIns="50800" bIns="50800" rIns="50800"/>
            <a:lstStyle/>
            <a:p>
              <a:pPr algn="ctr">
                <a:lnSpc>
                  <a:spcPts val="2659"/>
                </a:lnSpc>
                <a:spcBef>
                  <a:spcPct val="0"/>
                </a:spcBef>
              </a:pPr>
            </a:p>
          </p:txBody>
        </p:sp>
      </p:grpSp>
      <p:sp>
        <p:nvSpPr>
          <p:cNvPr name="Freeform 22" id="22"/>
          <p:cNvSpPr/>
          <p:nvPr/>
        </p:nvSpPr>
        <p:spPr>
          <a:xfrm flipH="false" flipV="false" rot="0">
            <a:off x="8647043" y="2686634"/>
            <a:ext cx="9061401" cy="6264424"/>
          </a:xfrm>
          <a:custGeom>
            <a:avLst/>
            <a:gdLst/>
            <a:ahLst/>
            <a:cxnLst/>
            <a:rect r="r" b="b" t="t" l="l"/>
            <a:pathLst>
              <a:path h="6264424" w="9061401">
                <a:moveTo>
                  <a:pt x="0" y="0"/>
                </a:moveTo>
                <a:lnTo>
                  <a:pt x="9061401" y="0"/>
                </a:lnTo>
                <a:lnTo>
                  <a:pt x="9061401" y="6264424"/>
                </a:lnTo>
                <a:lnTo>
                  <a:pt x="0" y="6264424"/>
                </a:lnTo>
                <a:lnTo>
                  <a:pt x="0" y="0"/>
                </a:lnTo>
                <a:close/>
              </a:path>
            </a:pathLst>
          </a:custGeom>
          <a:blipFill>
            <a:blip r:embed="rId8"/>
            <a:stretch>
              <a:fillRect l="-7285" t="0" r="-32377" b="0"/>
            </a:stretch>
          </a:blipFill>
        </p:spPr>
      </p:sp>
      <p:sp>
        <p:nvSpPr>
          <p:cNvPr name="TextBox 23" id="23"/>
          <p:cNvSpPr txBox="true"/>
          <p:nvPr/>
        </p:nvSpPr>
        <p:spPr>
          <a:xfrm rot="0">
            <a:off x="1353022" y="754961"/>
            <a:ext cx="2381625" cy="549910"/>
          </a:xfrm>
          <a:prstGeom prst="rect">
            <a:avLst/>
          </a:prstGeom>
        </p:spPr>
        <p:txBody>
          <a:bodyPr anchor="t" rtlCol="false" tIns="0" lIns="0" bIns="0" rIns="0">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Compare market share</a:t>
            </a:r>
          </a:p>
          <a:p>
            <a:pPr algn="l">
              <a:lnSpc>
                <a:spcPts val="2239"/>
              </a:lnSpc>
            </a:pPr>
          </a:p>
        </p:txBody>
      </p:sp>
      <p:sp>
        <p:nvSpPr>
          <p:cNvPr name="TextBox 24" id="24"/>
          <p:cNvSpPr txBox="true"/>
          <p:nvPr/>
        </p:nvSpPr>
        <p:spPr>
          <a:xfrm rot="0">
            <a:off x="3150194" y="3661636"/>
            <a:ext cx="4962831" cy="876935"/>
          </a:xfrm>
          <a:prstGeom prst="rect">
            <a:avLst/>
          </a:prstGeom>
        </p:spPr>
        <p:txBody>
          <a:bodyPr anchor="t" rtlCol="false" tIns="0" lIns="0" bIns="0" rIns="0">
            <a:spAutoFit/>
          </a:bodyPr>
          <a:lstStyle/>
          <a:p>
            <a:pPr algn="l">
              <a:lnSpc>
                <a:spcPts val="3399"/>
              </a:lnSpc>
            </a:pPr>
            <a:r>
              <a:rPr lang="en-US" sz="3399">
                <a:solidFill>
                  <a:srgbClr val="0B132B"/>
                </a:solidFill>
                <a:latin typeface="Rubik One"/>
                <a:ea typeface="Rubik One"/>
                <a:cs typeface="Rubik One"/>
                <a:sym typeface="Rubik One"/>
              </a:rPr>
              <a:t>Electrical car sales</a:t>
            </a:r>
          </a:p>
          <a:p>
            <a:pPr algn="l">
              <a:lnSpc>
                <a:spcPts val="3399"/>
              </a:lnSpc>
            </a:pPr>
          </a:p>
        </p:txBody>
      </p:sp>
      <p:sp>
        <p:nvSpPr>
          <p:cNvPr name="TextBox 25" id="25"/>
          <p:cNvSpPr txBox="true"/>
          <p:nvPr/>
        </p:nvSpPr>
        <p:spPr>
          <a:xfrm rot="0">
            <a:off x="3150194" y="5631025"/>
            <a:ext cx="4192549" cy="876935"/>
          </a:xfrm>
          <a:prstGeom prst="rect">
            <a:avLst/>
          </a:prstGeom>
        </p:spPr>
        <p:txBody>
          <a:bodyPr anchor="t" rtlCol="false" tIns="0" lIns="0" bIns="0" rIns="0">
            <a:spAutoFit/>
          </a:bodyPr>
          <a:lstStyle/>
          <a:p>
            <a:pPr algn="l">
              <a:lnSpc>
                <a:spcPts val="3399"/>
              </a:lnSpc>
            </a:pPr>
            <a:r>
              <a:rPr lang="en-US" sz="3399">
                <a:solidFill>
                  <a:srgbClr val="0B132B"/>
                </a:solidFill>
                <a:latin typeface="Rubik One"/>
                <a:ea typeface="Rubik One"/>
                <a:cs typeface="Rubik One"/>
                <a:sym typeface="Rubik One"/>
              </a:rPr>
              <a:t>Petrol car sales</a:t>
            </a:r>
          </a:p>
          <a:p>
            <a:pPr algn="l">
              <a:lnSpc>
                <a:spcPts val="3399"/>
              </a:lnSpc>
            </a:pPr>
          </a:p>
        </p:txBody>
      </p:sp>
      <p:sp>
        <p:nvSpPr>
          <p:cNvPr name="TextBox 26" id="26"/>
          <p:cNvSpPr txBox="true"/>
          <p:nvPr/>
        </p:nvSpPr>
        <p:spPr>
          <a:xfrm rot="0">
            <a:off x="3150194" y="7600415"/>
            <a:ext cx="4192549" cy="876935"/>
          </a:xfrm>
          <a:prstGeom prst="rect">
            <a:avLst/>
          </a:prstGeom>
        </p:spPr>
        <p:txBody>
          <a:bodyPr anchor="t" rtlCol="false" tIns="0" lIns="0" bIns="0" rIns="0">
            <a:spAutoFit/>
          </a:bodyPr>
          <a:lstStyle/>
          <a:p>
            <a:pPr algn="l">
              <a:lnSpc>
                <a:spcPts val="3399"/>
              </a:lnSpc>
            </a:pPr>
            <a:r>
              <a:rPr lang="en-US" sz="3399">
                <a:solidFill>
                  <a:srgbClr val="0B132B"/>
                </a:solidFill>
                <a:latin typeface="Rubik One"/>
                <a:ea typeface="Rubik One"/>
                <a:cs typeface="Rubik One"/>
                <a:sym typeface="Rubik One"/>
              </a:rPr>
              <a:t>Diesel car sales</a:t>
            </a:r>
          </a:p>
          <a:p>
            <a:pPr algn="l">
              <a:lnSpc>
                <a:spcPts val="3399"/>
              </a:lnSpc>
            </a:pPr>
          </a:p>
        </p:txBody>
      </p:sp>
      <p:sp>
        <p:nvSpPr>
          <p:cNvPr name="TextBox 27" id="27"/>
          <p:cNvSpPr txBox="true"/>
          <p:nvPr/>
        </p:nvSpPr>
        <p:spPr>
          <a:xfrm rot="0">
            <a:off x="3150194" y="4137926"/>
            <a:ext cx="5138908" cy="549910"/>
          </a:xfrm>
          <a:prstGeom prst="rect">
            <a:avLst/>
          </a:prstGeom>
        </p:spPr>
        <p:txBody>
          <a:bodyPr anchor="t" rtlCol="false" tIns="0" lIns="0" bIns="0" rIns="0">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electrical cars market share has a great expansion over yaers.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808637"/>
            <a:ext cx="229386" cy="182674"/>
          </a:xfrm>
          <a:custGeom>
            <a:avLst/>
            <a:gdLst/>
            <a:ahLst/>
            <a:cxnLst/>
            <a:rect r="r" b="b" t="t" l="l"/>
            <a:pathLst>
              <a:path h="182674" w="229386">
                <a:moveTo>
                  <a:pt x="0" y="0"/>
                </a:moveTo>
                <a:lnTo>
                  <a:pt x="229386" y="0"/>
                </a:lnTo>
                <a:lnTo>
                  <a:pt x="229386" y="182675"/>
                </a:lnTo>
                <a:lnTo>
                  <a:pt x="0" y="1826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1502671" y="9960324"/>
            <a:ext cx="9960587" cy="1142074"/>
            <a:chOff x="0" y="0"/>
            <a:chExt cx="2572779" cy="294993"/>
          </a:xfrm>
        </p:grpSpPr>
        <p:sp>
          <p:nvSpPr>
            <p:cNvPr name="Freeform 4" id="4"/>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5" id="5"/>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5959063" y="-784283"/>
            <a:ext cx="8918177" cy="1142074"/>
            <a:chOff x="0" y="0"/>
            <a:chExt cx="2303529" cy="294993"/>
          </a:xfrm>
        </p:grpSpPr>
        <p:sp>
          <p:nvSpPr>
            <p:cNvPr name="Freeform 7" id="7"/>
            <p:cNvSpPr/>
            <p:nvPr/>
          </p:nvSpPr>
          <p:spPr>
            <a:xfrm flipH="false" flipV="false" rot="0">
              <a:off x="0" y="0"/>
              <a:ext cx="2303529" cy="294993"/>
            </a:xfrm>
            <a:custGeom>
              <a:avLst/>
              <a:gdLst/>
              <a:ahLst/>
              <a:cxnLst/>
              <a:rect r="r" b="b" t="t" l="l"/>
              <a:pathLst>
                <a:path h="294993" w="2303529">
                  <a:moveTo>
                    <a:pt x="52086" y="0"/>
                  </a:moveTo>
                  <a:lnTo>
                    <a:pt x="2251442" y="0"/>
                  </a:lnTo>
                  <a:cubicBezTo>
                    <a:pt x="2265256" y="0"/>
                    <a:pt x="2278505" y="5488"/>
                    <a:pt x="2288273" y="15256"/>
                  </a:cubicBezTo>
                  <a:cubicBezTo>
                    <a:pt x="2298041" y="25024"/>
                    <a:pt x="2303529" y="38272"/>
                    <a:pt x="2303529" y="52086"/>
                  </a:cubicBezTo>
                  <a:lnTo>
                    <a:pt x="2303529" y="242907"/>
                  </a:lnTo>
                  <a:cubicBezTo>
                    <a:pt x="2303529" y="271673"/>
                    <a:pt x="2280209" y="294993"/>
                    <a:pt x="2251442" y="294993"/>
                  </a:cubicBezTo>
                  <a:lnTo>
                    <a:pt x="52086" y="294993"/>
                  </a:lnTo>
                  <a:cubicBezTo>
                    <a:pt x="23320" y="294993"/>
                    <a:pt x="0" y="271673"/>
                    <a:pt x="0" y="242907"/>
                  </a:cubicBezTo>
                  <a:lnTo>
                    <a:pt x="0" y="52086"/>
                  </a:lnTo>
                  <a:cubicBezTo>
                    <a:pt x="0" y="23320"/>
                    <a:pt x="23320" y="0"/>
                    <a:pt x="52086" y="0"/>
                  </a:cubicBezTo>
                  <a:close/>
                </a:path>
              </a:pathLst>
            </a:custGeom>
            <a:ln w="19050" cap="rnd">
              <a:solidFill>
                <a:srgbClr val="00B58F"/>
              </a:solidFill>
              <a:prstDash val="solid"/>
              <a:round/>
            </a:ln>
          </p:spPr>
        </p:sp>
        <p:sp>
          <p:nvSpPr>
            <p:cNvPr name="TextBox 8" id="8"/>
            <p:cNvSpPr txBox="true"/>
            <p:nvPr/>
          </p:nvSpPr>
          <p:spPr>
            <a:xfrm>
              <a:off x="0" y="-38100"/>
              <a:ext cx="2303529" cy="333093"/>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0" y="3812191"/>
            <a:ext cx="8907874" cy="5644962"/>
          </a:xfrm>
          <a:custGeom>
            <a:avLst/>
            <a:gdLst/>
            <a:ahLst/>
            <a:cxnLst/>
            <a:rect r="r" b="b" t="t" l="l"/>
            <a:pathLst>
              <a:path h="5644962" w="8907874">
                <a:moveTo>
                  <a:pt x="0" y="0"/>
                </a:moveTo>
                <a:lnTo>
                  <a:pt x="8907874" y="0"/>
                </a:lnTo>
                <a:lnTo>
                  <a:pt x="8907874" y="5644962"/>
                </a:lnTo>
                <a:lnTo>
                  <a:pt x="0" y="5644962"/>
                </a:lnTo>
                <a:lnTo>
                  <a:pt x="0" y="0"/>
                </a:lnTo>
                <a:close/>
              </a:path>
            </a:pathLst>
          </a:custGeom>
          <a:blipFill>
            <a:blip r:embed="rId4"/>
            <a:stretch>
              <a:fillRect l="0" t="0" r="0" b="0"/>
            </a:stretch>
          </a:blipFill>
        </p:spPr>
      </p:sp>
      <p:sp>
        <p:nvSpPr>
          <p:cNvPr name="Freeform 10" id="10"/>
          <p:cNvSpPr/>
          <p:nvPr/>
        </p:nvSpPr>
        <p:spPr>
          <a:xfrm flipH="false" flipV="false" rot="0">
            <a:off x="9144000" y="3812191"/>
            <a:ext cx="8599508" cy="5751007"/>
          </a:xfrm>
          <a:custGeom>
            <a:avLst/>
            <a:gdLst/>
            <a:ahLst/>
            <a:cxnLst/>
            <a:rect r="r" b="b" t="t" l="l"/>
            <a:pathLst>
              <a:path h="5751007" w="8599508">
                <a:moveTo>
                  <a:pt x="0" y="0"/>
                </a:moveTo>
                <a:lnTo>
                  <a:pt x="8599508" y="0"/>
                </a:lnTo>
                <a:lnTo>
                  <a:pt x="8599508" y="5751007"/>
                </a:lnTo>
                <a:lnTo>
                  <a:pt x="0" y="5751007"/>
                </a:lnTo>
                <a:lnTo>
                  <a:pt x="0" y="0"/>
                </a:lnTo>
                <a:close/>
              </a:path>
            </a:pathLst>
          </a:custGeom>
          <a:blipFill>
            <a:blip r:embed="rId5"/>
            <a:stretch>
              <a:fillRect l="-4725" t="0" r="-7509" b="-784"/>
            </a:stretch>
          </a:blipFill>
        </p:spPr>
      </p:sp>
      <p:sp>
        <p:nvSpPr>
          <p:cNvPr name="TextBox 11" id="11"/>
          <p:cNvSpPr txBox="true"/>
          <p:nvPr/>
        </p:nvSpPr>
        <p:spPr>
          <a:xfrm rot="0">
            <a:off x="3421616" y="1857321"/>
            <a:ext cx="12039503" cy="2887537"/>
          </a:xfrm>
          <a:prstGeom prst="rect">
            <a:avLst/>
          </a:prstGeom>
        </p:spPr>
        <p:txBody>
          <a:bodyPr anchor="t" rtlCol="false" tIns="0" lIns="0" bIns="0" rIns="0">
            <a:spAutoFit/>
          </a:bodyPr>
          <a:lstStyle/>
          <a:p>
            <a:pPr algn="l">
              <a:lnSpc>
                <a:spcPts val="5799"/>
              </a:lnSpc>
            </a:pPr>
            <a:r>
              <a:rPr lang="en-US" sz="5799">
                <a:solidFill>
                  <a:srgbClr val="0B132B"/>
                </a:solidFill>
                <a:latin typeface="Rubik One"/>
                <a:ea typeface="Rubik One"/>
                <a:cs typeface="Rubik One"/>
                <a:sym typeface="Rubik One"/>
              </a:rPr>
              <a:t>FASTEST GROWING MARKET</a:t>
            </a:r>
          </a:p>
          <a:p>
            <a:pPr algn="l">
              <a:lnSpc>
                <a:spcPts val="8248"/>
              </a:lnSpc>
            </a:pPr>
          </a:p>
          <a:p>
            <a:pPr algn="l">
              <a:lnSpc>
                <a:spcPts val="8248"/>
              </a:lnSpc>
            </a:pPr>
          </a:p>
        </p:txBody>
      </p:sp>
      <p:sp>
        <p:nvSpPr>
          <p:cNvPr name="TextBox 12" id="12"/>
          <p:cNvSpPr txBox="true"/>
          <p:nvPr/>
        </p:nvSpPr>
        <p:spPr>
          <a:xfrm rot="0">
            <a:off x="1353022" y="754961"/>
            <a:ext cx="2381625" cy="549910"/>
          </a:xfrm>
          <a:prstGeom prst="rect">
            <a:avLst/>
          </a:prstGeom>
        </p:spPr>
        <p:txBody>
          <a:bodyPr anchor="t" rtlCol="false" tIns="0" lIns="0" bIns="0" rIns="0">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Compare market share</a:t>
            </a:r>
          </a:p>
          <a:p>
            <a:pPr algn="l">
              <a:lnSpc>
                <a:spcPts val="223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11502671" y="9960324"/>
            <a:ext cx="9960587" cy="1142074"/>
            <a:chOff x="0" y="0"/>
            <a:chExt cx="2572779" cy="294993"/>
          </a:xfrm>
        </p:grpSpPr>
        <p:sp>
          <p:nvSpPr>
            <p:cNvPr name="Freeform 3" id="3"/>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4" id="4"/>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959063" y="-784283"/>
            <a:ext cx="13801709" cy="1142074"/>
            <a:chOff x="0" y="0"/>
            <a:chExt cx="3564925" cy="294993"/>
          </a:xfrm>
        </p:grpSpPr>
        <p:sp>
          <p:nvSpPr>
            <p:cNvPr name="Freeform 6" id="6"/>
            <p:cNvSpPr/>
            <p:nvPr/>
          </p:nvSpPr>
          <p:spPr>
            <a:xfrm flipH="false" flipV="false" rot="0">
              <a:off x="0" y="0"/>
              <a:ext cx="3564925" cy="294993"/>
            </a:xfrm>
            <a:custGeom>
              <a:avLst/>
              <a:gdLst/>
              <a:ahLst/>
              <a:cxnLst/>
              <a:rect r="r" b="b" t="t" l="l"/>
              <a:pathLst>
                <a:path h="294993" w="3564925">
                  <a:moveTo>
                    <a:pt x="33656" y="0"/>
                  </a:moveTo>
                  <a:lnTo>
                    <a:pt x="3531269" y="0"/>
                  </a:lnTo>
                  <a:cubicBezTo>
                    <a:pt x="3549857" y="0"/>
                    <a:pt x="3564925" y="15068"/>
                    <a:pt x="3564925" y="33656"/>
                  </a:cubicBezTo>
                  <a:lnTo>
                    <a:pt x="3564925" y="261337"/>
                  </a:lnTo>
                  <a:cubicBezTo>
                    <a:pt x="3564925" y="279925"/>
                    <a:pt x="3549857" y="294993"/>
                    <a:pt x="3531269" y="294993"/>
                  </a:cubicBezTo>
                  <a:lnTo>
                    <a:pt x="33656" y="294993"/>
                  </a:lnTo>
                  <a:cubicBezTo>
                    <a:pt x="15068" y="294993"/>
                    <a:pt x="0" y="279925"/>
                    <a:pt x="0" y="261337"/>
                  </a:cubicBezTo>
                  <a:lnTo>
                    <a:pt x="0" y="33656"/>
                  </a:lnTo>
                  <a:cubicBezTo>
                    <a:pt x="0" y="15068"/>
                    <a:pt x="15068" y="0"/>
                    <a:pt x="33656" y="0"/>
                  </a:cubicBezTo>
                  <a:close/>
                </a:path>
              </a:pathLst>
            </a:custGeom>
            <a:ln w="19050" cap="rnd">
              <a:solidFill>
                <a:srgbClr val="00B58F"/>
              </a:solidFill>
              <a:prstDash val="solid"/>
              <a:round/>
            </a:ln>
          </p:spPr>
        </p:sp>
        <p:sp>
          <p:nvSpPr>
            <p:cNvPr name="TextBox 7" id="7"/>
            <p:cNvSpPr txBox="true"/>
            <p:nvPr/>
          </p:nvSpPr>
          <p:spPr>
            <a:xfrm>
              <a:off x="0" y="-38100"/>
              <a:ext cx="3564925" cy="333093"/>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3761472" y="4890170"/>
            <a:ext cx="11301259" cy="4096706"/>
          </a:xfrm>
          <a:custGeom>
            <a:avLst/>
            <a:gdLst/>
            <a:ahLst/>
            <a:cxnLst/>
            <a:rect r="r" b="b" t="t" l="l"/>
            <a:pathLst>
              <a:path h="4096706" w="11301259">
                <a:moveTo>
                  <a:pt x="0" y="0"/>
                </a:moveTo>
                <a:lnTo>
                  <a:pt x="11301259" y="0"/>
                </a:lnTo>
                <a:lnTo>
                  <a:pt x="11301259" y="4096707"/>
                </a:lnTo>
                <a:lnTo>
                  <a:pt x="0" y="4096707"/>
                </a:lnTo>
                <a:lnTo>
                  <a:pt x="0" y="0"/>
                </a:lnTo>
                <a:close/>
              </a:path>
            </a:pathLst>
          </a:custGeom>
          <a:blipFill>
            <a:blip r:embed="rId2"/>
            <a:stretch>
              <a:fillRect l="0" t="0" r="0" b="0"/>
            </a:stretch>
          </a:blipFill>
        </p:spPr>
      </p:sp>
      <p:sp>
        <p:nvSpPr>
          <p:cNvPr name="TextBox 9" id="9"/>
          <p:cNvSpPr txBox="true"/>
          <p:nvPr/>
        </p:nvSpPr>
        <p:spPr>
          <a:xfrm rot="0">
            <a:off x="3070776" y="754497"/>
            <a:ext cx="12682650" cy="1571625"/>
          </a:xfrm>
          <a:prstGeom prst="rect">
            <a:avLst/>
          </a:prstGeom>
        </p:spPr>
        <p:txBody>
          <a:bodyPr anchor="t" rtlCol="false" tIns="0" lIns="0" bIns="0" rIns="0">
            <a:spAutoFit/>
          </a:bodyPr>
          <a:lstStyle/>
          <a:p>
            <a:pPr algn="ctr">
              <a:lnSpc>
                <a:spcPts val="6000"/>
              </a:lnSpc>
            </a:pPr>
            <a:r>
              <a:rPr lang="en-US" sz="6000">
                <a:solidFill>
                  <a:srgbClr val="0B132B"/>
                </a:solidFill>
                <a:latin typeface="Rubik One"/>
                <a:ea typeface="Rubik One"/>
                <a:cs typeface="Rubik One"/>
                <a:sym typeface="Rubik One"/>
              </a:rPr>
              <a:t>EV SALES BY VEHICLE SEGMENT</a:t>
            </a:r>
          </a:p>
        </p:txBody>
      </p:sp>
      <p:sp>
        <p:nvSpPr>
          <p:cNvPr name="TextBox 10" id="10"/>
          <p:cNvSpPr txBox="true"/>
          <p:nvPr/>
        </p:nvSpPr>
        <p:spPr>
          <a:xfrm rot="0">
            <a:off x="6024246" y="2784270"/>
            <a:ext cx="6775710" cy="1609652"/>
          </a:xfrm>
          <a:prstGeom prst="rect">
            <a:avLst/>
          </a:prstGeom>
        </p:spPr>
        <p:txBody>
          <a:bodyPr anchor="t" rtlCol="false" tIns="0" lIns="0" bIns="0" rIns="0">
            <a:spAutoFit/>
          </a:bodyPr>
          <a:lstStyle/>
          <a:p>
            <a:pPr algn="l">
              <a:lnSpc>
                <a:spcPts val="2619"/>
              </a:lnSpc>
            </a:pPr>
            <a:r>
              <a:rPr lang="en-US" sz="1870" spc="46">
                <a:solidFill>
                  <a:srgbClr val="0B132B"/>
                </a:solidFill>
                <a:latin typeface="Bricolage Grotesque"/>
                <a:ea typeface="Bricolage Grotesque"/>
                <a:cs typeface="Bricolage Grotesque"/>
                <a:sym typeface="Bricolage Grotesque"/>
              </a:rPr>
              <a:t>This chart analyzes EV sales across different vehicle segments such as mass market, premium, and commercial vehicles. It helps identify which segment contributes most to EV adoption and provides insights into customer demand and market distribution.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11502671" y="9960324"/>
            <a:ext cx="9960587" cy="1142074"/>
            <a:chOff x="0" y="0"/>
            <a:chExt cx="2572779" cy="294993"/>
          </a:xfrm>
        </p:grpSpPr>
        <p:sp>
          <p:nvSpPr>
            <p:cNvPr name="Freeform 3" id="3"/>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4" id="4"/>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959063" y="-784283"/>
            <a:ext cx="13801709" cy="1142074"/>
            <a:chOff x="0" y="0"/>
            <a:chExt cx="3564925" cy="294993"/>
          </a:xfrm>
        </p:grpSpPr>
        <p:sp>
          <p:nvSpPr>
            <p:cNvPr name="Freeform 6" id="6"/>
            <p:cNvSpPr/>
            <p:nvPr/>
          </p:nvSpPr>
          <p:spPr>
            <a:xfrm flipH="false" flipV="false" rot="0">
              <a:off x="0" y="0"/>
              <a:ext cx="3564925" cy="294993"/>
            </a:xfrm>
            <a:custGeom>
              <a:avLst/>
              <a:gdLst/>
              <a:ahLst/>
              <a:cxnLst/>
              <a:rect r="r" b="b" t="t" l="l"/>
              <a:pathLst>
                <a:path h="294993" w="3564925">
                  <a:moveTo>
                    <a:pt x="33656" y="0"/>
                  </a:moveTo>
                  <a:lnTo>
                    <a:pt x="3531269" y="0"/>
                  </a:lnTo>
                  <a:cubicBezTo>
                    <a:pt x="3549857" y="0"/>
                    <a:pt x="3564925" y="15068"/>
                    <a:pt x="3564925" y="33656"/>
                  </a:cubicBezTo>
                  <a:lnTo>
                    <a:pt x="3564925" y="261337"/>
                  </a:lnTo>
                  <a:cubicBezTo>
                    <a:pt x="3564925" y="279925"/>
                    <a:pt x="3549857" y="294993"/>
                    <a:pt x="3531269" y="294993"/>
                  </a:cubicBezTo>
                  <a:lnTo>
                    <a:pt x="33656" y="294993"/>
                  </a:lnTo>
                  <a:cubicBezTo>
                    <a:pt x="15068" y="294993"/>
                    <a:pt x="0" y="279925"/>
                    <a:pt x="0" y="261337"/>
                  </a:cubicBezTo>
                  <a:lnTo>
                    <a:pt x="0" y="33656"/>
                  </a:lnTo>
                  <a:cubicBezTo>
                    <a:pt x="0" y="15068"/>
                    <a:pt x="15068" y="0"/>
                    <a:pt x="33656" y="0"/>
                  </a:cubicBezTo>
                  <a:close/>
                </a:path>
              </a:pathLst>
            </a:custGeom>
            <a:ln w="19050" cap="rnd">
              <a:solidFill>
                <a:srgbClr val="00B58F"/>
              </a:solidFill>
              <a:prstDash val="solid"/>
              <a:round/>
            </a:ln>
          </p:spPr>
        </p:sp>
        <p:sp>
          <p:nvSpPr>
            <p:cNvPr name="TextBox 7" id="7"/>
            <p:cNvSpPr txBox="true"/>
            <p:nvPr/>
          </p:nvSpPr>
          <p:spPr>
            <a:xfrm>
              <a:off x="0" y="-38100"/>
              <a:ext cx="3564925" cy="333093"/>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3493371" y="3843868"/>
            <a:ext cx="11301259" cy="5989667"/>
          </a:xfrm>
          <a:custGeom>
            <a:avLst/>
            <a:gdLst/>
            <a:ahLst/>
            <a:cxnLst/>
            <a:rect r="r" b="b" t="t" l="l"/>
            <a:pathLst>
              <a:path h="5989667" w="11301259">
                <a:moveTo>
                  <a:pt x="0" y="0"/>
                </a:moveTo>
                <a:lnTo>
                  <a:pt x="11301258" y="0"/>
                </a:lnTo>
                <a:lnTo>
                  <a:pt x="11301258" y="5989667"/>
                </a:lnTo>
                <a:lnTo>
                  <a:pt x="0" y="5989667"/>
                </a:lnTo>
                <a:lnTo>
                  <a:pt x="0" y="0"/>
                </a:lnTo>
                <a:close/>
              </a:path>
            </a:pathLst>
          </a:custGeom>
          <a:blipFill>
            <a:blip r:embed="rId2"/>
            <a:stretch>
              <a:fillRect l="0" t="0" r="0" b="0"/>
            </a:stretch>
          </a:blipFill>
        </p:spPr>
      </p:sp>
      <p:sp>
        <p:nvSpPr>
          <p:cNvPr name="TextBox 9" id="9"/>
          <p:cNvSpPr txBox="true"/>
          <p:nvPr/>
        </p:nvSpPr>
        <p:spPr>
          <a:xfrm rot="0">
            <a:off x="3493371" y="453041"/>
            <a:ext cx="11301259" cy="1571625"/>
          </a:xfrm>
          <a:prstGeom prst="rect">
            <a:avLst/>
          </a:prstGeom>
        </p:spPr>
        <p:txBody>
          <a:bodyPr anchor="t" rtlCol="false" tIns="0" lIns="0" bIns="0" rIns="0">
            <a:spAutoFit/>
          </a:bodyPr>
          <a:lstStyle/>
          <a:p>
            <a:pPr algn="ctr">
              <a:lnSpc>
                <a:spcPts val="6000"/>
              </a:lnSpc>
            </a:pPr>
            <a:r>
              <a:rPr lang="en-US" sz="6000">
                <a:solidFill>
                  <a:srgbClr val="0B132B"/>
                </a:solidFill>
                <a:latin typeface="Rubik One"/>
                <a:ea typeface="Rubik One"/>
                <a:cs typeface="Rubik One"/>
                <a:sym typeface="Rubik One"/>
              </a:rPr>
              <a:t>EV CHARGING INFRASTRUCTURE</a:t>
            </a:r>
          </a:p>
        </p:txBody>
      </p:sp>
      <p:sp>
        <p:nvSpPr>
          <p:cNvPr name="TextBox 10" id="10"/>
          <p:cNvSpPr txBox="true"/>
          <p:nvPr/>
        </p:nvSpPr>
        <p:spPr>
          <a:xfrm rot="0">
            <a:off x="5756145" y="2110391"/>
            <a:ext cx="6775710" cy="1609652"/>
          </a:xfrm>
          <a:prstGeom prst="rect">
            <a:avLst/>
          </a:prstGeom>
        </p:spPr>
        <p:txBody>
          <a:bodyPr anchor="t" rtlCol="false" tIns="0" lIns="0" bIns="0" rIns="0">
            <a:spAutoFit/>
          </a:bodyPr>
          <a:lstStyle/>
          <a:p>
            <a:pPr algn="ctr">
              <a:lnSpc>
                <a:spcPts val="2619"/>
              </a:lnSpc>
            </a:pPr>
            <a:r>
              <a:rPr lang="en-US" sz="1870" spc="46">
                <a:solidFill>
                  <a:srgbClr val="0B132B"/>
                </a:solidFill>
                <a:latin typeface="Bricolage Grotesque"/>
                <a:ea typeface="Bricolage Grotesque"/>
                <a:cs typeface="Bricolage Grotesque"/>
                <a:sym typeface="Bricolage Grotesque"/>
              </a:rPr>
              <a:t>This chart evaluates the development of EV infrastructure by comparing charging station growth with fast charger availability. It helps measure infrastructure readiness and supports understanding of how charging accessibility impacts EV adoption.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11502671" y="9960324"/>
            <a:ext cx="9960587" cy="1142074"/>
            <a:chOff x="0" y="0"/>
            <a:chExt cx="2572779" cy="294993"/>
          </a:xfrm>
        </p:grpSpPr>
        <p:sp>
          <p:nvSpPr>
            <p:cNvPr name="Freeform 3" id="3"/>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4" id="4"/>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959063" y="-784283"/>
            <a:ext cx="13801709" cy="1142074"/>
            <a:chOff x="0" y="0"/>
            <a:chExt cx="3564925" cy="294993"/>
          </a:xfrm>
        </p:grpSpPr>
        <p:sp>
          <p:nvSpPr>
            <p:cNvPr name="Freeform 6" id="6"/>
            <p:cNvSpPr/>
            <p:nvPr/>
          </p:nvSpPr>
          <p:spPr>
            <a:xfrm flipH="false" flipV="false" rot="0">
              <a:off x="0" y="0"/>
              <a:ext cx="3564925" cy="294993"/>
            </a:xfrm>
            <a:custGeom>
              <a:avLst/>
              <a:gdLst/>
              <a:ahLst/>
              <a:cxnLst/>
              <a:rect r="r" b="b" t="t" l="l"/>
              <a:pathLst>
                <a:path h="294993" w="3564925">
                  <a:moveTo>
                    <a:pt x="33656" y="0"/>
                  </a:moveTo>
                  <a:lnTo>
                    <a:pt x="3531269" y="0"/>
                  </a:lnTo>
                  <a:cubicBezTo>
                    <a:pt x="3549857" y="0"/>
                    <a:pt x="3564925" y="15068"/>
                    <a:pt x="3564925" y="33656"/>
                  </a:cubicBezTo>
                  <a:lnTo>
                    <a:pt x="3564925" y="261337"/>
                  </a:lnTo>
                  <a:cubicBezTo>
                    <a:pt x="3564925" y="279925"/>
                    <a:pt x="3549857" y="294993"/>
                    <a:pt x="3531269" y="294993"/>
                  </a:cubicBezTo>
                  <a:lnTo>
                    <a:pt x="33656" y="294993"/>
                  </a:lnTo>
                  <a:cubicBezTo>
                    <a:pt x="15068" y="294993"/>
                    <a:pt x="0" y="279925"/>
                    <a:pt x="0" y="261337"/>
                  </a:cubicBezTo>
                  <a:lnTo>
                    <a:pt x="0" y="33656"/>
                  </a:lnTo>
                  <a:cubicBezTo>
                    <a:pt x="0" y="15068"/>
                    <a:pt x="15068" y="0"/>
                    <a:pt x="33656" y="0"/>
                  </a:cubicBezTo>
                  <a:close/>
                </a:path>
              </a:pathLst>
            </a:custGeom>
            <a:ln w="19050" cap="rnd">
              <a:solidFill>
                <a:srgbClr val="00B58F"/>
              </a:solidFill>
              <a:prstDash val="solid"/>
              <a:round/>
            </a:ln>
          </p:spPr>
        </p:sp>
        <p:sp>
          <p:nvSpPr>
            <p:cNvPr name="TextBox 7" id="7"/>
            <p:cNvSpPr txBox="true"/>
            <p:nvPr/>
          </p:nvSpPr>
          <p:spPr>
            <a:xfrm>
              <a:off x="0" y="-38100"/>
              <a:ext cx="3564925" cy="333093"/>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3508549" y="3392438"/>
            <a:ext cx="12166092" cy="6520261"/>
          </a:xfrm>
          <a:custGeom>
            <a:avLst/>
            <a:gdLst/>
            <a:ahLst/>
            <a:cxnLst/>
            <a:rect r="r" b="b" t="t" l="l"/>
            <a:pathLst>
              <a:path h="6520261" w="12166092">
                <a:moveTo>
                  <a:pt x="0" y="0"/>
                </a:moveTo>
                <a:lnTo>
                  <a:pt x="12166092" y="0"/>
                </a:lnTo>
                <a:lnTo>
                  <a:pt x="12166092" y="6520261"/>
                </a:lnTo>
                <a:lnTo>
                  <a:pt x="0" y="6520261"/>
                </a:lnTo>
                <a:lnTo>
                  <a:pt x="0" y="0"/>
                </a:lnTo>
                <a:close/>
              </a:path>
            </a:pathLst>
          </a:custGeom>
          <a:blipFill>
            <a:blip r:embed="rId2"/>
            <a:stretch>
              <a:fillRect l="-2199" t="-1763" r="-461" b="0"/>
            </a:stretch>
          </a:blipFill>
        </p:spPr>
      </p:sp>
      <p:sp>
        <p:nvSpPr>
          <p:cNvPr name="TextBox 9" id="9"/>
          <p:cNvSpPr txBox="true"/>
          <p:nvPr/>
        </p:nvSpPr>
        <p:spPr>
          <a:xfrm rot="0">
            <a:off x="3470449" y="754497"/>
            <a:ext cx="12682650" cy="1571625"/>
          </a:xfrm>
          <a:prstGeom prst="rect">
            <a:avLst/>
          </a:prstGeom>
        </p:spPr>
        <p:txBody>
          <a:bodyPr anchor="t" rtlCol="false" tIns="0" lIns="0" bIns="0" rIns="0">
            <a:spAutoFit/>
          </a:bodyPr>
          <a:lstStyle/>
          <a:p>
            <a:pPr algn="ctr">
              <a:lnSpc>
                <a:spcPts val="6000"/>
              </a:lnSpc>
            </a:pPr>
            <a:r>
              <a:rPr lang="en-US" sz="6000">
                <a:solidFill>
                  <a:srgbClr val="0B132B"/>
                </a:solidFill>
                <a:latin typeface="Rubik One"/>
                <a:ea typeface="Rubik One"/>
                <a:cs typeface="Rubik One"/>
                <a:sym typeface="Rubik One"/>
              </a:rPr>
              <a:t>ECONOMIC &amp; URBANIZATION TREND ANALYSIS</a:t>
            </a:r>
          </a:p>
        </p:txBody>
      </p:sp>
      <p:sp>
        <p:nvSpPr>
          <p:cNvPr name="TextBox 10" id="10"/>
          <p:cNvSpPr txBox="true"/>
          <p:nvPr/>
        </p:nvSpPr>
        <p:spPr>
          <a:xfrm rot="0">
            <a:off x="6024246" y="2307071"/>
            <a:ext cx="6775710" cy="962024"/>
          </a:xfrm>
          <a:prstGeom prst="rect">
            <a:avLst/>
          </a:prstGeom>
        </p:spPr>
        <p:txBody>
          <a:bodyPr anchor="t" rtlCol="false" tIns="0" lIns="0" bIns="0" rIns="0">
            <a:spAutoFit/>
          </a:bodyPr>
          <a:lstStyle/>
          <a:p>
            <a:pPr algn="ctr">
              <a:lnSpc>
                <a:spcPts val="2619"/>
              </a:lnSpc>
            </a:pPr>
            <a:r>
              <a:rPr lang="en-US" sz="1870" spc="46">
                <a:solidFill>
                  <a:srgbClr val="0B132B"/>
                </a:solidFill>
                <a:latin typeface="Bricolage Grotesque"/>
                <a:ea typeface="Bricolage Grotesque"/>
                <a:cs typeface="Bricolage Grotesque"/>
                <a:sym typeface="Bricolage Grotesque"/>
              </a:rPr>
              <a:t>This chart compares GDP per capita and urban population trends over time to analyze how economic development and urbanization may influence EV market growth.</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11502671" y="9960324"/>
            <a:ext cx="9960587" cy="1142074"/>
            <a:chOff x="0" y="0"/>
            <a:chExt cx="2572779" cy="294993"/>
          </a:xfrm>
        </p:grpSpPr>
        <p:sp>
          <p:nvSpPr>
            <p:cNvPr name="Freeform 3" id="3"/>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4" id="4"/>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959063" y="-784283"/>
            <a:ext cx="13801709" cy="1142074"/>
            <a:chOff x="0" y="0"/>
            <a:chExt cx="3564925" cy="294993"/>
          </a:xfrm>
        </p:grpSpPr>
        <p:sp>
          <p:nvSpPr>
            <p:cNvPr name="Freeform 6" id="6"/>
            <p:cNvSpPr/>
            <p:nvPr/>
          </p:nvSpPr>
          <p:spPr>
            <a:xfrm flipH="false" flipV="false" rot="0">
              <a:off x="0" y="0"/>
              <a:ext cx="3564925" cy="294993"/>
            </a:xfrm>
            <a:custGeom>
              <a:avLst/>
              <a:gdLst/>
              <a:ahLst/>
              <a:cxnLst/>
              <a:rect r="r" b="b" t="t" l="l"/>
              <a:pathLst>
                <a:path h="294993" w="3564925">
                  <a:moveTo>
                    <a:pt x="33656" y="0"/>
                  </a:moveTo>
                  <a:lnTo>
                    <a:pt x="3531269" y="0"/>
                  </a:lnTo>
                  <a:cubicBezTo>
                    <a:pt x="3549857" y="0"/>
                    <a:pt x="3564925" y="15068"/>
                    <a:pt x="3564925" y="33656"/>
                  </a:cubicBezTo>
                  <a:lnTo>
                    <a:pt x="3564925" y="261337"/>
                  </a:lnTo>
                  <a:cubicBezTo>
                    <a:pt x="3564925" y="279925"/>
                    <a:pt x="3549857" y="294993"/>
                    <a:pt x="3531269" y="294993"/>
                  </a:cubicBezTo>
                  <a:lnTo>
                    <a:pt x="33656" y="294993"/>
                  </a:lnTo>
                  <a:cubicBezTo>
                    <a:pt x="15068" y="294993"/>
                    <a:pt x="0" y="279925"/>
                    <a:pt x="0" y="261337"/>
                  </a:cubicBezTo>
                  <a:lnTo>
                    <a:pt x="0" y="33656"/>
                  </a:lnTo>
                  <a:cubicBezTo>
                    <a:pt x="0" y="15068"/>
                    <a:pt x="15068" y="0"/>
                    <a:pt x="33656" y="0"/>
                  </a:cubicBezTo>
                  <a:close/>
                </a:path>
              </a:pathLst>
            </a:custGeom>
            <a:ln w="19050" cap="rnd">
              <a:solidFill>
                <a:srgbClr val="00B58F"/>
              </a:solidFill>
              <a:prstDash val="solid"/>
              <a:round/>
            </a:ln>
          </p:spPr>
        </p:sp>
        <p:sp>
          <p:nvSpPr>
            <p:cNvPr name="TextBox 7" id="7"/>
            <p:cNvSpPr txBox="true"/>
            <p:nvPr/>
          </p:nvSpPr>
          <p:spPr>
            <a:xfrm>
              <a:off x="0" y="-38100"/>
              <a:ext cx="3564925" cy="333093"/>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3299275" y="3734642"/>
            <a:ext cx="11301259" cy="4817162"/>
          </a:xfrm>
          <a:custGeom>
            <a:avLst/>
            <a:gdLst/>
            <a:ahLst/>
            <a:cxnLst/>
            <a:rect r="r" b="b" t="t" l="l"/>
            <a:pathLst>
              <a:path h="4817162" w="11301259">
                <a:moveTo>
                  <a:pt x="0" y="0"/>
                </a:moveTo>
                <a:lnTo>
                  <a:pt x="11301259" y="0"/>
                </a:lnTo>
                <a:lnTo>
                  <a:pt x="11301259" y="4817162"/>
                </a:lnTo>
                <a:lnTo>
                  <a:pt x="0" y="4817162"/>
                </a:lnTo>
                <a:lnTo>
                  <a:pt x="0" y="0"/>
                </a:lnTo>
                <a:close/>
              </a:path>
            </a:pathLst>
          </a:custGeom>
          <a:blipFill>
            <a:blip r:embed="rId2"/>
            <a:stretch>
              <a:fillRect l="0" t="0" r="0" b="0"/>
            </a:stretch>
          </a:blipFill>
        </p:spPr>
      </p:sp>
      <p:sp>
        <p:nvSpPr>
          <p:cNvPr name="TextBox 9" id="9"/>
          <p:cNvSpPr txBox="true"/>
          <p:nvPr/>
        </p:nvSpPr>
        <p:spPr>
          <a:xfrm rot="0">
            <a:off x="2608580" y="1133475"/>
            <a:ext cx="12682650" cy="809625"/>
          </a:xfrm>
          <a:prstGeom prst="rect">
            <a:avLst/>
          </a:prstGeom>
        </p:spPr>
        <p:txBody>
          <a:bodyPr anchor="t" rtlCol="false" tIns="0" lIns="0" bIns="0" rIns="0">
            <a:spAutoFit/>
          </a:bodyPr>
          <a:lstStyle/>
          <a:p>
            <a:pPr algn="ctr">
              <a:lnSpc>
                <a:spcPts val="6000"/>
              </a:lnSpc>
            </a:pPr>
            <a:r>
              <a:rPr lang="en-US" sz="6000">
                <a:solidFill>
                  <a:srgbClr val="0B132B"/>
                </a:solidFill>
                <a:latin typeface="Rubik One"/>
                <a:ea typeface="Rubik One"/>
                <a:cs typeface="Rubik One"/>
                <a:sym typeface="Rubik One"/>
              </a:rPr>
              <a:t>COST &amp; AFFORDABILITY KPIS</a:t>
            </a:r>
          </a:p>
        </p:txBody>
      </p:sp>
      <p:sp>
        <p:nvSpPr>
          <p:cNvPr name="TextBox 10" id="10"/>
          <p:cNvSpPr txBox="true"/>
          <p:nvPr/>
        </p:nvSpPr>
        <p:spPr>
          <a:xfrm rot="0">
            <a:off x="4575280" y="2149266"/>
            <a:ext cx="8749250" cy="1285838"/>
          </a:xfrm>
          <a:prstGeom prst="rect">
            <a:avLst/>
          </a:prstGeom>
        </p:spPr>
        <p:txBody>
          <a:bodyPr anchor="t" rtlCol="false" tIns="0" lIns="0" bIns="0" rIns="0">
            <a:spAutoFit/>
          </a:bodyPr>
          <a:lstStyle/>
          <a:p>
            <a:pPr algn="ctr">
              <a:lnSpc>
                <a:spcPts val="2619"/>
              </a:lnSpc>
            </a:pPr>
            <a:r>
              <a:rPr lang="en-US" sz="1870" spc="46">
                <a:solidFill>
                  <a:srgbClr val="0B132B"/>
                </a:solidFill>
                <a:latin typeface="Bricolage Grotesque"/>
                <a:ea typeface="Bricolage Grotesque"/>
                <a:cs typeface="Bricolage Grotesque"/>
                <a:sym typeface="Bricolage Grotesque"/>
              </a:rPr>
              <a:t>This chart highlights the cost difference between fuel and electricity, demonstrating the economic advantage of electric vehicles. It helps evaluate EV affordability and shows how lower charging costs can support increased EV adoption.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808637"/>
            <a:ext cx="229386" cy="182674"/>
          </a:xfrm>
          <a:custGeom>
            <a:avLst/>
            <a:gdLst/>
            <a:ahLst/>
            <a:cxnLst/>
            <a:rect r="r" b="b" t="t" l="l"/>
            <a:pathLst>
              <a:path h="182674" w="229386">
                <a:moveTo>
                  <a:pt x="0" y="0"/>
                </a:moveTo>
                <a:lnTo>
                  <a:pt x="229386" y="0"/>
                </a:lnTo>
                <a:lnTo>
                  <a:pt x="229386" y="182675"/>
                </a:lnTo>
                <a:lnTo>
                  <a:pt x="0" y="1826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623776" y="1319676"/>
            <a:ext cx="8635524" cy="3388827"/>
            <a:chOff x="0" y="0"/>
            <a:chExt cx="1874657" cy="735669"/>
          </a:xfrm>
        </p:grpSpPr>
        <p:sp>
          <p:nvSpPr>
            <p:cNvPr name="Freeform 4" id="4"/>
            <p:cNvSpPr/>
            <p:nvPr/>
          </p:nvSpPr>
          <p:spPr>
            <a:xfrm flipH="false" flipV="false" rot="0">
              <a:off x="0" y="0"/>
              <a:ext cx="1874657" cy="735669"/>
            </a:xfrm>
            <a:custGeom>
              <a:avLst/>
              <a:gdLst/>
              <a:ahLst/>
              <a:cxnLst/>
              <a:rect r="r" b="b" t="t" l="l"/>
              <a:pathLst>
                <a:path h="735669" w="1874657">
                  <a:moveTo>
                    <a:pt x="17930" y="0"/>
                  </a:moveTo>
                  <a:lnTo>
                    <a:pt x="1856727" y="0"/>
                  </a:lnTo>
                  <a:cubicBezTo>
                    <a:pt x="1861482" y="0"/>
                    <a:pt x="1866043" y="1889"/>
                    <a:pt x="1869405" y="5252"/>
                  </a:cubicBezTo>
                  <a:cubicBezTo>
                    <a:pt x="1872768" y="8614"/>
                    <a:pt x="1874657" y="13175"/>
                    <a:pt x="1874657" y="17930"/>
                  </a:cubicBezTo>
                  <a:lnTo>
                    <a:pt x="1874657" y="717739"/>
                  </a:lnTo>
                  <a:cubicBezTo>
                    <a:pt x="1874657" y="722494"/>
                    <a:pt x="1872768" y="727055"/>
                    <a:pt x="1869405" y="730418"/>
                  </a:cubicBezTo>
                  <a:cubicBezTo>
                    <a:pt x="1866043" y="733780"/>
                    <a:pt x="1861482" y="735669"/>
                    <a:pt x="1856727" y="735669"/>
                  </a:cubicBezTo>
                  <a:lnTo>
                    <a:pt x="17930" y="735669"/>
                  </a:lnTo>
                  <a:cubicBezTo>
                    <a:pt x="13175" y="735669"/>
                    <a:pt x="8614" y="733780"/>
                    <a:pt x="5252" y="730418"/>
                  </a:cubicBezTo>
                  <a:cubicBezTo>
                    <a:pt x="1889" y="727055"/>
                    <a:pt x="0" y="722494"/>
                    <a:pt x="0" y="717739"/>
                  </a:cubicBezTo>
                  <a:lnTo>
                    <a:pt x="0" y="17930"/>
                  </a:lnTo>
                  <a:cubicBezTo>
                    <a:pt x="0" y="13175"/>
                    <a:pt x="1889" y="8614"/>
                    <a:pt x="5252" y="5252"/>
                  </a:cubicBezTo>
                  <a:cubicBezTo>
                    <a:pt x="8614" y="1889"/>
                    <a:pt x="13175" y="0"/>
                    <a:pt x="17930" y="0"/>
                  </a:cubicBezTo>
                  <a:close/>
                </a:path>
              </a:pathLst>
            </a:custGeom>
            <a:solidFill>
              <a:srgbClr val="00B58F"/>
            </a:solidFill>
            <a:ln cap="sq">
              <a:noFill/>
              <a:prstDash val="solid"/>
              <a:miter/>
            </a:ln>
          </p:spPr>
        </p:sp>
        <p:sp>
          <p:nvSpPr>
            <p:cNvPr name="TextBox 5" id="5"/>
            <p:cNvSpPr txBox="true"/>
            <p:nvPr/>
          </p:nvSpPr>
          <p:spPr>
            <a:xfrm>
              <a:off x="0" y="-38100"/>
              <a:ext cx="1874657" cy="773769"/>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8623776" y="5578497"/>
            <a:ext cx="8635524" cy="3388827"/>
            <a:chOff x="0" y="0"/>
            <a:chExt cx="1874657" cy="735669"/>
          </a:xfrm>
        </p:grpSpPr>
        <p:sp>
          <p:nvSpPr>
            <p:cNvPr name="Freeform 7" id="7"/>
            <p:cNvSpPr/>
            <p:nvPr/>
          </p:nvSpPr>
          <p:spPr>
            <a:xfrm flipH="false" flipV="false" rot="0">
              <a:off x="0" y="0"/>
              <a:ext cx="1874657" cy="735669"/>
            </a:xfrm>
            <a:custGeom>
              <a:avLst/>
              <a:gdLst/>
              <a:ahLst/>
              <a:cxnLst/>
              <a:rect r="r" b="b" t="t" l="l"/>
              <a:pathLst>
                <a:path h="735669" w="1874657">
                  <a:moveTo>
                    <a:pt x="17930" y="0"/>
                  </a:moveTo>
                  <a:lnTo>
                    <a:pt x="1856727" y="0"/>
                  </a:lnTo>
                  <a:cubicBezTo>
                    <a:pt x="1861482" y="0"/>
                    <a:pt x="1866043" y="1889"/>
                    <a:pt x="1869405" y="5252"/>
                  </a:cubicBezTo>
                  <a:cubicBezTo>
                    <a:pt x="1872768" y="8614"/>
                    <a:pt x="1874657" y="13175"/>
                    <a:pt x="1874657" y="17930"/>
                  </a:cubicBezTo>
                  <a:lnTo>
                    <a:pt x="1874657" y="717739"/>
                  </a:lnTo>
                  <a:cubicBezTo>
                    <a:pt x="1874657" y="722494"/>
                    <a:pt x="1872768" y="727055"/>
                    <a:pt x="1869405" y="730418"/>
                  </a:cubicBezTo>
                  <a:cubicBezTo>
                    <a:pt x="1866043" y="733780"/>
                    <a:pt x="1861482" y="735669"/>
                    <a:pt x="1856727" y="735669"/>
                  </a:cubicBezTo>
                  <a:lnTo>
                    <a:pt x="17930" y="735669"/>
                  </a:lnTo>
                  <a:cubicBezTo>
                    <a:pt x="13175" y="735669"/>
                    <a:pt x="8614" y="733780"/>
                    <a:pt x="5252" y="730418"/>
                  </a:cubicBezTo>
                  <a:cubicBezTo>
                    <a:pt x="1889" y="727055"/>
                    <a:pt x="0" y="722494"/>
                    <a:pt x="0" y="717739"/>
                  </a:cubicBezTo>
                  <a:lnTo>
                    <a:pt x="0" y="17930"/>
                  </a:lnTo>
                  <a:cubicBezTo>
                    <a:pt x="0" y="13175"/>
                    <a:pt x="1889" y="8614"/>
                    <a:pt x="5252" y="5252"/>
                  </a:cubicBezTo>
                  <a:cubicBezTo>
                    <a:pt x="8614" y="1889"/>
                    <a:pt x="13175" y="0"/>
                    <a:pt x="17930" y="0"/>
                  </a:cubicBezTo>
                  <a:close/>
                </a:path>
              </a:pathLst>
            </a:custGeom>
            <a:solidFill>
              <a:srgbClr val="00B58F"/>
            </a:solidFill>
            <a:ln cap="sq">
              <a:noFill/>
              <a:prstDash val="solid"/>
              <a:miter/>
            </a:ln>
          </p:spPr>
        </p:sp>
        <p:sp>
          <p:nvSpPr>
            <p:cNvPr name="TextBox 8" id="8"/>
            <p:cNvSpPr txBox="true"/>
            <p:nvPr/>
          </p:nvSpPr>
          <p:spPr>
            <a:xfrm>
              <a:off x="0" y="-38100"/>
              <a:ext cx="1874657" cy="773769"/>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8446448" y="1028700"/>
            <a:ext cx="7442961" cy="581952"/>
            <a:chOff x="0" y="0"/>
            <a:chExt cx="5095792" cy="398431"/>
          </a:xfrm>
        </p:grpSpPr>
        <p:sp>
          <p:nvSpPr>
            <p:cNvPr name="Freeform 10" id="10"/>
            <p:cNvSpPr/>
            <p:nvPr/>
          </p:nvSpPr>
          <p:spPr>
            <a:xfrm flipH="false" flipV="false" rot="0">
              <a:off x="6045" y="0"/>
              <a:ext cx="5083701" cy="398431"/>
            </a:xfrm>
            <a:custGeom>
              <a:avLst/>
              <a:gdLst/>
              <a:ahLst/>
              <a:cxnLst/>
              <a:rect r="r" b="b" t="t" l="l"/>
              <a:pathLst>
                <a:path h="398431" w="5083701">
                  <a:moveTo>
                    <a:pt x="212758" y="0"/>
                  </a:moveTo>
                  <a:lnTo>
                    <a:pt x="5074144" y="0"/>
                  </a:lnTo>
                  <a:cubicBezTo>
                    <a:pt x="5077470" y="0"/>
                    <a:pt x="5080557" y="1729"/>
                    <a:pt x="5082294" y="4565"/>
                  </a:cubicBezTo>
                  <a:cubicBezTo>
                    <a:pt x="5084031" y="7401"/>
                    <a:pt x="5084169" y="10936"/>
                    <a:pt x="5082658" y="13899"/>
                  </a:cubicBezTo>
                  <a:lnTo>
                    <a:pt x="4893635" y="384532"/>
                  </a:lnTo>
                  <a:cubicBezTo>
                    <a:pt x="4889285" y="393061"/>
                    <a:pt x="4880519" y="398431"/>
                    <a:pt x="4870944" y="398431"/>
                  </a:cubicBezTo>
                  <a:lnTo>
                    <a:pt x="9558" y="398431"/>
                  </a:lnTo>
                  <a:cubicBezTo>
                    <a:pt x="6232" y="398431"/>
                    <a:pt x="3145" y="396702"/>
                    <a:pt x="1408" y="393866"/>
                  </a:cubicBezTo>
                  <a:cubicBezTo>
                    <a:pt x="-329" y="391030"/>
                    <a:pt x="-467" y="387494"/>
                    <a:pt x="1044" y="384532"/>
                  </a:cubicBezTo>
                  <a:lnTo>
                    <a:pt x="190066" y="13899"/>
                  </a:lnTo>
                  <a:cubicBezTo>
                    <a:pt x="194417" y="5370"/>
                    <a:pt x="203183" y="0"/>
                    <a:pt x="212758" y="0"/>
                  </a:cubicBezTo>
                  <a:close/>
                </a:path>
              </a:pathLst>
            </a:custGeom>
            <a:solidFill>
              <a:srgbClr val="EDF6F9"/>
            </a:solidFill>
          </p:spPr>
        </p:sp>
        <p:sp>
          <p:nvSpPr>
            <p:cNvPr name="TextBox 11" id="11"/>
            <p:cNvSpPr txBox="true"/>
            <p:nvPr/>
          </p:nvSpPr>
          <p:spPr>
            <a:xfrm>
              <a:off x="101600" y="-38100"/>
              <a:ext cx="4892592" cy="436531"/>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8446448" y="5287521"/>
            <a:ext cx="7442961" cy="581952"/>
            <a:chOff x="0" y="0"/>
            <a:chExt cx="5095792" cy="398431"/>
          </a:xfrm>
        </p:grpSpPr>
        <p:sp>
          <p:nvSpPr>
            <p:cNvPr name="Freeform 13" id="13"/>
            <p:cNvSpPr/>
            <p:nvPr/>
          </p:nvSpPr>
          <p:spPr>
            <a:xfrm flipH="false" flipV="false" rot="0">
              <a:off x="6045" y="0"/>
              <a:ext cx="5083701" cy="398431"/>
            </a:xfrm>
            <a:custGeom>
              <a:avLst/>
              <a:gdLst/>
              <a:ahLst/>
              <a:cxnLst/>
              <a:rect r="r" b="b" t="t" l="l"/>
              <a:pathLst>
                <a:path h="398431" w="5083701">
                  <a:moveTo>
                    <a:pt x="212758" y="0"/>
                  </a:moveTo>
                  <a:lnTo>
                    <a:pt x="5074144" y="0"/>
                  </a:lnTo>
                  <a:cubicBezTo>
                    <a:pt x="5077470" y="0"/>
                    <a:pt x="5080557" y="1729"/>
                    <a:pt x="5082294" y="4565"/>
                  </a:cubicBezTo>
                  <a:cubicBezTo>
                    <a:pt x="5084031" y="7401"/>
                    <a:pt x="5084169" y="10936"/>
                    <a:pt x="5082658" y="13899"/>
                  </a:cubicBezTo>
                  <a:lnTo>
                    <a:pt x="4893635" y="384532"/>
                  </a:lnTo>
                  <a:cubicBezTo>
                    <a:pt x="4889285" y="393061"/>
                    <a:pt x="4880519" y="398431"/>
                    <a:pt x="4870944" y="398431"/>
                  </a:cubicBezTo>
                  <a:lnTo>
                    <a:pt x="9558" y="398431"/>
                  </a:lnTo>
                  <a:cubicBezTo>
                    <a:pt x="6232" y="398431"/>
                    <a:pt x="3145" y="396702"/>
                    <a:pt x="1408" y="393866"/>
                  </a:cubicBezTo>
                  <a:cubicBezTo>
                    <a:pt x="-329" y="391030"/>
                    <a:pt x="-467" y="387494"/>
                    <a:pt x="1044" y="384532"/>
                  </a:cubicBezTo>
                  <a:lnTo>
                    <a:pt x="190066" y="13899"/>
                  </a:lnTo>
                  <a:cubicBezTo>
                    <a:pt x="194417" y="5370"/>
                    <a:pt x="203183" y="0"/>
                    <a:pt x="212758" y="0"/>
                  </a:cubicBezTo>
                  <a:close/>
                </a:path>
              </a:pathLst>
            </a:custGeom>
            <a:solidFill>
              <a:srgbClr val="EDF6F9"/>
            </a:solidFill>
          </p:spPr>
        </p:sp>
        <p:sp>
          <p:nvSpPr>
            <p:cNvPr name="TextBox 14" id="14"/>
            <p:cNvSpPr txBox="true"/>
            <p:nvPr/>
          </p:nvSpPr>
          <p:spPr>
            <a:xfrm>
              <a:off x="101600" y="-38100"/>
              <a:ext cx="4892592" cy="436531"/>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0129901" y="4417527"/>
            <a:ext cx="7442961" cy="581952"/>
            <a:chOff x="0" y="0"/>
            <a:chExt cx="5095792" cy="398431"/>
          </a:xfrm>
        </p:grpSpPr>
        <p:sp>
          <p:nvSpPr>
            <p:cNvPr name="Freeform 16" id="16"/>
            <p:cNvSpPr/>
            <p:nvPr/>
          </p:nvSpPr>
          <p:spPr>
            <a:xfrm flipH="false" flipV="false" rot="0">
              <a:off x="6045" y="0"/>
              <a:ext cx="5083701" cy="398431"/>
            </a:xfrm>
            <a:custGeom>
              <a:avLst/>
              <a:gdLst/>
              <a:ahLst/>
              <a:cxnLst/>
              <a:rect r="r" b="b" t="t" l="l"/>
              <a:pathLst>
                <a:path h="398431" w="5083701">
                  <a:moveTo>
                    <a:pt x="212758" y="0"/>
                  </a:moveTo>
                  <a:lnTo>
                    <a:pt x="5074144" y="0"/>
                  </a:lnTo>
                  <a:cubicBezTo>
                    <a:pt x="5077470" y="0"/>
                    <a:pt x="5080557" y="1729"/>
                    <a:pt x="5082294" y="4565"/>
                  </a:cubicBezTo>
                  <a:cubicBezTo>
                    <a:pt x="5084031" y="7401"/>
                    <a:pt x="5084169" y="10936"/>
                    <a:pt x="5082658" y="13899"/>
                  </a:cubicBezTo>
                  <a:lnTo>
                    <a:pt x="4893635" y="384532"/>
                  </a:lnTo>
                  <a:cubicBezTo>
                    <a:pt x="4889285" y="393061"/>
                    <a:pt x="4880519" y="398431"/>
                    <a:pt x="4870944" y="398431"/>
                  </a:cubicBezTo>
                  <a:lnTo>
                    <a:pt x="9558" y="398431"/>
                  </a:lnTo>
                  <a:cubicBezTo>
                    <a:pt x="6232" y="398431"/>
                    <a:pt x="3145" y="396702"/>
                    <a:pt x="1408" y="393866"/>
                  </a:cubicBezTo>
                  <a:cubicBezTo>
                    <a:pt x="-329" y="391030"/>
                    <a:pt x="-467" y="387494"/>
                    <a:pt x="1044" y="384532"/>
                  </a:cubicBezTo>
                  <a:lnTo>
                    <a:pt x="190066" y="13899"/>
                  </a:lnTo>
                  <a:cubicBezTo>
                    <a:pt x="194417" y="5370"/>
                    <a:pt x="203183" y="0"/>
                    <a:pt x="212758" y="0"/>
                  </a:cubicBezTo>
                  <a:close/>
                </a:path>
              </a:pathLst>
            </a:custGeom>
            <a:solidFill>
              <a:srgbClr val="EDF6F9"/>
            </a:solidFill>
          </p:spPr>
        </p:sp>
        <p:sp>
          <p:nvSpPr>
            <p:cNvPr name="TextBox 17" id="17"/>
            <p:cNvSpPr txBox="true"/>
            <p:nvPr/>
          </p:nvSpPr>
          <p:spPr>
            <a:xfrm>
              <a:off x="101600" y="-38100"/>
              <a:ext cx="4892592" cy="436531"/>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0129901" y="8676348"/>
            <a:ext cx="7442961" cy="581952"/>
            <a:chOff x="0" y="0"/>
            <a:chExt cx="5095792" cy="398431"/>
          </a:xfrm>
        </p:grpSpPr>
        <p:sp>
          <p:nvSpPr>
            <p:cNvPr name="Freeform 19" id="19"/>
            <p:cNvSpPr/>
            <p:nvPr/>
          </p:nvSpPr>
          <p:spPr>
            <a:xfrm flipH="false" flipV="false" rot="0">
              <a:off x="6045" y="0"/>
              <a:ext cx="5083701" cy="398431"/>
            </a:xfrm>
            <a:custGeom>
              <a:avLst/>
              <a:gdLst/>
              <a:ahLst/>
              <a:cxnLst/>
              <a:rect r="r" b="b" t="t" l="l"/>
              <a:pathLst>
                <a:path h="398431" w="5083701">
                  <a:moveTo>
                    <a:pt x="212758" y="0"/>
                  </a:moveTo>
                  <a:lnTo>
                    <a:pt x="5074144" y="0"/>
                  </a:lnTo>
                  <a:cubicBezTo>
                    <a:pt x="5077470" y="0"/>
                    <a:pt x="5080557" y="1729"/>
                    <a:pt x="5082294" y="4565"/>
                  </a:cubicBezTo>
                  <a:cubicBezTo>
                    <a:pt x="5084031" y="7401"/>
                    <a:pt x="5084169" y="10936"/>
                    <a:pt x="5082658" y="13899"/>
                  </a:cubicBezTo>
                  <a:lnTo>
                    <a:pt x="4893635" y="384532"/>
                  </a:lnTo>
                  <a:cubicBezTo>
                    <a:pt x="4889285" y="393061"/>
                    <a:pt x="4880519" y="398431"/>
                    <a:pt x="4870944" y="398431"/>
                  </a:cubicBezTo>
                  <a:lnTo>
                    <a:pt x="9558" y="398431"/>
                  </a:lnTo>
                  <a:cubicBezTo>
                    <a:pt x="6232" y="398431"/>
                    <a:pt x="3145" y="396702"/>
                    <a:pt x="1408" y="393866"/>
                  </a:cubicBezTo>
                  <a:cubicBezTo>
                    <a:pt x="-329" y="391030"/>
                    <a:pt x="-467" y="387494"/>
                    <a:pt x="1044" y="384532"/>
                  </a:cubicBezTo>
                  <a:lnTo>
                    <a:pt x="190066" y="13899"/>
                  </a:lnTo>
                  <a:cubicBezTo>
                    <a:pt x="194417" y="5370"/>
                    <a:pt x="203183" y="0"/>
                    <a:pt x="212758" y="0"/>
                  </a:cubicBezTo>
                  <a:close/>
                </a:path>
              </a:pathLst>
            </a:custGeom>
            <a:solidFill>
              <a:srgbClr val="EDF6F9"/>
            </a:solidFill>
          </p:spPr>
        </p:sp>
        <p:sp>
          <p:nvSpPr>
            <p:cNvPr name="TextBox 20" id="20"/>
            <p:cNvSpPr txBox="true"/>
            <p:nvPr/>
          </p:nvSpPr>
          <p:spPr>
            <a:xfrm>
              <a:off x="101600" y="-38100"/>
              <a:ext cx="4892592" cy="436531"/>
            </a:xfrm>
            <a:prstGeom prst="rect">
              <a:avLst/>
            </a:prstGeom>
          </p:spPr>
          <p:txBody>
            <a:bodyPr anchor="ctr" rtlCol="false" tIns="50800" lIns="50800" bIns="50800" rIns="50800"/>
            <a:lstStyle/>
            <a:p>
              <a:pPr algn="ctr">
                <a:lnSpc>
                  <a:spcPts val="2659"/>
                </a:lnSpc>
              </a:pPr>
            </a:p>
          </p:txBody>
        </p:sp>
      </p:grpSp>
      <p:pic>
        <p:nvPicPr>
          <p:cNvPr name="Picture 21" id="21"/>
          <p:cNvPicPr>
            <a:picLocks noChangeAspect="true"/>
          </p:cNvPicPr>
          <p:nvPr/>
        </p:nvPicPr>
        <p:blipFill>
          <a:blip r:embed="rId4"/>
          <a:stretch>
            <a:fillRect/>
          </a:stretch>
        </p:blipFill>
        <p:spPr>
          <a:xfrm rot="0">
            <a:off x="8766852" y="6107796"/>
            <a:ext cx="2283625" cy="2283625"/>
          </a:xfrm>
          <a:prstGeom prst="rect">
            <a:avLst/>
          </a:prstGeom>
        </p:spPr>
      </p:pic>
      <p:pic>
        <p:nvPicPr>
          <p:cNvPr name="Picture 22" id="22"/>
          <p:cNvPicPr>
            <a:picLocks noChangeAspect="true"/>
          </p:cNvPicPr>
          <p:nvPr/>
        </p:nvPicPr>
        <p:blipFill>
          <a:blip r:embed="rId5"/>
          <a:stretch>
            <a:fillRect/>
          </a:stretch>
        </p:blipFill>
        <p:spPr>
          <a:xfrm rot="0">
            <a:off x="8766852" y="1891327"/>
            <a:ext cx="2283625" cy="2283625"/>
          </a:xfrm>
          <a:prstGeom prst="rect">
            <a:avLst/>
          </a:prstGeom>
        </p:spPr>
      </p:pic>
      <p:sp>
        <p:nvSpPr>
          <p:cNvPr name="Freeform 23" id="23"/>
          <p:cNvSpPr/>
          <p:nvPr/>
        </p:nvSpPr>
        <p:spPr>
          <a:xfrm flipH="false" flipV="false" rot="0">
            <a:off x="11444311" y="3591190"/>
            <a:ext cx="344713" cy="278904"/>
          </a:xfrm>
          <a:custGeom>
            <a:avLst/>
            <a:gdLst/>
            <a:ahLst/>
            <a:cxnLst/>
            <a:rect r="r" b="b" t="t" l="l"/>
            <a:pathLst>
              <a:path h="278904" w="344713">
                <a:moveTo>
                  <a:pt x="0" y="0"/>
                </a:moveTo>
                <a:lnTo>
                  <a:pt x="344713" y="0"/>
                </a:lnTo>
                <a:lnTo>
                  <a:pt x="344713" y="278904"/>
                </a:lnTo>
                <a:lnTo>
                  <a:pt x="0" y="2789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4" id="24"/>
          <p:cNvSpPr/>
          <p:nvPr/>
        </p:nvSpPr>
        <p:spPr>
          <a:xfrm flipH="false" flipV="false" rot="0">
            <a:off x="11444311" y="7878714"/>
            <a:ext cx="344713" cy="278904"/>
          </a:xfrm>
          <a:custGeom>
            <a:avLst/>
            <a:gdLst/>
            <a:ahLst/>
            <a:cxnLst/>
            <a:rect r="r" b="b" t="t" l="l"/>
            <a:pathLst>
              <a:path h="278904" w="344713">
                <a:moveTo>
                  <a:pt x="0" y="0"/>
                </a:moveTo>
                <a:lnTo>
                  <a:pt x="344713" y="0"/>
                </a:lnTo>
                <a:lnTo>
                  <a:pt x="344713" y="278904"/>
                </a:lnTo>
                <a:lnTo>
                  <a:pt x="0" y="2789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5" id="25"/>
          <p:cNvSpPr/>
          <p:nvPr/>
        </p:nvSpPr>
        <p:spPr>
          <a:xfrm flipH="false" flipV="false" rot="0">
            <a:off x="11847193" y="3591190"/>
            <a:ext cx="344713" cy="278904"/>
          </a:xfrm>
          <a:custGeom>
            <a:avLst/>
            <a:gdLst/>
            <a:ahLst/>
            <a:cxnLst/>
            <a:rect r="r" b="b" t="t" l="l"/>
            <a:pathLst>
              <a:path h="278904" w="344713">
                <a:moveTo>
                  <a:pt x="0" y="0"/>
                </a:moveTo>
                <a:lnTo>
                  <a:pt x="344713" y="0"/>
                </a:lnTo>
                <a:lnTo>
                  <a:pt x="344713" y="278904"/>
                </a:lnTo>
                <a:lnTo>
                  <a:pt x="0" y="2789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6" id="26"/>
          <p:cNvSpPr/>
          <p:nvPr/>
        </p:nvSpPr>
        <p:spPr>
          <a:xfrm flipH="false" flipV="false" rot="0">
            <a:off x="11847193" y="7878714"/>
            <a:ext cx="344713" cy="278904"/>
          </a:xfrm>
          <a:custGeom>
            <a:avLst/>
            <a:gdLst/>
            <a:ahLst/>
            <a:cxnLst/>
            <a:rect r="r" b="b" t="t" l="l"/>
            <a:pathLst>
              <a:path h="278904" w="344713">
                <a:moveTo>
                  <a:pt x="0" y="0"/>
                </a:moveTo>
                <a:lnTo>
                  <a:pt x="344713" y="0"/>
                </a:lnTo>
                <a:lnTo>
                  <a:pt x="344713" y="278904"/>
                </a:lnTo>
                <a:lnTo>
                  <a:pt x="0" y="2789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7" id="27"/>
          <p:cNvSpPr/>
          <p:nvPr/>
        </p:nvSpPr>
        <p:spPr>
          <a:xfrm flipH="false" flipV="false" rot="0">
            <a:off x="12250075" y="3591190"/>
            <a:ext cx="344713" cy="278904"/>
          </a:xfrm>
          <a:custGeom>
            <a:avLst/>
            <a:gdLst/>
            <a:ahLst/>
            <a:cxnLst/>
            <a:rect r="r" b="b" t="t" l="l"/>
            <a:pathLst>
              <a:path h="278904" w="344713">
                <a:moveTo>
                  <a:pt x="0" y="0"/>
                </a:moveTo>
                <a:lnTo>
                  <a:pt x="344713" y="0"/>
                </a:lnTo>
                <a:lnTo>
                  <a:pt x="344713" y="278904"/>
                </a:lnTo>
                <a:lnTo>
                  <a:pt x="0" y="2789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8" id="28"/>
          <p:cNvSpPr/>
          <p:nvPr/>
        </p:nvSpPr>
        <p:spPr>
          <a:xfrm flipH="false" flipV="false" rot="0">
            <a:off x="12769182" y="7878714"/>
            <a:ext cx="344713" cy="278904"/>
          </a:xfrm>
          <a:custGeom>
            <a:avLst/>
            <a:gdLst/>
            <a:ahLst/>
            <a:cxnLst/>
            <a:rect r="r" b="b" t="t" l="l"/>
            <a:pathLst>
              <a:path h="278904" w="344713">
                <a:moveTo>
                  <a:pt x="0" y="0"/>
                </a:moveTo>
                <a:lnTo>
                  <a:pt x="344713" y="0"/>
                </a:lnTo>
                <a:lnTo>
                  <a:pt x="344713" y="278904"/>
                </a:lnTo>
                <a:lnTo>
                  <a:pt x="0" y="2789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9" id="29"/>
          <p:cNvSpPr/>
          <p:nvPr/>
        </p:nvSpPr>
        <p:spPr>
          <a:xfrm flipH="false" flipV="false" rot="0">
            <a:off x="13054819" y="3591190"/>
            <a:ext cx="344713" cy="278904"/>
          </a:xfrm>
          <a:custGeom>
            <a:avLst/>
            <a:gdLst/>
            <a:ahLst/>
            <a:cxnLst/>
            <a:rect r="r" b="b" t="t" l="l"/>
            <a:pathLst>
              <a:path h="278904" w="344713">
                <a:moveTo>
                  <a:pt x="0" y="0"/>
                </a:moveTo>
                <a:lnTo>
                  <a:pt x="344713" y="0"/>
                </a:lnTo>
                <a:lnTo>
                  <a:pt x="344713" y="278904"/>
                </a:lnTo>
                <a:lnTo>
                  <a:pt x="0" y="2789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0" id="30"/>
          <p:cNvSpPr/>
          <p:nvPr/>
        </p:nvSpPr>
        <p:spPr>
          <a:xfrm flipH="false" flipV="false" rot="0">
            <a:off x="13169119" y="7900070"/>
            <a:ext cx="344713" cy="278904"/>
          </a:xfrm>
          <a:custGeom>
            <a:avLst/>
            <a:gdLst/>
            <a:ahLst/>
            <a:cxnLst/>
            <a:rect r="r" b="b" t="t" l="l"/>
            <a:pathLst>
              <a:path h="278904" w="344713">
                <a:moveTo>
                  <a:pt x="0" y="0"/>
                </a:moveTo>
                <a:lnTo>
                  <a:pt x="344713" y="0"/>
                </a:lnTo>
                <a:lnTo>
                  <a:pt x="344713" y="278904"/>
                </a:lnTo>
                <a:lnTo>
                  <a:pt x="0" y="2789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1" id="31"/>
          <p:cNvSpPr/>
          <p:nvPr/>
        </p:nvSpPr>
        <p:spPr>
          <a:xfrm flipH="false" flipV="false" rot="0">
            <a:off x="12652956" y="3591190"/>
            <a:ext cx="344713" cy="278904"/>
          </a:xfrm>
          <a:custGeom>
            <a:avLst/>
            <a:gdLst/>
            <a:ahLst/>
            <a:cxnLst/>
            <a:rect r="r" b="b" t="t" l="l"/>
            <a:pathLst>
              <a:path h="278904" w="344713">
                <a:moveTo>
                  <a:pt x="0" y="0"/>
                </a:moveTo>
                <a:lnTo>
                  <a:pt x="344713" y="0"/>
                </a:lnTo>
                <a:lnTo>
                  <a:pt x="344713" y="278904"/>
                </a:lnTo>
                <a:lnTo>
                  <a:pt x="0" y="2789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32" id="32"/>
          <p:cNvGrpSpPr/>
          <p:nvPr/>
        </p:nvGrpSpPr>
        <p:grpSpPr>
          <a:xfrm rot="0">
            <a:off x="785253" y="5881674"/>
            <a:ext cx="7184884" cy="2588646"/>
            <a:chOff x="0" y="0"/>
            <a:chExt cx="1855826" cy="668637"/>
          </a:xfrm>
        </p:grpSpPr>
        <p:sp>
          <p:nvSpPr>
            <p:cNvPr name="Freeform 33" id="33"/>
            <p:cNvSpPr/>
            <p:nvPr/>
          </p:nvSpPr>
          <p:spPr>
            <a:xfrm flipH="false" flipV="false" rot="0">
              <a:off x="0" y="0"/>
              <a:ext cx="1855826" cy="668637"/>
            </a:xfrm>
            <a:custGeom>
              <a:avLst/>
              <a:gdLst/>
              <a:ahLst/>
              <a:cxnLst/>
              <a:rect r="r" b="b" t="t" l="l"/>
              <a:pathLst>
                <a:path h="668637" w="1855826">
                  <a:moveTo>
                    <a:pt x="64652" y="0"/>
                  </a:moveTo>
                  <a:lnTo>
                    <a:pt x="1791174" y="0"/>
                  </a:lnTo>
                  <a:cubicBezTo>
                    <a:pt x="1808321" y="0"/>
                    <a:pt x="1824766" y="6812"/>
                    <a:pt x="1836890" y="18936"/>
                  </a:cubicBezTo>
                  <a:cubicBezTo>
                    <a:pt x="1849015" y="31061"/>
                    <a:pt x="1855826" y="47505"/>
                    <a:pt x="1855826" y="64652"/>
                  </a:cubicBezTo>
                  <a:lnTo>
                    <a:pt x="1855826" y="603985"/>
                  </a:lnTo>
                  <a:cubicBezTo>
                    <a:pt x="1855826" y="621132"/>
                    <a:pt x="1849015" y="637576"/>
                    <a:pt x="1836890" y="649701"/>
                  </a:cubicBezTo>
                  <a:cubicBezTo>
                    <a:pt x="1824766" y="661825"/>
                    <a:pt x="1808321" y="668637"/>
                    <a:pt x="1791174" y="668637"/>
                  </a:cubicBezTo>
                  <a:lnTo>
                    <a:pt x="64652" y="668637"/>
                  </a:lnTo>
                  <a:cubicBezTo>
                    <a:pt x="47505" y="668637"/>
                    <a:pt x="31061" y="661825"/>
                    <a:pt x="18936" y="649701"/>
                  </a:cubicBezTo>
                  <a:cubicBezTo>
                    <a:pt x="6812" y="637576"/>
                    <a:pt x="0" y="621132"/>
                    <a:pt x="0" y="603985"/>
                  </a:cubicBezTo>
                  <a:lnTo>
                    <a:pt x="0" y="64652"/>
                  </a:lnTo>
                  <a:cubicBezTo>
                    <a:pt x="0" y="47505"/>
                    <a:pt x="6812" y="31061"/>
                    <a:pt x="18936" y="18936"/>
                  </a:cubicBezTo>
                  <a:cubicBezTo>
                    <a:pt x="31061" y="6812"/>
                    <a:pt x="47505" y="0"/>
                    <a:pt x="64652" y="0"/>
                  </a:cubicBezTo>
                  <a:close/>
                </a:path>
              </a:pathLst>
            </a:custGeom>
            <a:ln w="19050" cap="rnd">
              <a:solidFill>
                <a:srgbClr val="00B58F"/>
              </a:solidFill>
              <a:prstDash val="solid"/>
              <a:round/>
            </a:ln>
          </p:spPr>
        </p:sp>
        <p:sp>
          <p:nvSpPr>
            <p:cNvPr name="TextBox 34" id="34"/>
            <p:cNvSpPr txBox="true"/>
            <p:nvPr/>
          </p:nvSpPr>
          <p:spPr>
            <a:xfrm>
              <a:off x="0" y="-38100"/>
              <a:ext cx="1855826" cy="706737"/>
            </a:xfrm>
            <a:prstGeom prst="rect">
              <a:avLst/>
            </a:prstGeom>
          </p:spPr>
          <p:txBody>
            <a:bodyPr anchor="ctr" rtlCol="false" tIns="50800" lIns="50800" bIns="50800" rIns="50800"/>
            <a:lstStyle/>
            <a:p>
              <a:pPr algn="ctr">
                <a:lnSpc>
                  <a:spcPts val="2659"/>
                </a:lnSpc>
                <a:spcBef>
                  <a:spcPct val="0"/>
                </a:spcBef>
              </a:pPr>
            </a:p>
          </p:txBody>
        </p:sp>
      </p:grpSp>
      <p:grpSp>
        <p:nvGrpSpPr>
          <p:cNvPr name="Group 35" id="35"/>
          <p:cNvGrpSpPr/>
          <p:nvPr/>
        </p:nvGrpSpPr>
        <p:grpSpPr>
          <a:xfrm rot="0">
            <a:off x="1028700" y="5590698"/>
            <a:ext cx="6655748" cy="3325395"/>
            <a:chOff x="0" y="0"/>
            <a:chExt cx="8459470" cy="4226584"/>
          </a:xfrm>
        </p:grpSpPr>
        <p:sp>
          <p:nvSpPr>
            <p:cNvPr name="Freeform 36" id="36"/>
            <p:cNvSpPr/>
            <p:nvPr/>
          </p:nvSpPr>
          <p:spPr>
            <a:xfrm flipH="false" flipV="false" rot="0">
              <a:off x="0" y="0"/>
              <a:ext cx="8459470" cy="4225175"/>
            </a:xfrm>
            <a:custGeom>
              <a:avLst/>
              <a:gdLst/>
              <a:ahLst/>
              <a:cxnLst/>
              <a:rect r="r" b="b" t="t" l="l"/>
              <a:pathLst>
                <a:path h="4225175" w="8459470">
                  <a:moveTo>
                    <a:pt x="458470" y="0"/>
                  </a:moveTo>
                  <a:lnTo>
                    <a:pt x="8001000" y="0"/>
                  </a:lnTo>
                  <a:cubicBezTo>
                    <a:pt x="8255000" y="0"/>
                    <a:pt x="8459470" y="228236"/>
                    <a:pt x="8459470" y="508599"/>
                  </a:cubicBezTo>
                  <a:lnTo>
                    <a:pt x="8459470" y="2573990"/>
                  </a:lnTo>
                  <a:cubicBezTo>
                    <a:pt x="8459470" y="2719102"/>
                    <a:pt x="8403590" y="2858580"/>
                    <a:pt x="8304530" y="2954382"/>
                  </a:cubicBezTo>
                  <a:lnTo>
                    <a:pt x="7141210" y="4096969"/>
                  </a:lnTo>
                  <a:cubicBezTo>
                    <a:pt x="7057390" y="4180091"/>
                    <a:pt x="6949440" y="4225175"/>
                    <a:pt x="6836410" y="4225175"/>
                  </a:cubicBezTo>
                  <a:lnTo>
                    <a:pt x="3760470" y="4225175"/>
                  </a:lnTo>
                  <a:cubicBezTo>
                    <a:pt x="3506470" y="4225175"/>
                    <a:pt x="3302000" y="3996939"/>
                    <a:pt x="3302000" y="3716576"/>
                  </a:cubicBezTo>
                  <a:lnTo>
                    <a:pt x="3302000" y="3579916"/>
                  </a:lnTo>
                  <a:cubicBezTo>
                    <a:pt x="3302000" y="3298144"/>
                    <a:pt x="3096260" y="3071318"/>
                    <a:pt x="2843530" y="3071318"/>
                  </a:cubicBezTo>
                  <a:lnTo>
                    <a:pt x="458470" y="3071318"/>
                  </a:lnTo>
                  <a:cubicBezTo>
                    <a:pt x="205740" y="3071318"/>
                    <a:pt x="0" y="2843082"/>
                    <a:pt x="0" y="2562719"/>
                  </a:cubicBezTo>
                  <a:lnTo>
                    <a:pt x="0" y="508599"/>
                  </a:lnTo>
                  <a:cubicBezTo>
                    <a:pt x="0" y="228236"/>
                    <a:pt x="205740" y="0"/>
                    <a:pt x="458470" y="0"/>
                  </a:cubicBezTo>
                  <a:close/>
                </a:path>
              </a:pathLst>
            </a:custGeom>
            <a:blipFill>
              <a:blip r:embed="rId10"/>
              <a:stretch>
                <a:fillRect l="0" t="-6242" r="0" b="-6242"/>
              </a:stretch>
            </a:blipFill>
          </p:spPr>
        </p:sp>
      </p:grpSp>
      <p:sp>
        <p:nvSpPr>
          <p:cNvPr name="TextBox 37" id="37"/>
          <p:cNvSpPr txBox="true"/>
          <p:nvPr/>
        </p:nvSpPr>
        <p:spPr>
          <a:xfrm rot="0">
            <a:off x="953562" y="1442053"/>
            <a:ext cx="7613064" cy="2467610"/>
          </a:xfrm>
          <a:prstGeom prst="rect">
            <a:avLst/>
          </a:prstGeom>
        </p:spPr>
        <p:txBody>
          <a:bodyPr anchor="t" rtlCol="false" tIns="0" lIns="0" bIns="0" rIns="0">
            <a:spAutoFit/>
          </a:bodyPr>
          <a:lstStyle/>
          <a:p>
            <a:pPr algn="l">
              <a:lnSpc>
                <a:spcPts val="6399"/>
              </a:lnSpc>
            </a:pPr>
            <a:r>
              <a:rPr lang="en-US" sz="6399">
                <a:solidFill>
                  <a:srgbClr val="0B132B"/>
                </a:solidFill>
                <a:latin typeface="Rubik One"/>
                <a:ea typeface="Rubik One"/>
                <a:cs typeface="Rubik One"/>
                <a:sym typeface="Rubik One"/>
              </a:rPr>
              <a:t>COST &amp; AFFORDABILITY KPIS</a:t>
            </a:r>
          </a:p>
        </p:txBody>
      </p:sp>
      <p:sp>
        <p:nvSpPr>
          <p:cNvPr name="TextBox 38" id="38"/>
          <p:cNvSpPr txBox="true"/>
          <p:nvPr/>
        </p:nvSpPr>
        <p:spPr>
          <a:xfrm rot="0">
            <a:off x="1353022" y="754961"/>
            <a:ext cx="2381625" cy="273685"/>
          </a:xfrm>
          <a:prstGeom prst="rect">
            <a:avLst/>
          </a:prstGeom>
        </p:spPr>
        <p:txBody>
          <a:bodyPr anchor="t" rtlCol="false" tIns="0" lIns="0" bIns="0" rIns="0">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 affordability </a:t>
            </a:r>
          </a:p>
        </p:txBody>
      </p:sp>
      <p:sp>
        <p:nvSpPr>
          <p:cNvPr name="TextBox 39" id="39"/>
          <p:cNvSpPr txBox="true"/>
          <p:nvPr/>
        </p:nvSpPr>
        <p:spPr>
          <a:xfrm rot="0">
            <a:off x="1028700" y="3976428"/>
            <a:ext cx="6111094" cy="826027"/>
          </a:xfrm>
          <a:prstGeom prst="rect">
            <a:avLst/>
          </a:prstGeom>
        </p:spPr>
        <p:txBody>
          <a:bodyPr anchor="t" rtlCol="false" tIns="0" lIns="0" bIns="0" rIns="0">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This dashboard compares the affordability and operational costs of petrol and electric vehicles using global market indicators.</a:t>
            </a:r>
          </a:p>
        </p:txBody>
      </p:sp>
      <p:sp>
        <p:nvSpPr>
          <p:cNvPr name="TextBox 40" id="40"/>
          <p:cNvSpPr txBox="true"/>
          <p:nvPr/>
        </p:nvSpPr>
        <p:spPr>
          <a:xfrm rot="0">
            <a:off x="11444311" y="2148304"/>
            <a:ext cx="5363646" cy="448310"/>
          </a:xfrm>
          <a:prstGeom prst="rect">
            <a:avLst/>
          </a:prstGeom>
        </p:spPr>
        <p:txBody>
          <a:bodyPr anchor="t" rtlCol="false" tIns="0" lIns="0" bIns="0" rIns="0">
            <a:spAutoFit/>
          </a:bodyPr>
          <a:lstStyle/>
          <a:p>
            <a:pPr algn="l">
              <a:lnSpc>
                <a:spcPts val="3399"/>
              </a:lnSpc>
            </a:pPr>
            <a:r>
              <a:rPr lang="en-US" sz="3399">
                <a:solidFill>
                  <a:srgbClr val="FFFFFF"/>
                </a:solidFill>
                <a:latin typeface="Rubik One"/>
                <a:ea typeface="Rubik One"/>
                <a:cs typeface="Rubik One"/>
                <a:sym typeface="Rubik One"/>
              </a:rPr>
              <a:t>EV CARS</a:t>
            </a:r>
          </a:p>
        </p:txBody>
      </p:sp>
      <p:sp>
        <p:nvSpPr>
          <p:cNvPr name="TextBox 41" id="41"/>
          <p:cNvSpPr txBox="true"/>
          <p:nvPr/>
        </p:nvSpPr>
        <p:spPr>
          <a:xfrm rot="0">
            <a:off x="11444311" y="6435828"/>
            <a:ext cx="4192549" cy="448310"/>
          </a:xfrm>
          <a:prstGeom prst="rect">
            <a:avLst/>
          </a:prstGeom>
        </p:spPr>
        <p:txBody>
          <a:bodyPr anchor="t" rtlCol="false" tIns="0" lIns="0" bIns="0" rIns="0">
            <a:spAutoFit/>
          </a:bodyPr>
          <a:lstStyle/>
          <a:p>
            <a:pPr algn="l">
              <a:lnSpc>
                <a:spcPts val="3399"/>
              </a:lnSpc>
            </a:pPr>
            <a:r>
              <a:rPr lang="en-US" sz="3399">
                <a:solidFill>
                  <a:srgbClr val="FFFFFF"/>
                </a:solidFill>
                <a:latin typeface="Rubik One"/>
                <a:ea typeface="Rubik One"/>
                <a:cs typeface="Rubik One"/>
                <a:sym typeface="Rubik One"/>
              </a:rPr>
              <a:t>Petrol Cars</a:t>
            </a:r>
          </a:p>
        </p:txBody>
      </p:sp>
      <p:sp>
        <p:nvSpPr>
          <p:cNvPr name="TextBox 42" id="42"/>
          <p:cNvSpPr txBox="true"/>
          <p:nvPr/>
        </p:nvSpPr>
        <p:spPr>
          <a:xfrm rot="0">
            <a:off x="11444311" y="2624595"/>
            <a:ext cx="5363646" cy="800154"/>
          </a:xfrm>
          <a:prstGeom prst="rect">
            <a:avLst/>
          </a:prstGeom>
        </p:spPr>
        <p:txBody>
          <a:bodyPr anchor="t" rtlCol="false" tIns="0" lIns="0" bIns="0" rIns="0">
            <a:spAutoFit/>
          </a:bodyPr>
          <a:lstStyle/>
          <a:p>
            <a:pPr algn="l">
              <a:lnSpc>
                <a:spcPts val="2100"/>
              </a:lnSpc>
            </a:pPr>
            <a:r>
              <a:rPr lang="en-US" sz="1500" spc="37">
                <a:solidFill>
                  <a:srgbClr val="FFFFFF"/>
                </a:solidFill>
                <a:latin typeface="Bricolage Grotesque"/>
                <a:ea typeface="Bricolage Grotesque"/>
                <a:cs typeface="Bricolage Grotesque"/>
                <a:sym typeface="Bricolage Grotesque"/>
              </a:rPr>
              <a:t>Electric vehicles offer lower running costs and better energy efficiency, achieving a global affordability score of 57%.</a:t>
            </a:r>
          </a:p>
        </p:txBody>
      </p:sp>
      <p:sp>
        <p:nvSpPr>
          <p:cNvPr name="TextBox 43" id="43"/>
          <p:cNvSpPr txBox="true"/>
          <p:nvPr/>
        </p:nvSpPr>
        <p:spPr>
          <a:xfrm rot="0">
            <a:off x="11444311" y="6912118"/>
            <a:ext cx="5363646" cy="826027"/>
          </a:xfrm>
          <a:prstGeom prst="rect">
            <a:avLst/>
          </a:prstGeom>
        </p:spPr>
        <p:txBody>
          <a:bodyPr anchor="t" rtlCol="false" tIns="0" lIns="0" bIns="0" rIns="0">
            <a:spAutoFit/>
          </a:bodyPr>
          <a:lstStyle/>
          <a:p>
            <a:pPr algn="l">
              <a:lnSpc>
                <a:spcPts val="2239"/>
              </a:lnSpc>
            </a:pPr>
            <a:r>
              <a:rPr lang="en-US" sz="1599" spc="39">
                <a:solidFill>
                  <a:srgbClr val="FFFFFF"/>
                </a:solidFill>
                <a:latin typeface="Bricolage Grotesque"/>
                <a:ea typeface="Bricolage Grotesque"/>
                <a:cs typeface="Bricolage Grotesque"/>
                <a:sym typeface="Bricolage Grotesque"/>
              </a:rPr>
              <a:t>Petrol vehicles show higher operating costs due to increasing fuel prices and maintenance expenses, reaching an affordability score of 89%.</a:t>
            </a:r>
          </a:p>
        </p:txBody>
      </p:sp>
      <p:grpSp>
        <p:nvGrpSpPr>
          <p:cNvPr name="Group 44" id="44"/>
          <p:cNvGrpSpPr/>
          <p:nvPr/>
        </p:nvGrpSpPr>
        <p:grpSpPr>
          <a:xfrm rot="-5400000">
            <a:off x="2081859" y="7424637"/>
            <a:ext cx="557808" cy="2091367"/>
            <a:chOff x="0" y="0"/>
            <a:chExt cx="146912" cy="550813"/>
          </a:xfrm>
        </p:grpSpPr>
        <p:sp>
          <p:nvSpPr>
            <p:cNvPr name="Freeform 45" id="45"/>
            <p:cNvSpPr/>
            <p:nvPr/>
          </p:nvSpPr>
          <p:spPr>
            <a:xfrm flipH="false" flipV="false" rot="0">
              <a:off x="0" y="0"/>
              <a:ext cx="146912" cy="550813"/>
            </a:xfrm>
            <a:custGeom>
              <a:avLst/>
              <a:gdLst/>
              <a:ahLst/>
              <a:cxnLst/>
              <a:rect r="r" b="b" t="t" l="l"/>
              <a:pathLst>
                <a:path h="550813" w="146912">
                  <a:moveTo>
                    <a:pt x="73456" y="0"/>
                  </a:moveTo>
                  <a:lnTo>
                    <a:pt x="73456" y="0"/>
                  </a:lnTo>
                  <a:cubicBezTo>
                    <a:pt x="114025" y="0"/>
                    <a:pt x="146912" y="32887"/>
                    <a:pt x="146912" y="73456"/>
                  </a:cubicBezTo>
                  <a:lnTo>
                    <a:pt x="146912" y="477357"/>
                  </a:lnTo>
                  <a:cubicBezTo>
                    <a:pt x="146912" y="517925"/>
                    <a:pt x="114025" y="550813"/>
                    <a:pt x="73456" y="550813"/>
                  </a:cubicBezTo>
                  <a:lnTo>
                    <a:pt x="73456" y="550813"/>
                  </a:lnTo>
                  <a:cubicBezTo>
                    <a:pt x="32887" y="550813"/>
                    <a:pt x="0" y="517925"/>
                    <a:pt x="0" y="477357"/>
                  </a:cubicBezTo>
                  <a:lnTo>
                    <a:pt x="0" y="73456"/>
                  </a:lnTo>
                  <a:cubicBezTo>
                    <a:pt x="0" y="32887"/>
                    <a:pt x="32887" y="0"/>
                    <a:pt x="73456" y="0"/>
                  </a:cubicBezTo>
                  <a:close/>
                </a:path>
              </a:pathLst>
            </a:custGeom>
            <a:solidFill>
              <a:srgbClr val="00B58F"/>
            </a:solidFill>
          </p:spPr>
        </p:sp>
        <p:sp>
          <p:nvSpPr>
            <p:cNvPr name="TextBox 46" id="46"/>
            <p:cNvSpPr txBox="true"/>
            <p:nvPr/>
          </p:nvSpPr>
          <p:spPr>
            <a:xfrm>
              <a:off x="0" y="-38100"/>
              <a:ext cx="146912" cy="588913"/>
            </a:xfrm>
            <a:prstGeom prst="rect">
              <a:avLst/>
            </a:prstGeom>
          </p:spPr>
          <p:txBody>
            <a:bodyPr anchor="ctr" rtlCol="false" tIns="50800" lIns="50800" bIns="50800" rIns="50800"/>
            <a:lstStyle/>
            <a:p>
              <a:pPr algn="ctr">
                <a:lnSpc>
                  <a:spcPts val="2659"/>
                </a:lnSpc>
              </a:pPr>
            </a:p>
          </p:txBody>
        </p:sp>
      </p:grpSp>
      <p:grpSp>
        <p:nvGrpSpPr>
          <p:cNvPr name="Group 47" id="47"/>
          <p:cNvGrpSpPr/>
          <p:nvPr/>
        </p:nvGrpSpPr>
        <p:grpSpPr>
          <a:xfrm rot="0">
            <a:off x="11502671" y="9960324"/>
            <a:ext cx="9960587" cy="1142074"/>
            <a:chOff x="0" y="0"/>
            <a:chExt cx="2572779" cy="294993"/>
          </a:xfrm>
        </p:grpSpPr>
        <p:sp>
          <p:nvSpPr>
            <p:cNvPr name="Freeform 48" id="48"/>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49" id="49"/>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50" id="50"/>
          <p:cNvGrpSpPr/>
          <p:nvPr/>
        </p:nvGrpSpPr>
        <p:grpSpPr>
          <a:xfrm rot="0">
            <a:off x="-5959063" y="-784283"/>
            <a:ext cx="11785120" cy="1142074"/>
            <a:chOff x="0" y="0"/>
            <a:chExt cx="3044048" cy="294993"/>
          </a:xfrm>
        </p:grpSpPr>
        <p:sp>
          <p:nvSpPr>
            <p:cNvPr name="Freeform 51" id="51"/>
            <p:cNvSpPr/>
            <p:nvPr/>
          </p:nvSpPr>
          <p:spPr>
            <a:xfrm flipH="false" flipV="false" rot="0">
              <a:off x="0" y="0"/>
              <a:ext cx="3044048" cy="294993"/>
            </a:xfrm>
            <a:custGeom>
              <a:avLst/>
              <a:gdLst/>
              <a:ahLst/>
              <a:cxnLst/>
              <a:rect r="r" b="b" t="t" l="l"/>
              <a:pathLst>
                <a:path h="294993" w="3044048">
                  <a:moveTo>
                    <a:pt x="39415" y="0"/>
                  </a:moveTo>
                  <a:lnTo>
                    <a:pt x="3004633" y="0"/>
                  </a:lnTo>
                  <a:cubicBezTo>
                    <a:pt x="3026402" y="0"/>
                    <a:pt x="3044048" y="17647"/>
                    <a:pt x="3044048" y="39415"/>
                  </a:cubicBezTo>
                  <a:lnTo>
                    <a:pt x="3044048" y="255578"/>
                  </a:lnTo>
                  <a:cubicBezTo>
                    <a:pt x="3044048" y="277346"/>
                    <a:pt x="3026402" y="294993"/>
                    <a:pt x="3004633" y="294993"/>
                  </a:cubicBezTo>
                  <a:lnTo>
                    <a:pt x="39415" y="294993"/>
                  </a:lnTo>
                  <a:cubicBezTo>
                    <a:pt x="17647" y="294993"/>
                    <a:pt x="0" y="277346"/>
                    <a:pt x="0" y="255578"/>
                  </a:cubicBezTo>
                  <a:lnTo>
                    <a:pt x="0" y="39415"/>
                  </a:lnTo>
                  <a:cubicBezTo>
                    <a:pt x="0" y="17647"/>
                    <a:pt x="17647" y="0"/>
                    <a:pt x="39415" y="0"/>
                  </a:cubicBezTo>
                  <a:close/>
                </a:path>
              </a:pathLst>
            </a:custGeom>
            <a:ln w="19050" cap="rnd">
              <a:solidFill>
                <a:srgbClr val="00B58F"/>
              </a:solidFill>
              <a:prstDash val="solid"/>
              <a:round/>
            </a:ln>
          </p:spPr>
        </p:sp>
        <p:sp>
          <p:nvSpPr>
            <p:cNvPr name="TextBox 52" id="52"/>
            <p:cNvSpPr txBox="true"/>
            <p:nvPr/>
          </p:nvSpPr>
          <p:spPr>
            <a:xfrm>
              <a:off x="0" y="-38100"/>
              <a:ext cx="3044048" cy="333093"/>
            </a:xfrm>
            <a:prstGeom prst="rect">
              <a:avLst/>
            </a:prstGeom>
          </p:spPr>
          <p:txBody>
            <a:bodyPr anchor="ctr" rtlCol="false" tIns="50800" lIns="50800" bIns="50800" rIns="50800"/>
            <a:lstStyle/>
            <a:p>
              <a:pPr algn="ctr">
                <a:lnSpc>
                  <a:spcPts val="2659"/>
                </a:lnSpc>
                <a:spcBef>
                  <a:spcPct val="0"/>
                </a:spcBef>
              </a:pPr>
            </a:p>
          </p:txBody>
        </p:sp>
      </p:grpSp>
      <p:sp>
        <p:nvSpPr>
          <p:cNvPr name="Freeform 53" id="53"/>
          <p:cNvSpPr/>
          <p:nvPr/>
        </p:nvSpPr>
        <p:spPr>
          <a:xfrm flipH="false" flipV="false" rot="0">
            <a:off x="12249056" y="7878714"/>
            <a:ext cx="344713" cy="278904"/>
          </a:xfrm>
          <a:custGeom>
            <a:avLst/>
            <a:gdLst/>
            <a:ahLst/>
            <a:cxnLst/>
            <a:rect r="r" b="b" t="t" l="l"/>
            <a:pathLst>
              <a:path h="278904" w="344713">
                <a:moveTo>
                  <a:pt x="0" y="0"/>
                </a:moveTo>
                <a:lnTo>
                  <a:pt x="344713" y="0"/>
                </a:lnTo>
                <a:lnTo>
                  <a:pt x="344713" y="278904"/>
                </a:lnTo>
                <a:lnTo>
                  <a:pt x="0" y="2789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sp>
        <p:nvSpPr>
          <p:cNvPr name="Freeform 2" id="2"/>
          <p:cNvSpPr/>
          <p:nvPr/>
        </p:nvSpPr>
        <p:spPr>
          <a:xfrm flipH="false" flipV="false" rot="0">
            <a:off x="10639872" y="3483604"/>
            <a:ext cx="7050682" cy="4704728"/>
          </a:xfrm>
          <a:custGeom>
            <a:avLst/>
            <a:gdLst/>
            <a:ahLst/>
            <a:cxnLst/>
            <a:rect r="r" b="b" t="t" l="l"/>
            <a:pathLst>
              <a:path h="4704728" w="7050682">
                <a:moveTo>
                  <a:pt x="0" y="0"/>
                </a:moveTo>
                <a:lnTo>
                  <a:pt x="7050683" y="0"/>
                </a:lnTo>
                <a:lnTo>
                  <a:pt x="7050683" y="4704728"/>
                </a:lnTo>
                <a:lnTo>
                  <a:pt x="0" y="4704728"/>
                </a:lnTo>
                <a:lnTo>
                  <a:pt x="0" y="0"/>
                </a:lnTo>
                <a:close/>
              </a:path>
            </a:pathLst>
          </a:custGeom>
          <a:blipFill>
            <a:blip r:embed="rId2"/>
            <a:stretch>
              <a:fillRect l="0" t="0" r="0" b="0"/>
            </a:stretch>
          </a:blipFill>
        </p:spPr>
      </p:sp>
      <p:sp>
        <p:nvSpPr>
          <p:cNvPr name="Freeform 3" id="3"/>
          <p:cNvSpPr/>
          <p:nvPr/>
        </p:nvSpPr>
        <p:spPr>
          <a:xfrm flipH="false" flipV="false" rot="0">
            <a:off x="1028700" y="393315"/>
            <a:ext cx="276335" cy="220063"/>
          </a:xfrm>
          <a:custGeom>
            <a:avLst/>
            <a:gdLst/>
            <a:ahLst/>
            <a:cxnLst/>
            <a:rect r="r" b="b" t="t" l="l"/>
            <a:pathLst>
              <a:path h="220063" w="276335">
                <a:moveTo>
                  <a:pt x="0" y="0"/>
                </a:moveTo>
                <a:lnTo>
                  <a:pt x="276335" y="0"/>
                </a:lnTo>
                <a:lnTo>
                  <a:pt x="276335" y="220063"/>
                </a:lnTo>
                <a:lnTo>
                  <a:pt x="0" y="2200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93681" y="1579179"/>
            <a:ext cx="976115" cy="830585"/>
          </a:xfrm>
          <a:custGeom>
            <a:avLst/>
            <a:gdLst/>
            <a:ahLst/>
            <a:cxnLst/>
            <a:rect r="r" b="b" t="t" l="l"/>
            <a:pathLst>
              <a:path h="830585" w="976115">
                <a:moveTo>
                  <a:pt x="0" y="0"/>
                </a:moveTo>
                <a:lnTo>
                  <a:pt x="976115" y="0"/>
                </a:lnTo>
                <a:lnTo>
                  <a:pt x="976115" y="830586"/>
                </a:lnTo>
                <a:lnTo>
                  <a:pt x="0" y="8305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1028700" y="3714967"/>
            <a:ext cx="9611172" cy="4184852"/>
          </a:xfrm>
          <a:prstGeom prst="rect">
            <a:avLst/>
          </a:prstGeom>
        </p:spPr>
        <p:txBody>
          <a:bodyPr anchor="t" rtlCol="false" tIns="0" lIns="0" bIns="0" rIns="0">
            <a:spAutoFit/>
          </a:bodyPr>
          <a:lstStyle/>
          <a:p>
            <a:pPr algn="l" marL="645808" indent="-322904" lvl="1">
              <a:lnSpc>
                <a:spcPts val="4187"/>
              </a:lnSpc>
              <a:spcBef>
                <a:spcPct val="0"/>
              </a:spcBef>
              <a:buFont typeface="Arial"/>
              <a:buChar char="•"/>
            </a:pPr>
            <a:r>
              <a:rPr lang="en-US" b="true" sz="2991">
                <a:solidFill>
                  <a:srgbClr val="000000"/>
                </a:solidFill>
                <a:latin typeface="Bricolage Grotesque Bold"/>
                <a:ea typeface="Bricolage Grotesque Bold"/>
                <a:cs typeface="Bricolage Grotesque Bold"/>
                <a:sym typeface="Bricolage Grotesque Bold"/>
              </a:rPr>
              <a:t>Traditional gasoline and diesel cars release harmful gases such as carbon dioxide and nitrogen oxides, which contribute to global warming and health problems.</a:t>
            </a:r>
          </a:p>
          <a:p>
            <a:pPr algn="l">
              <a:lnSpc>
                <a:spcPts val="4187"/>
              </a:lnSpc>
              <a:spcBef>
                <a:spcPct val="0"/>
              </a:spcBef>
            </a:pPr>
          </a:p>
          <a:p>
            <a:pPr algn="l" marL="645808" indent="-322904" lvl="1">
              <a:lnSpc>
                <a:spcPts val="4187"/>
              </a:lnSpc>
              <a:spcBef>
                <a:spcPct val="0"/>
              </a:spcBef>
              <a:buFont typeface="Arial"/>
              <a:buChar char="•"/>
            </a:pPr>
            <a:r>
              <a:rPr lang="en-US" b="true" sz="2991">
                <a:solidFill>
                  <a:srgbClr val="000000"/>
                </a:solidFill>
                <a:latin typeface="Bricolage Grotesque Bold"/>
                <a:ea typeface="Bricolage Grotesque Bold"/>
                <a:cs typeface="Bricolage Grotesque Bold"/>
                <a:sym typeface="Bricolage Grotesque Bold"/>
              </a:rPr>
              <a:t>Electric vehicles produce no direct exhaust emissions, which helps improve air quality and create healthier urban environments</a:t>
            </a:r>
          </a:p>
        </p:txBody>
      </p:sp>
      <p:sp>
        <p:nvSpPr>
          <p:cNvPr name="TextBox 6" id="6"/>
          <p:cNvSpPr txBox="true"/>
          <p:nvPr/>
        </p:nvSpPr>
        <p:spPr>
          <a:xfrm rot="0">
            <a:off x="2684493" y="1674429"/>
            <a:ext cx="15006062" cy="1268005"/>
          </a:xfrm>
          <a:prstGeom prst="rect">
            <a:avLst/>
          </a:prstGeom>
        </p:spPr>
        <p:txBody>
          <a:bodyPr anchor="t" rtlCol="false" tIns="0" lIns="0" bIns="0" rIns="0">
            <a:spAutoFit/>
          </a:bodyPr>
          <a:lstStyle/>
          <a:p>
            <a:pPr algn="l" marL="0" indent="0" lvl="0">
              <a:lnSpc>
                <a:spcPts val="4921"/>
              </a:lnSpc>
              <a:spcBef>
                <a:spcPct val="0"/>
              </a:spcBef>
            </a:pPr>
            <a:r>
              <a:rPr lang="en-US" sz="4921" strike="noStrike" u="none">
                <a:solidFill>
                  <a:srgbClr val="0B132B"/>
                </a:solidFill>
                <a:latin typeface="Rubik One"/>
                <a:ea typeface="Rubik One"/>
                <a:cs typeface="Rubik One"/>
                <a:sym typeface="Rubik One"/>
              </a:rPr>
              <a:t>WHAT IS THE ENVIROMENTAL IMPACT OF EV UP MARKET?</a:t>
            </a:r>
          </a:p>
        </p:txBody>
      </p:sp>
      <p:sp>
        <p:nvSpPr>
          <p:cNvPr name="TextBox 7" id="7"/>
          <p:cNvSpPr txBox="true"/>
          <p:nvPr/>
        </p:nvSpPr>
        <p:spPr>
          <a:xfrm rot="0">
            <a:off x="1493681" y="355215"/>
            <a:ext cx="2381625" cy="273685"/>
          </a:xfrm>
          <a:prstGeom prst="rect">
            <a:avLst/>
          </a:prstGeom>
        </p:spPr>
        <p:txBody>
          <a:bodyPr anchor="t" rtlCol="false" tIns="0" lIns="0" bIns="0" rIns="0">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EV ecosystem</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93315"/>
            <a:ext cx="276335" cy="220063"/>
          </a:xfrm>
          <a:custGeom>
            <a:avLst/>
            <a:gdLst/>
            <a:ahLst/>
            <a:cxnLst/>
            <a:rect r="r" b="b" t="t" l="l"/>
            <a:pathLst>
              <a:path h="220063" w="276335">
                <a:moveTo>
                  <a:pt x="0" y="0"/>
                </a:moveTo>
                <a:lnTo>
                  <a:pt x="276335" y="0"/>
                </a:lnTo>
                <a:lnTo>
                  <a:pt x="276335" y="220063"/>
                </a:lnTo>
                <a:lnTo>
                  <a:pt x="0" y="2200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70658" y="3701186"/>
            <a:ext cx="6493878" cy="2966145"/>
            <a:chOff x="0" y="0"/>
            <a:chExt cx="1677342" cy="766143"/>
          </a:xfrm>
        </p:grpSpPr>
        <p:sp>
          <p:nvSpPr>
            <p:cNvPr name="Freeform 4" id="4"/>
            <p:cNvSpPr/>
            <p:nvPr/>
          </p:nvSpPr>
          <p:spPr>
            <a:xfrm flipH="false" flipV="false" rot="0">
              <a:off x="0" y="0"/>
              <a:ext cx="1677342" cy="766143"/>
            </a:xfrm>
            <a:custGeom>
              <a:avLst/>
              <a:gdLst/>
              <a:ahLst/>
              <a:cxnLst/>
              <a:rect r="r" b="b" t="t" l="l"/>
              <a:pathLst>
                <a:path h="766143" w="1677342">
                  <a:moveTo>
                    <a:pt x="71531" y="0"/>
                  </a:moveTo>
                  <a:lnTo>
                    <a:pt x="1605811" y="0"/>
                  </a:lnTo>
                  <a:cubicBezTo>
                    <a:pt x="1645317" y="0"/>
                    <a:pt x="1677342" y="32026"/>
                    <a:pt x="1677342" y="71531"/>
                  </a:cubicBezTo>
                  <a:lnTo>
                    <a:pt x="1677342" y="694612"/>
                  </a:lnTo>
                  <a:cubicBezTo>
                    <a:pt x="1677342" y="734117"/>
                    <a:pt x="1645317" y="766143"/>
                    <a:pt x="1605811" y="766143"/>
                  </a:cubicBezTo>
                  <a:lnTo>
                    <a:pt x="71531" y="766143"/>
                  </a:lnTo>
                  <a:cubicBezTo>
                    <a:pt x="32026" y="766143"/>
                    <a:pt x="0" y="734117"/>
                    <a:pt x="0" y="694612"/>
                  </a:cubicBezTo>
                  <a:lnTo>
                    <a:pt x="0" y="71531"/>
                  </a:lnTo>
                  <a:cubicBezTo>
                    <a:pt x="0" y="32026"/>
                    <a:pt x="32026" y="0"/>
                    <a:pt x="71531" y="0"/>
                  </a:cubicBezTo>
                  <a:close/>
                </a:path>
              </a:pathLst>
            </a:custGeom>
            <a:ln w="19050" cap="rnd">
              <a:solidFill>
                <a:srgbClr val="00B58F"/>
              </a:solidFill>
              <a:prstDash val="solid"/>
              <a:round/>
            </a:ln>
          </p:spPr>
        </p:sp>
        <p:sp>
          <p:nvSpPr>
            <p:cNvPr name="TextBox 5" id="5"/>
            <p:cNvSpPr txBox="true"/>
            <p:nvPr/>
          </p:nvSpPr>
          <p:spPr>
            <a:xfrm>
              <a:off x="0" y="-38100"/>
              <a:ext cx="1677342" cy="80424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370658" y="6404073"/>
            <a:ext cx="2494073" cy="696611"/>
            <a:chOff x="0" y="0"/>
            <a:chExt cx="1040605" cy="290648"/>
          </a:xfrm>
        </p:grpSpPr>
        <p:sp>
          <p:nvSpPr>
            <p:cNvPr name="Freeform 7" id="7"/>
            <p:cNvSpPr/>
            <p:nvPr/>
          </p:nvSpPr>
          <p:spPr>
            <a:xfrm flipH="false" flipV="false" rot="0">
              <a:off x="47577" y="0"/>
              <a:ext cx="945451" cy="290648"/>
            </a:xfrm>
            <a:custGeom>
              <a:avLst/>
              <a:gdLst/>
              <a:ahLst/>
              <a:cxnLst/>
              <a:rect r="r" b="b" t="t" l="l"/>
              <a:pathLst>
                <a:path h="290648" w="945451">
                  <a:moveTo>
                    <a:pt x="254955" y="0"/>
                  </a:moveTo>
                  <a:lnTo>
                    <a:pt x="893696" y="0"/>
                  </a:lnTo>
                  <a:cubicBezTo>
                    <a:pt x="912988" y="0"/>
                    <a:pt x="930680" y="10731"/>
                    <a:pt x="939594" y="27840"/>
                  </a:cubicBezTo>
                  <a:cubicBezTo>
                    <a:pt x="948509" y="44950"/>
                    <a:pt x="947167" y="65598"/>
                    <a:pt x="936112" y="81409"/>
                  </a:cubicBezTo>
                  <a:lnTo>
                    <a:pt x="846743" y="209239"/>
                  </a:lnTo>
                  <a:cubicBezTo>
                    <a:pt x="811075" y="260257"/>
                    <a:pt x="752746" y="290648"/>
                    <a:pt x="690496" y="290648"/>
                  </a:cubicBezTo>
                  <a:lnTo>
                    <a:pt x="51755" y="290648"/>
                  </a:lnTo>
                  <a:cubicBezTo>
                    <a:pt x="32462" y="290648"/>
                    <a:pt x="14771" y="279917"/>
                    <a:pt x="5857" y="262808"/>
                  </a:cubicBezTo>
                  <a:cubicBezTo>
                    <a:pt x="-3058" y="245698"/>
                    <a:pt x="-1716" y="225050"/>
                    <a:pt x="9339" y="209239"/>
                  </a:cubicBezTo>
                  <a:lnTo>
                    <a:pt x="98707" y="81409"/>
                  </a:lnTo>
                  <a:cubicBezTo>
                    <a:pt x="134376" y="30391"/>
                    <a:pt x="192705" y="0"/>
                    <a:pt x="254955" y="0"/>
                  </a:cubicBezTo>
                  <a:close/>
                </a:path>
              </a:pathLst>
            </a:custGeom>
            <a:solidFill>
              <a:srgbClr val="00B58F"/>
            </a:solidFill>
          </p:spPr>
        </p:sp>
        <p:sp>
          <p:nvSpPr>
            <p:cNvPr name="TextBox 8" id="8"/>
            <p:cNvSpPr txBox="true"/>
            <p:nvPr/>
          </p:nvSpPr>
          <p:spPr>
            <a:xfrm>
              <a:off x="101600" y="-38100"/>
              <a:ext cx="837405" cy="328748"/>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784515" y="3352881"/>
            <a:ext cx="976970" cy="696611"/>
            <a:chOff x="0" y="0"/>
            <a:chExt cx="407622" cy="290648"/>
          </a:xfrm>
        </p:grpSpPr>
        <p:sp>
          <p:nvSpPr>
            <p:cNvPr name="Freeform 10" id="10"/>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11" id="11"/>
            <p:cNvSpPr txBox="true"/>
            <p:nvPr/>
          </p:nvSpPr>
          <p:spPr>
            <a:xfrm>
              <a:off x="101600" y="-38100"/>
              <a:ext cx="204422" cy="328748"/>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9390692" y="5532564"/>
            <a:ext cx="976970" cy="696611"/>
            <a:chOff x="0" y="0"/>
            <a:chExt cx="407622" cy="290648"/>
          </a:xfrm>
        </p:grpSpPr>
        <p:sp>
          <p:nvSpPr>
            <p:cNvPr name="Freeform 13" id="13"/>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14" id="14"/>
            <p:cNvSpPr txBox="true"/>
            <p:nvPr/>
          </p:nvSpPr>
          <p:spPr>
            <a:xfrm>
              <a:off x="101600" y="-38100"/>
              <a:ext cx="204422" cy="328748"/>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0131827" y="5532564"/>
            <a:ext cx="976970" cy="696611"/>
            <a:chOff x="0" y="0"/>
            <a:chExt cx="407622" cy="290648"/>
          </a:xfrm>
        </p:grpSpPr>
        <p:sp>
          <p:nvSpPr>
            <p:cNvPr name="Freeform 16" id="16"/>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17" id="17"/>
            <p:cNvSpPr txBox="true"/>
            <p:nvPr/>
          </p:nvSpPr>
          <p:spPr>
            <a:xfrm>
              <a:off x="101600" y="-38100"/>
              <a:ext cx="204422" cy="328748"/>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0367662" y="3352881"/>
            <a:ext cx="976970" cy="696611"/>
            <a:chOff x="0" y="0"/>
            <a:chExt cx="407622" cy="290648"/>
          </a:xfrm>
        </p:grpSpPr>
        <p:sp>
          <p:nvSpPr>
            <p:cNvPr name="Freeform 19" id="19"/>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20" id="20"/>
            <p:cNvSpPr txBox="true"/>
            <p:nvPr/>
          </p:nvSpPr>
          <p:spPr>
            <a:xfrm>
              <a:off x="101600" y="-38100"/>
              <a:ext cx="204422" cy="328748"/>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0761484" y="5532564"/>
            <a:ext cx="976970" cy="696611"/>
            <a:chOff x="0" y="0"/>
            <a:chExt cx="407622" cy="290648"/>
          </a:xfrm>
        </p:grpSpPr>
        <p:sp>
          <p:nvSpPr>
            <p:cNvPr name="Freeform 22" id="22"/>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23" id="23"/>
            <p:cNvSpPr txBox="true"/>
            <p:nvPr/>
          </p:nvSpPr>
          <p:spPr>
            <a:xfrm>
              <a:off x="101600" y="-38100"/>
              <a:ext cx="204422" cy="328748"/>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0947301" y="3352881"/>
            <a:ext cx="976970" cy="696611"/>
            <a:chOff x="0" y="0"/>
            <a:chExt cx="407622" cy="290648"/>
          </a:xfrm>
        </p:grpSpPr>
        <p:sp>
          <p:nvSpPr>
            <p:cNvPr name="Freeform 25" id="25"/>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26" id="26"/>
            <p:cNvSpPr txBox="true"/>
            <p:nvPr/>
          </p:nvSpPr>
          <p:spPr>
            <a:xfrm>
              <a:off x="101600" y="-38100"/>
              <a:ext cx="204422" cy="328748"/>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3150242" y="9960324"/>
            <a:ext cx="8436141" cy="1142074"/>
            <a:chOff x="0" y="0"/>
            <a:chExt cx="2179021" cy="294993"/>
          </a:xfrm>
        </p:grpSpPr>
        <p:sp>
          <p:nvSpPr>
            <p:cNvPr name="Freeform 28" id="28"/>
            <p:cNvSpPr/>
            <p:nvPr/>
          </p:nvSpPr>
          <p:spPr>
            <a:xfrm flipH="false" flipV="false" rot="0">
              <a:off x="0" y="0"/>
              <a:ext cx="2179021" cy="294993"/>
            </a:xfrm>
            <a:custGeom>
              <a:avLst/>
              <a:gdLst/>
              <a:ahLst/>
              <a:cxnLst/>
              <a:rect r="r" b="b" t="t" l="l"/>
              <a:pathLst>
                <a:path h="294993" w="2179021">
                  <a:moveTo>
                    <a:pt x="55063" y="0"/>
                  </a:moveTo>
                  <a:lnTo>
                    <a:pt x="2123958" y="0"/>
                  </a:lnTo>
                  <a:cubicBezTo>
                    <a:pt x="2154368" y="0"/>
                    <a:pt x="2179021" y="24652"/>
                    <a:pt x="2179021" y="55063"/>
                  </a:cubicBezTo>
                  <a:lnTo>
                    <a:pt x="2179021" y="239930"/>
                  </a:lnTo>
                  <a:cubicBezTo>
                    <a:pt x="2179021" y="270341"/>
                    <a:pt x="2154368" y="294993"/>
                    <a:pt x="2123958" y="294993"/>
                  </a:cubicBezTo>
                  <a:lnTo>
                    <a:pt x="55063" y="294993"/>
                  </a:lnTo>
                  <a:cubicBezTo>
                    <a:pt x="24652" y="294993"/>
                    <a:pt x="0" y="270341"/>
                    <a:pt x="0" y="239930"/>
                  </a:cubicBezTo>
                  <a:lnTo>
                    <a:pt x="0" y="55063"/>
                  </a:lnTo>
                  <a:cubicBezTo>
                    <a:pt x="0" y="24652"/>
                    <a:pt x="24652" y="0"/>
                    <a:pt x="55063" y="0"/>
                  </a:cubicBezTo>
                  <a:close/>
                </a:path>
              </a:pathLst>
            </a:custGeom>
            <a:ln w="19050" cap="rnd">
              <a:solidFill>
                <a:srgbClr val="00B58F"/>
              </a:solidFill>
              <a:prstDash val="solid"/>
              <a:round/>
            </a:ln>
          </p:spPr>
        </p:sp>
        <p:sp>
          <p:nvSpPr>
            <p:cNvPr name="TextBox 29" id="29"/>
            <p:cNvSpPr txBox="true"/>
            <p:nvPr/>
          </p:nvSpPr>
          <p:spPr>
            <a:xfrm>
              <a:off x="0" y="-38100"/>
              <a:ext cx="2179021"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30" id="30"/>
          <p:cNvGrpSpPr/>
          <p:nvPr/>
        </p:nvGrpSpPr>
        <p:grpSpPr>
          <a:xfrm rot="0">
            <a:off x="14384067" y="-784283"/>
            <a:ext cx="12412118" cy="1142074"/>
            <a:chOff x="0" y="0"/>
            <a:chExt cx="3205999" cy="294993"/>
          </a:xfrm>
        </p:grpSpPr>
        <p:sp>
          <p:nvSpPr>
            <p:cNvPr name="Freeform 31" id="31"/>
            <p:cNvSpPr/>
            <p:nvPr/>
          </p:nvSpPr>
          <p:spPr>
            <a:xfrm flipH="false" flipV="false" rot="0">
              <a:off x="0" y="0"/>
              <a:ext cx="3205999" cy="294993"/>
            </a:xfrm>
            <a:custGeom>
              <a:avLst/>
              <a:gdLst/>
              <a:ahLst/>
              <a:cxnLst/>
              <a:rect r="r" b="b" t="t" l="l"/>
              <a:pathLst>
                <a:path h="294993" w="3205999">
                  <a:moveTo>
                    <a:pt x="37424" y="0"/>
                  </a:moveTo>
                  <a:lnTo>
                    <a:pt x="3168575" y="0"/>
                  </a:lnTo>
                  <a:cubicBezTo>
                    <a:pt x="3189244" y="0"/>
                    <a:pt x="3205999" y="16755"/>
                    <a:pt x="3205999" y="37424"/>
                  </a:cubicBezTo>
                  <a:lnTo>
                    <a:pt x="3205999" y="257569"/>
                  </a:lnTo>
                  <a:cubicBezTo>
                    <a:pt x="3205999" y="267494"/>
                    <a:pt x="3202056" y="277013"/>
                    <a:pt x="3195038" y="284032"/>
                  </a:cubicBezTo>
                  <a:cubicBezTo>
                    <a:pt x="3188020" y="291050"/>
                    <a:pt x="3178501" y="294993"/>
                    <a:pt x="3168575" y="294993"/>
                  </a:cubicBezTo>
                  <a:lnTo>
                    <a:pt x="37424" y="294993"/>
                  </a:lnTo>
                  <a:cubicBezTo>
                    <a:pt x="16755" y="294993"/>
                    <a:pt x="0" y="278238"/>
                    <a:pt x="0" y="257569"/>
                  </a:cubicBezTo>
                  <a:lnTo>
                    <a:pt x="0" y="37424"/>
                  </a:lnTo>
                  <a:cubicBezTo>
                    <a:pt x="0" y="16755"/>
                    <a:pt x="16755" y="0"/>
                    <a:pt x="37424" y="0"/>
                  </a:cubicBezTo>
                  <a:close/>
                </a:path>
              </a:pathLst>
            </a:custGeom>
            <a:ln w="19050" cap="rnd">
              <a:solidFill>
                <a:srgbClr val="00B58F"/>
              </a:solidFill>
              <a:prstDash val="solid"/>
              <a:round/>
            </a:ln>
          </p:spPr>
        </p:sp>
        <p:sp>
          <p:nvSpPr>
            <p:cNvPr name="TextBox 32" id="32"/>
            <p:cNvSpPr txBox="true"/>
            <p:nvPr/>
          </p:nvSpPr>
          <p:spPr>
            <a:xfrm>
              <a:off x="0" y="-38100"/>
              <a:ext cx="3205999" cy="333093"/>
            </a:xfrm>
            <a:prstGeom prst="rect">
              <a:avLst/>
            </a:prstGeom>
          </p:spPr>
          <p:txBody>
            <a:bodyPr anchor="ctr" rtlCol="false" tIns="50800" lIns="50800" bIns="50800" rIns="50800"/>
            <a:lstStyle/>
            <a:p>
              <a:pPr algn="ctr">
                <a:lnSpc>
                  <a:spcPts val="2659"/>
                </a:lnSpc>
                <a:spcBef>
                  <a:spcPct val="0"/>
                </a:spcBef>
              </a:pPr>
            </a:p>
          </p:txBody>
        </p:sp>
      </p:grpSp>
      <p:sp>
        <p:nvSpPr>
          <p:cNvPr name="Freeform 33" id="33"/>
          <p:cNvSpPr/>
          <p:nvPr/>
        </p:nvSpPr>
        <p:spPr>
          <a:xfrm flipH="false" flipV="false" rot="0">
            <a:off x="831117" y="2598921"/>
            <a:ext cx="8283350" cy="4068410"/>
          </a:xfrm>
          <a:custGeom>
            <a:avLst/>
            <a:gdLst/>
            <a:ahLst/>
            <a:cxnLst/>
            <a:rect r="r" b="b" t="t" l="l"/>
            <a:pathLst>
              <a:path h="4068410" w="8283350">
                <a:moveTo>
                  <a:pt x="0" y="0"/>
                </a:moveTo>
                <a:lnTo>
                  <a:pt x="8283350" y="0"/>
                </a:lnTo>
                <a:lnTo>
                  <a:pt x="8283350" y="4068410"/>
                </a:lnTo>
                <a:lnTo>
                  <a:pt x="0" y="4068410"/>
                </a:lnTo>
                <a:lnTo>
                  <a:pt x="0" y="0"/>
                </a:lnTo>
                <a:close/>
              </a:path>
            </a:pathLst>
          </a:custGeom>
          <a:blipFill>
            <a:blip r:embed="rId4"/>
            <a:stretch>
              <a:fillRect l="0" t="-17824" r="0" b="-17824"/>
            </a:stretch>
          </a:blipFill>
        </p:spPr>
      </p:sp>
      <p:sp>
        <p:nvSpPr>
          <p:cNvPr name="Freeform 34" id="34"/>
          <p:cNvSpPr/>
          <p:nvPr/>
        </p:nvSpPr>
        <p:spPr>
          <a:xfrm flipH="false" flipV="false" rot="0">
            <a:off x="6908974" y="7049484"/>
            <a:ext cx="11001834" cy="3016885"/>
          </a:xfrm>
          <a:custGeom>
            <a:avLst/>
            <a:gdLst/>
            <a:ahLst/>
            <a:cxnLst/>
            <a:rect r="r" b="b" t="t" l="l"/>
            <a:pathLst>
              <a:path h="3016885" w="11001834">
                <a:moveTo>
                  <a:pt x="0" y="0"/>
                </a:moveTo>
                <a:lnTo>
                  <a:pt x="11001834" y="0"/>
                </a:lnTo>
                <a:lnTo>
                  <a:pt x="11001834" y="3016885"/>
                </a:lnTo>
                <a:lnTo>
                  <a:pt x="0" y="3016885"/>
                </a:lnTo>
                <a:lnTo>
                  <a:pt x="0" y="0"/>
                </a:lnTo>
                <a:close/>
              </a:path>
            </a:pathLst>
          </a:custGeom>
          <a:blipFill>
            <a:blip r:embed="rId5"/>
            <a:stretch>
              <a:fillRect l="-812" t="-13748" r="-3480" b="-5580"/>
            </a:stretch>
          </a:blipFill>
        </p:spPr>
      </p:sp>
      <p:sp>
        <p:nvSpPr>
          <p:cNvPr name="TextBox 35" id="35"/>
          <p:cNvSpPr txBox="true"/>
          <p:nvPr/>
        </p:nvSpPr>
        <p:spPr>
          <a:xfrm rot="0">
            <a:off x="4021623" y="1098101"/>
            <a:ext cx="10738139" cy="1329691"/>
          </a:xfrm>
          <a:prstGeom prst="rect">
            <a:avLst/>
          </a:prstGeom>
        </p:spPr>
        <p:txBody>
          <a:bodyPr anchor="t" rtlCol="false" tIns="0" lIns="0" bIns="0" rIns="0">
            <a:spAutoFit/>
          </a:bodyPr>
          <a:lstStyle/>
          <a:p>
            <a:pPr algn="l">
              <a:lnSpc>
                <a:spcPts val="5100"/>
              </a:lnSpc>
            </a:pPr>
            <a:r>
              <a:rPr lang="en-US" sz="5100">
                <a:solidFill>
                  <a:srgbClr val="0B132B"/>
                </a:solidFill>
                <a:latin typeface="Rubik One"/>
                <a:ea typeface="Rubik One"/>
                <a:cs typeface="Rubik One"/>
                <a:sym typeface="Rubik One"/>
              </a:rPr>
              <a:t>THE IMPACT OF ELECTRIC VEHICLES ON CO2 EMISSIONS.</a:t>
            </a:r>
          </a:p>
        </p:txBody>
      </p:sp>
      <p:sp>
        <p:nvSpPr>
          <p:cNvPr name="TextBox 36" id="36"/>
          <p:cNvSpPr txBox="true"/>
          <p:nvPr/>
        </p:nvSpPr>
        <p:spPr>
          <a:xfrm rot="0">
            <a:off x="1429695" y="339693"/>
            <a:ext cx="2381625" cy="273685"/>
          </a:xfrm>
          <a:prstGeom prst="rect">
            <a:avLst/>
          </a:prstGeom>
        </p:spPr>
        <p:txBody>
          <a:bodyPr anchor="t" rtlCol="false" tIns="0" lIns="0" bIns="0" rIns="0">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CO2 emissions</a:t>
            </a:r>
          </a:p>
        </p:txBody>
      </p:sp>
      <p:sp>
        <p:nvSpPr>
          <p:cNvPr name="TextBox 37" id="37"/>
          <p:cNvSpPr txBox="true"/>
          <p:nvPr/>
        </p:nvSpPr>
        <p:spPr>
          <a:xfrm rot="0">
            <a:off x="12015425" y="3305256"/>
            <a:ext cx="5243875" cy="1589406"/>
          </a:xfrm>
          <a:prstGeom prst="rect">
            <a:avLst/>
          </a:prstGeom>
        </p:spPr>
        <p:txBody>
          <a:bodyPr anchor="t" rtlCol="false" tIns="0" lIns="0" bIns="0" rIns="0">
            <a:spAutoFit/>
          </a:bodyPr>
          <a:lstStyle/>
          <a:p>
            <a:pPr algn="l">
              <a:lnSpc>
                <a:spcPts val="3219"/>
              </a:lnSpc>
            </a:pPr>
            <a:r>
              <a:rPr lang="en-US" sz="2299" spc="57" b="true">
                <a:solidFill>
                  <a:srgbClr val="0B132B"/>
                </a:solidFill>
                <a:latin typeface="Bricolage Grotesque Bold"/>
                <a:ea typeface="Bricolage Grotesque Bold"/>
                <a:cs typeface="Bricolage Grotesque Bold"/>
                <a:sym typeface="Bricolage Grotesque Bold"/>
              </a:rPr>
              <a:t>if we look at the chart, it</a:t>
            </a:r>
            <a:r>
              <a:rPr lang="en-US" b="true" sz="2299" spc="57">
                <a:solidFill>
                  <a:srgbClr val="0B132B"/>
                </a:solidFill>
                <a:latin typeface="Bricolage Grotesque Bold"/>
                <a:ea typeface="Bricolage Grotesque Bold"/>
                <a:cs typeface="Bricolage Grotesque Bold"/>
                <a:sym typeface="Bricolage Grotesque Bold"/>
              </a:rPr>
              <a:t> is evident that between 2018 and 2025, electric vehicle sales rose substantially</a:t>
            </a:r>
          </a:p>
        </p:txBody>
      </p:sp>
      <p:sp>
        <p:nvSpPr>
          <p:cNvPr name="TextBox 38" id="38"/>
          <p:cNvSpPr txBox="true"/>
          <p:nvPr/>
        </p:nvSpPr>
        <p:spPr>
          <a:xfrm rot="0">
            <a:off x="11924271" y="5597356"/>
            <a:ext cx="5243875" cy="2101850"/>
          </a:xfrm>
          <a:prstGeom prst="rect">
            <a:avLst/>
          </a:prstGeom>
        </p:spPr>
        <p:txBody>
          <a:bodyPr anchor="t" rtlCol="false" tIns="0" lIns="0" bIns="0" rIns="0">
            <a:spAutoFit/>
          </a:bodyPr>
          <a:lstStyle/>
          <a:p>
            <a:pPr algn="l">
              <a:lnSpc>
                <a:spcPts val="2799"/>
              </a:lnSpc>
            </a:pPr>
            <a:r>
              <a:rPr lang="en-US" sz="1999" spc="49" b="true">
                <a:solidFill>
                  <a:srgbClr val="0B132B"/>
                </a:solidFill>
                <a:latin typeface="Bricolage Grotesque Bold"/>
                <a:ea typeface="Bricolage Grotesque Bold"/>
                <a:cs typeface="Bricolage Grotesque Bold"/>
                <a:sym typeface="Bricolage Grotesque Bold"/>
              </a:rPr>
              <a:t>CO2 </a:t>
            </a:r>
            <a:r>
              <a:rPr lang="en-US" b="true" sz="1999" spc="49">
                <a:solidFill>
                  <a:srgbClr val="0B132B"/>
                </a:solidFill>
                <a:latin typeface="Bricolage Grotesque Bold"/>
                <a:ea typeface="Bricolage Grotesque Bold"/>
                <a:cs typeface="Bricolage Grotesque Bold"/>
                <a:sym typeface="Bricolage Grotesque Bold"/>
              </a:rPr>
              <a:t>emissions during the same period decreased significantly.</a:t>
            </a:r>
          </a:p>
          <a:p>
            <a:pPr algn="l">
              <a:lnSpc>
                <a:spcPts val="2799"/>
              </a:lnSpc>
            </a:pPr>
          </a:p>
          <a:p>
            <a:pPr algn="l">
              <a:lnSpc>
                <a:spcPts val="2799"/>
              </a:lnSpc>
            </a:pPr>
          </a:p>
          <a:p>
            <a:pPr algn="l">
              <a:lnSpc>
                <a:spcPts val="2799"/>
              </a:lnSpc>
            </a:pPr>
          </a:p>
          <a:p>
            <a:pPr algn="l">
              <a:lnSpc>
                <a:spcPts val="2799"/>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sp>
        <p:nvSpPr>
          <p:cNvPr name="Freeform 2" id="2"/>
          <p:cNvSpPr/>
          <p:nvPr/>
        </p:nvSpPr>
        <p:spPr>
          <a:xfrm flipH="false" flipV="false" rot="0">
            <a:off x="7161979" y="2749121"/>
            <a:ext cx="10581931" cy="7760263"/>
          </a:xfrm>
          <a:custGeom>
            <a:avLst/>
            <a:gdLst/>
            <a:ahLst/>
            <a:cxnLst/>
            <a:rect r="r" b="b" t="t" l="l"/>
            <a:pathLst>
              <a:path h="7760263" w="10581931">
                <a:moveTo>
                  <a:pt x="0" y="0"/>
                </a:moveTo>
                <a:lnTo>
                  <a:pt x="10581931" y="0"/>
                </a:lnTo>
                <a:lnTo>
                  <a:pt x="10581931" y="7760263"/>
                </a:lnTo>
                <a:lnTo>
                  <a:pt x="0" y="7760263"/>
                </a:lnTo>
                <a:lnTo>
                  <a:pt x="0" y="0"/>
                </a:lnTo>
                <a:close/>
              </a:path>
            </a:pathLst>
          </a:custGeom>
          <a:blipFill>
            <a:blip r:embed="rId2"/>
            <a:stretch>
              <a:fillRect l="-3067" t="-1976" r="-1893" b="0"/>
            </a:stretch>
          </a:blipFill>
        </p:spPr>
      </p:sp>
      <p:sp>
        <p:nvSpPr>
          <p:cNvPr name="Freeform 3" id="3"/>
          <p:cNvSpPr/>
          <p:nvPr/>
        </p:nvSpPr>
        <p:spPr>
          <a:xfrm flipH="false" flipV="false" rot="0">
            <a:off x="642102" y="327416"/>
            <a:ext cx="386598" cy="307872"/>
          </a:xfrm>
          <a:custGeom>
            <a:avLst/>
            <a:gdLst/>
            <a:ahLst/>
            <a:cxnLst/>
            <a:rect r="r" b="b" t="t" l="l"/>
            <a:pathLst>
              <a:path h="307872" w="386598">
                <a:moveTo>
                  <a:pt x="0" y="0"/>
                </a:moveTo>
                <a:lnTo>
                  <a:pt x="386598" y="0"/>
                </a:lnTo>
                <a:lnTo>
                  <a:pt x="386598" y="307873"/>
                </a:lnTo>
                <a:lnTo>
                  <a:pt x="0" y="3078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247395" y="989365"/>
            <a:ext cx="13382785" cy="2761383"/>
          </a:xfrm>
          <a:prstGeom prst="rect">
            <a:avLst/>
          </a:prstGeom>
        </p:spPr>
        <p:txBody>
          <a:bodyPr anchor="t" rtlCol="false" tIns="0" lIns="0" bIns="0" rIns="0">
            <a:spAutoFit/>
          </a:bodyPr>
          <a:lstStyle/>
          <a:p>
            <a:pPr algn="l">
              <a:lnSpc>
                <a:spcPts val="7179"/>
              </a:lnSpc>
            </a:pPr>
            <a:r>
              <a:rPr lang="en-US" sz="7179">
                <a:solidFill>
                  <a:srgbClr val="0B132B"/>
                </a:solidFill>
                <a:latin typeface="Rubik One"/>
                <a:ea typeface="Rubik One"/>
                <a:cs typeface="Rubik One"/>
                <a:sym typeface="Rubik One"/>
              </a:rPr>
              <a:t>CAN THE REGULATION AFFECTS THE EV MARKET SHARE?</a:t>
            </a:r>
          </a:p>
        </p:txBody>
      </p:sp>
      <p:sp>
        <p:nvSpPr>
          <p:cNvPr name="TextBox 5" id="5"/>
          <p:cNvSpPr txBox="true"/>
          <p:nvPr/>
        </p:nvSpPr>
        <p:spPr>
          <a:xfrm rot="0">
            <a:off x="1207603" y="361604"/>
            <a:ext cx="2381625" cy="273685"/>
          </a:xfrm>
          <a:prstGeom prst="rect">
            <a:avLst/>
          </a:prstGeom>
        </p:spPr>
        <p:txBody>
          <a:bodyPr anchor="t" rtlCol="false" tIns="0" lIns="0" bIns="0" rIns="0">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EV ecosystem</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sp>
        <p:nvSpPr>
          <p:cNvPr name="Freeform 2" id="2"/>
          <p:cNvSpPr/>
          <p:nvPr/>
        </p:nvSpPr>
        <p:spPr>
          <a:xfrm flipH="false" flipV="false" rot="0">
            <a:off x="799314" y="336941"/>
            <a:ext cx="229386" cy="182674"/>
          </a:xfrm>
          <a:custGeom>
            <a:avLst/>
            <a:gdLst/>
            <a:ahLst/>
            <a:cxnLst/>
            <a:rect r="r" b="b" t="t" l="l"/>
            <a:pathLst>
              <a:path h="182674" w="229386">
                <a:moveTo>
                  <a:pt x="0" y="0"/>
                </a:moveTo>
                <a:lnTo>
                  <a:pt x="229386" y="0"/>
                </a:lnTo>
                <a:lnTo>
                  <a:pt x="229386" y="182675"/>
                </a:lnTo>
                <a:lnTo>
                  <a:pt x="0" y="1826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371373" y="1849584"/>
            <a:ext cx="9887927" cy="6587831"/>
          </a:xfrm>
          <a:custGeom>
            <a:avLst/>
            <a:gdLst/>
            <a:ahLst/>
            <a:cxnLst/>
            <a:rect r="r" b="b" t="t" l="l"/>
            <a:pathLst>
              <a:path h="6587831" w="9887927">
                <a:moveTo>
                  <a:pt x="0" y="0"/>
                </a:moveTo>
                <a:lnTo>
                  <a:pt x="9887927" y="0"/>
                </a:lnTo>
                <a:lnTo>
                  <a:pt x="9887927" y="6587832"/>
                </a:lnTo>
                <a:lnTo>
                  <a:pt x="0" y="6587832"/>
                </a:lnTo>
                <a:lnTo>
                  <a:pt x="0" y="0"/>
                </a:lnTo>
                <a:close/>
              </a:path>
            </a:pathLst>
          </a:custGeom>
          <a:blipFill>
            <a:blip r:embed="rId4"/>
            <a:stretch>
              <a:fillRect l="0" t="0" r="0" b="0"/>
            </a:stretch>
          </a:blipFill>
        </p:spPr>
      </p:sp>
      <p:sp>
        <p:nvSpPr>
          <p:cNvPr name="TextBox 4" id="4"/>
          <p:cNvSpPr txBox="true"/>
          <p:nvPr/>
        </p:nvSpPr>
        <p:spPr>
          <a:xfrm rot="0">
            <a:off x="1182045" y="298841"/>
            <a:ext cx="2381625" cy="273685"/>
          </a:xfrm>
          <a:prstGeom prst="rect">
            <a:avLst/>
          </a:prstGeom>
        </p:spPr>
        <p:txBody>
          <a:bodyPr anchor="t" rtlCol="false" tIns="0" lIns="0" bIns="0" rIns="0">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EV ecosystem</a:t>
            </a:r>
          </a:p>
        </p:txBody>
      </p:sp>
      <p:sp>
        <p:nvSpPr>
          <p:cNvPr name="TextBox 5" id="5"/>
          <p:cNvSpPr txBox="true"/>
          <p:nvPr/>
        </p:nvSpPr>
        <p:spPr>
          <a:xfrm rot="0">
            <a:off x="1028700" y="2088465"/>
            <a:ext cx="5243875" cy="4443731"/>
          </a:xfrm>
          <a:prstGeom prst="rect">
            <a:avLst/>
          </a:prstGeom>
        </p:spPr>
        <p:txBody>
          <a:bodyPr anchor="t" rtlCol="false" tIns="0" lIns="0" bIns="0" rIns="0">
            <a:spAutoFit/>
          </a:bodyPr>
          <a:lstStyle/>
          <a:p>
            <a:pPr algn="l" marL="604513" indent="-302256" lvl="1">
              <a:lnSpc>
                <a:spcPts val="3919"/>
              </a:lnSpc>
              <a:buFont typeface="Arial"/>
              <a:buChar char="•"/>
            </a:pPr>
            <a:r>
              <a:rPr lang="en-US" b="true" sz="2799" spc="69">
                <a:solidFill>
                  <a:srgbClr val="0B132B"/>
                </a:solidFill>
                <a:latin typeface="Bricolage Grotesque Bold"/>
                <a:ea typeface="Bricolage Grotesque Bold"/>
                <a:cs typeface="Bricolage Grotesque Bold"/>
                <a:sym typeface="Bricolage Grotesque Bold"/>
              </a:rPr>
              <a:t>based on the chart showing, the country that has the highest emission score, has the highest EV market share. </a:t>
            </a:r>
          </a:p>
          <a:p>
            <a:pPr algn="l">
              <a:lnSpc>
                <a:spcPts val="3919"/>
              </a:lnSpc>
            </a:pPr>
          </a:p>
          <a:p>
            <a:pPr algn="l">
              <a:lnSpc>
                <a:spcPts val="3919"/>
              </a:lnSpc>
            </a:pPr>
          </a:p>
          <a:p>
            <a:pPr algn="l">
              <a:lnSpc>
                <a:spcPts val="3919"/>
              </a:lnSpc>
            </a:pPr>
          </a:p>
          <a:p>
            <a:pPr algn="l">
              <a:lnSpc>
                <a:spcPts val="3919"/>
              </a:lnSpc>
            </a:pPr>
          </a:p>
        </p:txBody>
      </p:sp>
      <p:sp>
        <p:nvSpPr>
          <p:cNvPr name="TextBox 6" id="6"/>
          <p:cNvSpPr txBox="true"/>
          <p:nvPr/>
        </p:nvSpPr>
        <p:spPr>
          <a:xfrm rot="0">
            <a:off x="1404068" y="5496202"/>
            <a:ext cx="5243875" cy="4107816"/>
          </a:xfrm>
          <a:prstGeom prst="rect">
            <a:avLst/>
          </a:prstGeom>
        </p:spPr>
        <p:txBody>
          <a:bodyPr anchor="t" rtlCol="false" tIns="0" lIns="0" bIns="0" rIns="0">
            <a:spAutoFit/>
          </a:bodyPr>
          <a:lstStyle/>
          <a:p>
            <a:pPr algn="l" marL="626102" indent="-313051" lvl="1">
              <a:lnSpc>
                <a:spcPts val="4059"/>
              </a:lnSpc>
              <a:buFont typeface="Arial"/>
              <a:buChar char="•"/>
            </a:pPr>
            <a:r>
              <a:rPr lang="en-US" b="true" sz="2899" spc="72">
                <a:solidFill>
                  <a:srgbClr val="0B132B"/>
                </a:solidFill>
                <a:latin typeface="Bricolage Grotesque Bold"/>
                <a:ea typeface="Bricolage Grotesque Bold"/>
                <a:cs typeface="Bricolage Grotesque Bold"/>
                <a:sym typeface="Bricolage Grotesque Bold"/>
              </a:rPr>
              <a:t>Norway has the highest regulation score; furthermore, highest EV market share.</a:t>
            </a:r>
          </a:p>
          <a:p>
            <a:pPr algn="l">
              <a:lnSpc>
                <a:spcPts val="4059"/>
              </a:lnSpc>
            </a:pPr>
          </a:p>
          <a:p>
            <a:pPr algn="l">
              <a:lnSpc>
                <a:spcPts val="4059"/>
              </a:lnSpc>
            </a:pPr>
          </a:p>
          <a:p>
            <a:pPr algn="l">
              <a:lnSpc>
                <a:spcPts val="4059"/>
              </a:lnSpc>
            </a:pPr>
          </a:p>
          <a:p>
            <a:pPr algn="l">
              <a:lnSpc>
                <a:spcPts val="4059"/>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93356"/>
            <a:ext cx="16652857" cy="9700289"/>
          </a:xfrm>
          <a:custGeom>
            <a:avLst/>
            <a:gdLst/>
            <a:ahLst/>
            <a:cxnLst/>
            <a:rect r="r" b="b" t="t" l="l"/>
            <a:pathLst>
              <a:path h="9700289" w="16652857">
                <a:moveTo>
                  <a:pt x="0" y="0"/>
                </a:moveTo>
                <a:lnTo>
                  <a:pt x="16652857" y="0"/>
                </a:lnTo>
                <a:lnTo>
                  <a:pt x="16652857" y="9700288"/>
                </a:lnTo>
                <a:lnTo>
                  <a:pt x="0" y="9700288"/>
                </a:lnTo>
                <a:lnTo>
                  <a:pt x="0" y="0"/>
                </a:lnTo>
                <a:close/>
              </a:path>
            </a:pathLst>
          </a:custGeom>
          <a:blipFill>
            <a:blip r:embed="rId2"/>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808637"/>
            <a:ext cx="229386" cy="182674"/>
          </a:xfrm>
          <a:custGeom>
            <a:avLst/>
            <a:gdLst/>
            <a:ahLst/>
            <a:cxnLst/>
            <a:rect r="r" b="b" t="t" l="l"/>
            <a:pathLst>
              <a:path h="182674" w="229386">
                <a:moveTo>
                  <a:pt x="0" y="0"/>
                </a:moveTo>
                <a:lnTo>
                  <a:pt x="229386" y="0"/>
                </a:lnTo>
                <a:lnTo>
                  <a:pt x="229386" y="182675"/>
                </a:lnTo>
                <a:lnTo>
                  <a:pt x="0" y="1826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41382" y="6210638"/>
            <a:ext cx="7843154" cy="3047662"/>
            <a:chOff x="0" y="0"/>
            <a:chExt cx="2025855" cy="787199"/>
          </a:xfrm>
        </p:grpSpPr>
        <p:sp>
          <p:nvSpPr>
            <p:cNvPr name="Freeform 4" id="4"/>
            <p:cNvSpPr/>
            <p:nvPr/>
          </p:nvSpPr>
          <p:spPr>
            <a:xfrm flipH="false" flipV="false" rot="0">
              <a:off x="0" y="0"/>
              <a:ext cx="2025855" cy="787199"/>
            </a:xfrm>
            <a:custGeom>
              <a:avLst/>
              <a:gdLst/>
              <a:ahLst/>
              <a:cxnLst/>
              <a:rect r="r" b="b" t="t" l="l"/>
              <a:pathLst>
                <a:path h="787199" w="2025855">
                  <a:moveTo>
                    <a:pt x="59226" y="0"/>
                  </a:moveTo>
                  <a:lnTo>
                    <a:pt x="1966629" y="0"/>
                  </a:lnTo>
                  <a:cubicBezTo>
                    <a:pt x="1982337" y="0"/>
                    <a:pt x="1997401" y="6240"/>
                    <a:pt x="2008508" y="17347"/>
                  </a:cubicBezTo>
                  <a:cubicBezTo>
                    <a:pt x="2019615" y="28454"/>
                    <a:pt x="2025855" y="43518"/>
                    <a:pt x="2025855" y="59226"/>
                  </a:cubicBezTo>
                  <a:lnTo>
                    <a:pt x="2025855" y="727973"/>
                  </a:lnTo>
                  <a:cubicBezTo>
                    <a:pt x="2025855" y="743681"/>
                    <a:pt x="2019615" y="758745"/>
                    <a:pt x="2008508" y="769852"/>
                  </a:cubicBezTo>
                  <a:cubicBezTo>
                    <a:pt x="1997401" y="780959"/>
                    <a:pt x="1982337" y="787199"/>
                    <a:pt x="1966629" y="787199"/>
                  </a:cubicBezTo>
                  <a:lnTo>
                    <a:pt x="59226" y="787199"/>
                  </a:lnTo>
                  <a:cubicBezTo>
                    <a:pt x="43518" y="787199"/>
                    <a:pt x="28454" y="780959"/>
                    <a:pt x="17347" y="769852"/>
                  </a:cubicBezTo>
                  <a:cubicBezTo>
                    <a:pt x="6240" y="758745"/>
                    <a:pt x="0" y="743681"/>
                    <a:pt x="0" y="727973"/>
                  </a:cubicBezTo>
                  <a:lnTo>
                    <a:pt x="0" y="59226"/>
                  </a:lnTo>
                  <a:cubicBezTo>
                    <a:pt x="0" y="43518"/>
                    <a:pt x="6240" y="28454"/>
                    <a:pt x="17347" y="17347"/>
                  </a:cubicBezTo>
                  <a:cubicBezTo>
                    <a:pt x="28454" y="6240"/>
                    <a:pt x="43518" y="0"/>
                    <a:pt x="59226" y="0"/>
                  </a:cubicBezTo>
                  <a:close/>
                </a:path>
              </a:pathLst>
            </a:custGeom>
            <a:ln w="19050" cap="rnd">
              <a:solidFill>
                <a:srgbClr val="00B58F"/>
              </a:solidFill>
              <a:prstDash val="solid"/>
              <a:round/>
            </a:ln>
          </p:spPr>
        </p:sp>
        <p:sp>
          <p:nvSpPr>
            <p:cNvPr name="TextBox 5" id="5"/>
            <p:cNvSpPr txBox="true"/>
            <p:nvPr/>
          </p:nvSpPr>
          <p:spPr>
            <a:xfrm>
              <a:off x="0" y="-38100"/>
              <a:ext cx="2025855" cy="825299"/>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446501" y="3718028"/>
            <a:ext cx="8741036" cy="5246370"/>
            <a:chOff x="0" y="0"/>
            <a:chExt cx="6350000" cy="3811270"/>
          </a:xfrm>
        </p:grpSpPr>
        <p:sp>
          <p:nvSpPr>
            <p:cNvPr name="Freeform 7" id="7"/>
            <p:cNvSpPr/>
            <p:nvPr/>
          </p:nvSpPr>
          <p:spPr>
            <a:xfrm flipH="false" flipV="false" rot="0">
              <a:off x="0" y="0"/>
              <a:ext cx="6350000" cy="3811270"/>
            </a:xfrm>
            <a:custGeom>
              <a:avLst/>
              <a:gdLst/>
              <a:ahLst/>
              <a:cxnLst/>
              <a:rect r="r" b="b" t="t" l="l"/>
              <a:pathLst>
                <a:path h="3811270" w="6350000">
                  <a:moveTo>
                    <a:pt x="1648460" y="0"/>
                  </a:moveTo>
                  <a:lnTo>
                    <a:pt x="5812790" y="0"/>
                  </a:lnTo>
                  <a:cubicBezTo>
                    <a:pt x="6109970" y="0"/>
                    <a:pt x="6350000" y="240030"/>
                    <a:pt x="6350000" y="537210"/>
                  </a:cubicBezTo>
                  <a:lnTo>
                    <a:pt x="6350000" y="2466340"/>
                  </a:lnTo>
                  <a:cubicBezTo>
                    <a:pt x="6350000" y="2763520"/>
                    <a:pt x="6109970" y="3003550"/>
                    <a:pt x="5812790" y="3003550"/>
                  </a:cubicBezTo>
                  <a:lnTo>
                    <a:pt x="4751070" y="3003550"/>
                  </a:lnTo>
                  <a:cubicBezTo>
                    <a:pt x="4587240" y="3003550"/>
                    <a:pt x="4431030" y="3078480"/>
                    <a:pt x="4329430" y="3208020"/>
                  </a:cubicBezTo>
                  <a:lnTo>
                    <a:pt x="4013200" y="3606800"/>
                  </a:lnTo>
                  <a:cubicBezTo>
                    <a:pt x="3911600" y="3735070"/>
                    <a:pt x="3756660" y="3811270"/>
                    <a:pt x="3591560" y="3811270"/>
                  </a:cubicBezTo>
                  <a:lnTo>
                    <a:pt x="537210" y="3811270"/>
                  </a:lnTo>
                  <a:cubicBezTo>
                    <a:pt x="240030" y="3811270"/>
                    <a:pt x="0" y="3571240"/>
                    <a:pt x="0" y="3274060"/>
                  </a:cubicBezTo>
                  <a:lnTo>
                    <a:pt x="0" y="1375410"/>
                  </a:lnTo>
                  <a:cubicBezTo>
                    <a:pt x="0" y="1206500"/>
                    <a:pt x="78740" y="1047750"/>
                    <a:pt x="213360" y="946150"/>
                  </a:cubicBezTo>
                  <a:lnTo>
                    <a:pt x="1324610" y="107950"/>
                  </a:lnTo>
                  <a:cubicBezTo>
                    <a:pt x="1417320" y="38100"/>
                    <a:pt x="1531620" y="0"/>
                    <a:pt x="1648460" y="0"/>
                  </a:cubicBezTo>
                  <a:close/>
                </a:path>
              </a:pathLst>
            </a:custGeom>
            <a:blipFill>
              <a:blip r:embed="rId4"/>
              <a:stretch>
                <a:fillRect l="0" t="-16250" r="-14728" b="-11103"/>
              </a:stretch>
            </a:blipFill>
          </p:spPr>
        </p:sp>
      </p:grpSp>
      <p:grpSp>
        <p:nvGrpSpPr>
          <p:cNvPr name="Group 8" id="8"/>
          <p:cNvGrpSpPr/>
          <p:nvPr/>
        </p:nvGrpSpPr>
        <p:grpSpPr>
          <a:xfrm rot="0">
            <a:off x="7371477" y="8131243"/>
            <a:ext cx="2494073" cy="696611"/>
            <a:chOff x="0" y="0"/>
            <a:chExt cx="1040605" cy="290648"/>
          </a:xfrm>
        </p:grpSpPr>
        <p:sp>
          <p:nvSpPr>
            <p:cNvPr name="Freeform 9" id="9"/>
            <p:cNvSpPr/>
            <p:nvPr/>
          </p:nvSpPr>
          <p:spPr>
            <a:xfrm flipH="false" flipV="false" rot="0">
              <a:off x="47577" y="0"/>
              <a:ext cx="945451" cy="290648"/>
            </a:xfrm>
            <a:custGeom>
              <a:avLst/>
              <a:gdLst/>
              <a:ahLst/>
              <a:cxnLst/>
              <a:rect r="r" b="b" t="t" l="l"/>
              <a:pathLst>
                <a:path h="290648" w="945451">
                  <a:moveTo>
                    <a:pt x="254955" y="0"/>
                  </a:moveTo>
                  <a:lnTo>
                    <a:pt x="893696" y="0"/>
                  </a:lnTo>
                  <a:cubicBezTo>
                    <a:pt x="912988" y="0"/>
                    <a:pt x="930680" y="10731"/>
                    <a:pt x="939594" y="27840"/>
                  </a:cubicBezTo>
                  <a:cubicBezTo>
                    <a:pt x="948509" y="44950"/>
                    <a:pt x="947167" y="65598"/>
                    <a:pt x="936112" y="81409"/>
                  </a:cubicBezTo>
                  <a:lnTo>
                    <a:pt x="846743" y="209239"/>
                  </a:lnTo>
                  <a:cubicBezTo>
                    <a:pt x="811075" y="260257"/>
                    <a:pt x="752746" y="290648"/>
                    <a:pt x="690496" y="290648"/>
                  </a:cubicBezTo>
                  <a:lnTo>
                    <a:pt x="51755" y="290648"/>
                  </a:lnTo>
                  <a:cubicBezTo>
                    <a:pt x="32462" y="290648"/>
                    <a:pt x="14771" y="279917"/>
                    <a:pt x="5857" y="262808"/>
                  </a:cubicBezTo>
                  <a:cubicBezTo>
                    <a:pt x="-3058" y="245698"/>
                    <a:pt x="-1716" y="225050"/>
                    <a:pt x="9339" y="209239"/>
                  </a:cubicBezTo>
                  <a:lnTo>
                    <a:pt x="98707" y="81409"/>
                  </a:lnTo>
                  <a:cubicBezTo>
                    <a:pt x="134376" y="30391"/>
                    <a:pt x="192705" y="0"/>
                    <a:pt x="254955" y="0"/>
                  </a:cubicBezTo>
                  <a:close/>
                </a:path>
              </a:pathLst>
            </a:custGeom>
            <a:solidFill>
              <a:srgbClr val="00B58F"/>
            </a:solidFill>
          </p:spPr>
        </p:sp>
        <p:sp>
          <p:nvSpPr>
            <p:cNvPr name="TextBox 10" id="10"/>
            <p:cNvSpPr txBox="true"/>
            <p:nvPr/>
          </p:nvSpPr>
          <p:spPr>
            <a:xfrm>
              <a:off x="101600" y="-38100"/>
              <a:ext cx="837405" cy="328748"/>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9699052" y="2774576"/>
            <a:ext cx="976970" cy="696611"/>
            <a:chOff x="0" y="0"/>
            <a:chExt cx="407622" cy="290648"/>
          </a:xfrm>
        </p:grpSpPr>
        <p:sp>
          <p:nvSpPr>
            <p:cNvPr name="Freeform 12" id="12"/>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13" id="13"/>
            <p:cNvSpPr txBox="true"/>
            <p:nvPr/>
          </p:nvSpPr>
          <p:spPr>
            <a:xfrm>
              <a:off x="101600" y="-38100"/>
              <a:ext cx="204422" cy="328748"/>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0944436" y="5992907"/>
            <a:ext cx="976970" cy="696611"/>
            <a:chOff x="0" y="0"/>
            <a:chExt cx="407622" cy="290648"/>
          </a:xfrm>
        </p:grpSpPr>
        <p:sp>
          <p:nvSpPr>
            <p:cNvPr name="Freeform 15" id="15"/>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16" id="16"/>
            <p:cNvSpPr txBox="true"/>
            <p:nvPr/>
          </p:nvSpPr>
          <p:spPr>
            <a:xfrm>
              <a:off x="101600" y="-38100"/>
              <a:ext cx="204422" cy="328748"/>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1597282" y="5992907"/>
            <a:ext cx="976970" cy="696611"/>
            <a:chOff x="0" y="0"/>
            <a:chExt cx="407622" cy="290648"/>
          </a:xfrm>
        </p:grpSpPr>
        <p:sp>
          <p:nvSpPr>
            <p:cNvPr name="Freeform 18" id="18"/>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19" id="19"/>
            <p:cNvSpPr txBox="true"/>
            <p:nvPr/>
          </p:nvSpPr>
          <p:spPr>
            <a:xfrm>
              <a:off x="101600" y="-38100"/>
              <a:ext cx="204422" cy="328748"/>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10455951" y="2799818"/>
            <a:ext cx="976970" cy="696611"/>
            <a:chOff x="0" y="0"/>
            <a:chExt cx="407622" cy="290648"/>
          </a:xfrm>
        </p:grpSpPr>
        <p:sp>
          <p:nvSpPr>
            <p:cNvPr name="Freeform 21" id="21"/>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22" id="22"/>
            <p:cNvSpPr txBox="true"/>
            <p:nvPr/>
          </p:nvSpPr>
          <p:spPr>
            <a:xfrm>
              <a:off x="101600" y="-38100"/>
              <a:ext cx="204422" cy="328748"/>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12226939" y="5992907"/>
            <a:ext cx="976970" cy="696611"/>
            <a:chOff x="0" y="0"/>
            <a:chExt cx="407622" cy="290648"/>
          </a:xfrm>
        </p:grpSpPr>
        <p:sp>
          <p:nvSpPr>
            <p:cNvPr name="Freeform 24" id="24"/>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25" id="25"/>
            <p:cNvSpPr txBox="true"/>
            <p:nvPr/>
          </p:nvSpPr>
          <p:spPr>
            <a:xfrm>
              <a:off x="101600" y="-38100"/>
              <a:ext cx="204422" cy="328748"/>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11108797" y="2799818"/>
            <a:ext cx="976970" cy="696611"/>
            <a:chOff x="0" y="0"/>
            <a:chExt cx="407622" cy="290648"/>
          </a:xfrm>
        </p:grpSpPr>
        <p:sp>
          <p:nvSpPr>
            <p:cNvPr name="Freeform 27" id="27"/>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28" id="28"/>
            <p:cNvSpPr txBox="true"/>
            <p:nvPr/>
          </p:nvSpPr>
          <p:spPr>
            <a:xfrm>
              <a:off x="101600" y="-38100"/>
              <a:ext cx="204422" cy="328748"/>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1353022" y="754961"/>
            <a:ext cx="2381625" cy="549910"/>
          </a:xfrm>
          <a:prstGeom prst="rect">
            <a:avLst/>
          </a:prstGeom>
        </p:spPr>
        <p:txBody>
          <a:bodyPr anchor="t" rtlCol="false" tIns="0" lIns="0" bIns="0" rIns="0">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group-1</a:t>
            </a:r>
          </a:p>
          <a:p>
            <a:pPr algn="l">
              <a:lnSpc>
                <a:spcPts val="2239"/>
              </a:lnSpc>
            </a:pPr>
            <a:r>
              <a:rPr lang="en-US" sz="1599" spc="39">
                <a:solidFill>
                  <a:srgbClr val="0B132B"/>
                </a:solidFill>
                <a:latin typeface="Bricolage Grotesque"/>
                <a:ea typeface="Bricolage Grotesque"/>
                <a:cs typeface="Bricolage Grotesque"/>
                <a:sym typeface="Bricolage Grotesque"/>
              </a:rPr>
              <a:t>data analysis</a:t>
            </a:r>
          </a:p>
        </p:txBody>
      </p:sp>
      <p:grpSp>
        <p:nvGrpSpPr>
          <p:cNvPr name="Group 30" id="30"/>
          <p:cNvGrpSpPr/>
          <p:nvPr/>
        </p:nvGrpSpPr>
        <p:grpSpPr>
          <a:xfrm rot="0">
            <a:off x="-3150242" y="9960324"/>
            <a:ext cx="8436141" cy="1142074"/>
            <a:chOff x="0" y="0"/>
            <a:chExt cx="2179021" cy="294993"/>
          </a:xfrm>
        </p:grpSpPr>
        <p:sp>
          <p:nvSpPr>
            <p:cNvPr name="Freeform 31" id="31"/>
            <p:cNvSpPr/>
            <p:nvPr/>
          </p:nvSpPr>
          <p:spPr>
            <a:xfrm flipH="false" flipV="false" rot="0">
              <a:off x="0" y="0"/>
              <a:ext cx="2179021" cy="294993"/>
            </a:xfrm>
            <a:custGeom>
              <a:avLst/>
              <a:gdLst/>
              <a:ahLst/>
              <a:cxnLst/>
              <a:rect r="r" b="b" t="t" l="l"/>
              <a:pathLst>
                <a:path h="294993" w="2179021">
                  <a:moveTo>
                    <a:pt x="55063" y="0"/>
                  </a:moveTo>
                  <a:lnTo>
                    <a:pt x="2123958" y="0"/>
                  </a:lnTo>
                  <a:cubicBezTo>
                    <a:pt x="2154368" y="0"/>
                    <a:pt x="2179021" y="24652"/>
                    <a:pt x="2179021" y="55063"/>
                  </a:cubicBezTo>
                  <a:lnTo>
                    <a:pt x="2179021" y="239930"/>
                  </a:lnTo>
                  <a:cubicBezTo>
                    <a:pt x="2179021" y="270341"/>
                    <a:pt x="2154368" y="294993"/>
                    <a:pt x="2123958" y="294993"/>
                  </a:cubicBezTo>
                  <a:lnTo>
                    <a:pt x="55063" y="294993"/>
                  </a:lnTo>
                  <a:cubicBezTo>
                    <a:pt x="24652" y="294993"/>
                    <a:pt x="0" y="270341"/>
                    <a:pt x="0" y="239930"/>
                  </a:cubicBezTo>
                  <a:lnTo>
                    <a:pt x="0" y="55063"/>
                  </a:lnTo>
                  <a:cubicBezTo>
                    <a:pt x="0" y="24652"/>
                    <a:pt x="24652" y="0"/>
                    <a:pt x="55063" y="0"/>
                  </a:cubicBezTo>
                  <a:close/>
                </a:path>
              </a:pathLst>
            </a:custGeom>
            <a:ln w="19050" cap="rnd">
              <a:solidFill>
                <a:srgbClr val="00B58F"/>
              </a:solidFill>
              <a:prstDash val="solid"/>
              <a:round/>
            </a:ln>
          </p:spPr>
        </p:sp>
        <p:sp>
          <p:nvSpPr>
            <p:cNvPr name="TextBox 32" id="32"/>
            <p:cNvSpPr txBox="true"/>
            <p:nvPr/>
          </p:nvSpPr>
          <p:spPr>
            <a:xfrm>
              <a:off x="0" y="-38100"/>
              <a:ext cx="2179021"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33" id="33"/>
          <p:cNvGrpSpPr/>
          <p:nvPr/>
        </p:nvGrpSpPr>
        <p:grpSpPr>
          <a:xfrm rot="0">
            <a:off x="14384067" y="-784283"/>
            <a:ext cx="12412118" cy="1142074"/>
            <a:chOff x="0" y="0"/>
            <a:chExt cx="3205999" cy="294993"/>
          </a:xfrm>
        </p:grpSpPr>
        <p:sp>
          <p:nvSpPr>
            <p:cNvPr name="Freeform 34" id="34"/>
            <p:cNvSpPr/>
            <p:nvPr/>
          </p:nvSpPr>
          <p:spPr>
            <a:xfrm flipH="false" flipV="false" rot="0">
              <a:off x="0" y="0"/>
              <a:ext cx="3205999" cy="294993"/>
            </a:xfrm>
            <a:custGeom>
              <a:avLst/>
              <a:gdLst/>
              <a:ahLst/>
              <a:cxnLst/>
              <a:rect r="r" b="b" t="t" l="l"/>
              <a:pathLst>
                <a:path h="294993" w="3205999">
                  <a:moveTo>
                    <a:pt x="37424" y="0"/>
                  </a:moveTo>
                  <a:lnTo>
                    <a:pt x="3168575" y="0"/>
                  </a:lnTo>
                  <a:cubicBezTo>
                    <a:pt x="3189244" y="0"/>
                    <a:pt x="3205999" y="16755"/>
                    <a:pt x="3205999" y="37424"/>
                  </a:cubicBezTo>
                  <a:lnTo>
                    <a:pt x="3205999" y="257569"/>
                  </a:lnTo>
                  <a:cubicBezTo>
                    <a:pt x="3205999" y="267494"/>
                    <a:pt x="3202056" y="277013"/>
                    <a:pt x="3195038" y="284032"/>
                  </a:cubicBezTo>
                  <a:cubicBezTo>
                    <a:pt x="3188020" y="291050"/>
                    <a:pt x="3178501" y="294993"/>
                    <a:pt x="3168575" y="294993"/>
                  </a:cubicBezTo>
                  <a:lnTo>
                    <a:pt x="37424" y="294993"/>
                  </a:lnTo>
                  <a:cubicBezTo>
                    <a:pt x="16755" y="294993"/>
                    <a:pt x="0" y="278238"/>
                    <a:pt x="0" y="257569"/>
                  </a:cubicBezTo>
                  <a:lnTo>
                    <a:pt x="0" y="37424"/>
                  </a:lnTo>
                  <a:cubicBezTo>
                    <a:pt x="0" y="16755"/>
                    <a:pt x="16755" y="0"/>
                    <a:pt x="37424" y="0"/>
                  </a:cubicBezTo>
                  <a:close/>
                </a:path>
              </a:pathLst>
            </a:custGeom>
            <a:ln w="19050" cap="rnd">
              <a:solidFill>
                <a:srgbClr val="00B58F"/>
              </a:solidFill>
              <a:prstDash val="solid"/>
              <a:round/>
            </a:ln>
          </p:spPr>
        </p:sp>
        <p:sp>
          <p:nvSpPr>
            <p:cNvPr name="TextBox 35" id="35"/>
            <p:cNvSpPr txBox="true"/>
            <p:nvPr/>
          </p:nvSpPr>
          <p:spPr>
            <a:xfrm>
              <a:off x="0" y="-38100"/>
              <a:ext cx="3205999" cy="333093"/>
            </a:xfrm>
            <a:prstGeom prst="rect">
              <a:avLst/>
            </a:prstGeom>
          </p:spPr>
          <p:txBody>
            <a:bodyPr anchor="ctr" rtlCol="false" tIns="50800" lIns="50800" bIns="50800" rIns="50800"/>
            <a:lstStyle/>
            <a:p>
              <a:pPr algn="ctr">
                <a:lnSpc>
                  <a:spcPts val="2659"/>
                </a:lnSpc>
                <a:spcBef>
                  <a:spcPct val="0"/>
                </a:spcBef>
              </a:pPr>
            </a:p>
          </p:txBody>
        </p:sp>
      </p:grpSp>
      <p:sp>
        <p:nvSpPr>
          <p:cNvPr name="TextBox 36" id="36"/>
          <p:cNvSpPr txBox="true"/>
          <p:nvPr/>
        </p:nvSpPr>
        <p:spPr>
          <a:xfrm rot="0">
            <a:off x="12085766" y="2742668"/>
            <a:ext cx="6465492" cy="1893569"/>
          </a:xfrm>
          <a:prstGeom prst="rect">
            <a:avLst/>
          </a:prstGeom>
        </p:spPr>
        <p:txBody>
          <a:bodyPr anchor="t" rtlCol="false" tIns="0" lIns="0" bIns="0" rIns="0">
            <a:spAutoFit/>
          </a:bodyPr>
          <a:lstStyle/>
          <a:p>
            <a:pPr algn="l" marL="0" indent="0" lvl="1">
              <a:lnSpc>
                <a:spcPts val="3780"/>
              </a:lnSpc>
              <a:spcBef>
                <a:spcPct val="0"/>
              </a:spcBef>
            </a:pPr>
            <a:r>
              <a:rPr lang="en-US" b="true" sz="2700" strike="noStrike" u="none">
                <a:solidFill>
                  <a:srgbClr val="000000"/>
                </a:solidFill>
                <a:latin typeface="Canva Sans Bold"/>
                <a:ea typeface="Canva Sans Bold"/>
                <a:cs typeface="Canva Sans Bold"/>
                <a:sym typeface="Canva Sans Bold"/>
              </a:rPr>
              <a:t>The EV Sales accelerated Over Time</a:t>
            </a:r>
          </a:p>
          <a:p>
            <a:pPr algn="l" marL="0" indent="0" lvl="1">
              <a:lnSpc>
                <a:spcPts val="3780"/>
              </a:lnSpc>
              <a:spcBef>
                <a:spcPct val="0"/>
              </a:spcBef>
            </a:pPr>
            <a:r>
              <a:rPr lang="en-US" b="true" sz="2700" strike="noStrike" u="none">
                <a:solidFill>
                  <a:srgbClr val="000000"/>
                </a:solidFill>
                <a:latin typeface="Canva Sans Bold"/>
                <a:ea typeface="Canva Sans Bold"/>
                <a:cs typeface="Canva Sans Bold"/>
                <a:sym typeface="Canva Sans Bold"/>
              </a:rPr>
              <a:t> EV adoption  significantly after 2020, reflecting increasing consumer demand.</a:t>
            </a:r>
          </a:p>
        </p:txBody>
      </p:sp>
      <p:grpSp>
        <p:nvGrpSpPr>
          <p:cNvPr name="Group 37" id="37"/>
          <p:cNvGrpSpPr/>
          <p:nvPr/>
        </p:nvGrpSpPr>
        <p:grpSpPr>
          <a:xfrm rot="0">
            <a:off x="1446501" y="1469058"/>
            <a:ext cx="6340701" cy="1305518"/>
            <a:chOff x="0" y="0"/>
            <a:chExt cx="1669979" cy="343840"/>
          </a:xfrm>
        </p:grpSpPr>
        <p:sp>
          <p:nvSpPr>
            <p:cNvPr name="Freeform 38" id="38"/>
            <p:cNvSpPr/>
            <p:nvPr/>
          </p:nvSpPr>
          <p:spPr>
            <a:xfrm flipH="false" flipV="false" rot="0">
              <a:off x="0" y="0"/>
              <a:ext cx="1669979" cy="343840"/>
            </a:xfrm>
            <a:custGeom>
              <a:avLst/>
              <a:gdLst/>
              <a:ahLst/>
              <a:cxnLst/>
              <a:rect r="r" b="b" t="t" l="l"/>
              <a:pathLst>
                <a:path h="343840" w="1669979">
                  <a:moveTo>
                    <a:pt x="62270" y="0"/>
                  </a:moveTo>
                  <a:lnTo>
                    <a:pt x="1607709" y="0"/>
                  </a:lnTo>
                  <a:cubicBezTo>
                    <a:pt x="1642100" y="0"/>
                    <a:pt x="1669979" y="27879"/>
                    <a:pt x="1669979" y="62270"/>
                  </a:cubicBezTo>
                  <a:lnTo>
                    <a:pt x="1669979" y="281570"/>
                  </a:lnTo>
                  <a:cubicBezTo>
                    <a:pt x="1669979" y="298085"/>
                    <a:pt x="1663418" y="313923"/>
                    <a:pt x="1651740" y="325601"/>
                  </a:cubicBezTo>
                  <a:cubicBezTo>
                    <a:pt x="1640062" y="337279"/>
                    <a:pt x="1624224" y="343840"/>
                    <a:pt x="1607709" y="343840"/>
                  </a:cubicBezTo>
                  <a:lnTo>
                    <a:pt x="62270" y="343840"/>
                  </a:lnTo>
                  <a:cubicBezTo>
                    <a:pt x="45755" y="343840"/>
                    <a:pt x="29917" y="337279"/>
                    <a:pt x="18239" y="325601"/>
                  </a:cubicBezTo>
                  <a:cubicBezTo>
                    <a:pt x="6561" y="313923"/>
                    <a:pt x="0" y="298085"/>
                    <a:pt x="0" y="281570"/>
                  </a:cubicBezTo>
                  <a:lnTo>
                    <a:pt x="0" y="62270"/>
                  </a:lnTo>
                  <a:cubicBezTo>
                    <a:pt x="0" y="45755"/>
                    <a:pt x="6561" y="29917"/>
                    <a:pt x="18239" y="18239"/>
                  </a:cubicBezTo>
                  <a:cubicBezTo>
                    <a:pt x="29917" y="6561"/>
                    <a:pt x="45755" y="0"/>
                    <a:pt x="62270" y="0"/>
                  </a:cubicBezTo>
                  <a:close/>
                </a:path>
              </a:pathLst>
            </a:custGeom>
            <a:solidFill>
              <a:srgbClr val="FFFFFF"/>
            </a:solidFill>
          </p:spPr>
        </p:sp>
        <p:sp>
          <p:nvSpPr>
            <p:cNvPr name="TextBox 39" id="39"/>
            <p:cNvSpPr txBox="true"/>
            <p:nvPr/>
          </p:nvSpPr>
          <p:spPr>
            <a:xfrm>
              <a:off x="0" y="-85725"/>
              <a:ext cx="1669979" cy="429565"/>
            </a:xfrm>
            <a:prstGeom prst="rect">
              <a:avLst/>
            </a:prstGeom>
          </p:spPr>
          <p:txBody>
            <a:bodyPr anchor="ctr" rtlCol="false" tIns="50800" lIns="50800" bIns="50800" rIns="50800"/>
            <a:lstStyle/>
            <a:p>
              <a:pPr algn="ctr">
                <a:lnSpc>
                  <a:spcPts val="6579"/>
                </a:lnSpc>
              </a:pPr>
              <a:r>
                <a:rPr lang="en-US" sz="4699">
                  <a:solidFill>
                    <a:srgbClr val="000000"/>
                  </a:solidFill>
                  <a:latin typeface="Rubik One"/>
                  <a:ea typeface="Rubik One"/>
                  <a:cs typeface="Rubik One"/>
                  <a:sym typeface="Rubik One"/>
                </a:rPr>
                <a:t>Conclusion</a:t>
              </a:r>
            </a:p>
          </p:txBody>
        </p:sp>
      </p:grpSp>
      <p:sp>
        <p:nvSpPr>
          <p:cNvPr name="TextBox 40" id="40"/>
          <p:cNvSpPr txBox="true"/>
          <p:nvPr/>
        </p:nvSpPr>
        <p:spPr>
          <a:xfrm rot="0">
            <a:off x="13392913" y="5935757"/>
            <a:ext cx="4895087" cy="941069"/>
          </a:xfrm>
          <a:prstGeom prst="rect">
            <a:avLst/>
          </a:prstGeom>
        </p:spPr>
        <p:txBody>
          <a:bodyPr anchor="t" rtlCol="false" tIns="0" lIns="0" bIns="0" rIns="0">
            <a:spAutoFit/>
          </a:bodyPr>
          <a:lstStyle/>
          <a:p>
            <a:pPr algn="l" marL="0" indent="0" lvl="1">
              <a:lnSpc>
                <a:spcPts val="3780"/>
              </a:lnSpc>
              <a:spcBef>
                <a:spcPct val="0"/>
              </a:spcBef>
            </a:pPr>
            <a:r>
              <a:rPr lang="en-US" b="true" sz="2700" strike="noStrike" u="none">
                <a:solidFill>
                  <a:srgbClr val="000000"/>
                </a:solidFill>
                <a:latin typeface="Canva Sans Bold"/>
                <a:ea typeface="Canva Sans Bold"/>
                <a:cs typeface="Canva Sans Bold"/>
                <a:sym typeface="Canva Sans Bold"/>
              </a:rPr>
              <a:t>APAC became the leading region in EV sales volume.</a:t>
            </a:r>
          </a:p>
        </p:txBody>
      </p:sp>
      <p:sp>
        <p:nvSpPr>
          <p:cNvPr name="TextBox 41" id="41"/>
          <p:cNvSpPr txBox="true"/>
          <p:nvPr/>
        </p:nvSpPr>
        <p:spPr>
          <a:xfrm rot="0">
            <a:off x="10013566" y="7886963"/>
            <a:ext cx="7778104" cy="1824633"/>
          </a:xfrm>
          <a:prstGeom prst="rect">
            <a:avLst/>
          </a:prstGeom>
        </p:spPr>
        <p:txBody>
          <a:bodyPr anchor="t" rtlCol="false" tIns="0" lIns="0" bIns="0" rIns="0">
            <a:spAutoFit/>
          </a:bodyPr>
          <a:lstStyle/>
          <a:p>
            <a:pPr algn="l" marL="0" indent="0" lvl="1">
              <a:lnSpc>
                <a:spcPts val="3638"/>
              </a:lnSpc>
              <a:spcBef>
                <a:spcPct val="0"/>
              </a:spcBef>
            </a:pPr>
            <a:r>
              <a:rPr lang="en-US" b="true" sz="2598" strike="noStrike" u="none">
                <a:solidFill>
                  <a:srgbClr val="000000"/>
                </a:solidFill>
                <a:latin typeface="Canva Sans Bold"/>
                <a:ea typeface="Canva Sans Bold"/>
                <a:cs typeface="Canva Sans Bold"/>
                <a:sym typeface="Canva Sans Bold"/>
              </a:rPr>
              <a:t>Norway achieved one of the highest EV market shares because of tax exemptions, fuel cost savings, and strong investment in EV infrastructure.</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808637"/>
            <a:ext cx="229386" cy="182674"/>
          </a:xfrm>
          <a:custGeom>
            <a:avLst/>
            <a:gdLst/>
            <a:ahLst/>
            <a:cxnLst/>
            <a:rect r="r" b="b" t="t" l="l"/>
            <a:pathLst>
              <a:path h="182674" w="229386">
                <a:moveTo>
                  <a:pt x="0" y="0"/>
                </a:moveTo>
                <a:lnTo>
                  <a:pt x="229386" y="0"/>
                </a:lnTo>
                <a:lnTo>
                  <a:pt x="229386" y="182675"/>
                </a:lnTo>
                <a:lnTo>
                  <a:pt x="0" y="1826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41382" y="6210638"/>
            <a:ext cx="7843154" cy="3047662"/>
            <a:chOff x="0" y="0"/>
            <a:chExt cx="2025855" cy="787199"/>
          </a:xfrm>
        </p:grpSpPr>
        <p:sp>
          <p:nvSpPr>
            <p:cNvPr name="Freeform 4" id="4"/>
            <p:cNvSpPr/>
            <p:nvPr/>
          </p:nvSpPr>
          <p:spPr>
            <a:xfrm flipH="false" flipV="false" rot="0">
              <a:off x="0" y="0"/>
              <a:ext cx="2025855" cy="787199"/>
            </a:xfrm>
            <a:custGeom>
              <a:avLst/>
              <a:gdLst/>
              <a:ahLst/>
              <a:cxnLst/>
              <a:rect r="r" b="b" t="t" l="l"/>
              <a:pathLst>
                <a:path h="787199" w="2025855">
                  <a:moveTo>
                    <a:pt x="59226" y="0"/>
                  </a:moveTo>
                  <a:lnTo>
                    <a:pt x="1966629" y="0"/>
                  </a:lnTo>
                  <a:cubicBezTo>
                    <a:pt x="1982337" y="0"/>
                    <a:pt x="1997401" y="6240"/>
                    <a:pt x="2008508" y="17347"/>
                  </a:cubicBezTo>
                  <a:cubicBezTo>
                    <a:pt x="2019615" y="28454"/>
                    <a:pt x="2025855" y="43518"/>
                    <a:pt x="2025855" y="59226"/>
                  </a:cubicBezTo>
                  <a:lnTo>
                    <a:pt x="2025855" y="727973"/>
                  </a:lnTo>
                  <a:cubicBezTo>
                    <a:pt x="2025855" y="743681"/>
                    <a:pt x="2019615" y="758745"/>
                    <a:pt x="2008508" y="769852"/>
                  </a:cubicBezTo>
                  <a:cubicBezTo>
                    <a:pt x="1997401" y="780959"/>
                    <a:pt x="1982337" y="787199"/>
                    <a:pt x="1966629" y="787199"/>
                  </a:cubicBezTo>
                  <a:lnTo>
                    <a:pt x="59226" y="787199"/>
                  </a:lnTo>
                  <a:cubicBezTo>
                    <a:pt x="43518" y="787199"/>
                    <a:pt x="28454" y="780959"/>
                    <a:pt x="17347" y="769852"/>
                  </a:cubicBezTo>
                  <a:cubicBezTo>
                    <a:pt x="6240" y="758745"/>
                    <a:pt x="0" y="743681"/>
                    <a:pt x="0" y="727973"/>
                  </a:cubicBezTo>
                  <a:lnTo>
                    <a:pt x="0" y="59226"/>
                  </a:lnTo>
                  <a:cubicBezTo>
                    <a:pt x="0" y="43518"/>
                    <a:pt x="6240" y="28454"/>
                    <a:pt x="17347" y="17347"/>
                  </a:cubicBezTo>
                  <a:cubicBezTo>
                    <a:pt x="28454" y="6240"/>
                    <a:pt x="43518" y="0"/>
                    <a:pt x="59226" y="0"/>
                  </a:cubicBezTo>
                  <a:close/>
                </a:path>
              </a:pathLst>
            </a:custGeom>
            <a:ln w="19050" cap="rnd">
              <a:solidFill>
                <a:srgbClr val="00B58F"/>
              </a:solidFill>
              <a:prstDash val="solid"/>
              <a:round/>
            </a:ln>
          </p:spPr>
        </p:sp>
        <p:sp>
          <p:nvSpPr>
            <p:cNvPr name="TextBox 5" id="5"/>
            <p:cNvSpPr txBox="true"/>
            <p:nvPr/>
          </p:nvSpPr>
          <p:spPr>
            <a:xfrm>
              <a:off x="0" y="-38100"/>
              <a:ext cx="2025855" cy="825299"/>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446501" y="3718028"/>
            <a:ext cx="8741036" cy="5246370"/>
            <a:chOff x="0" y="0"/>
            <a:chExt cx="6350000" cy="3811270"/>
          </a:xfrm>
        </p:grpSpPr>
        <p:sp>
          <p:nvSpPr>
            <p:cNvPr name="Freeform 7" id="7"/>
            <p:cNvSpPr/>
            <p:nvPr/>
          </p:nvSpPr>
          <p:spPr>
            <a:xfrm flipH="false" flipV="false" rot="0">
              <a:off x="0" y="0"/>
              <a:ext cx="6350000" cy="3811270"/>
            </a:xfrm>
            <a:custGeom>
              <a:avLst/>
              <a:gdLst/>
              <a:ahLst/>
              <a:cxnLst/>
              <a:rect r="r" b="b" t="t" l="l"/>
              <a:pathLst>
                <a:path h="3811270" w="6350000">
                  <a:moveTo>
                    <a:pt x="1648460" y="0"/>
                  </a:moveTo>
                  <a:lnTo>
                    <a:pt x="5812790" y="0"/>
                  </a:lnTo>
                  <a:cubicBezTo>
                    <a:pt x="6109970" y="0"/>
                    <a:pt x="6350000" y="240030"/>
                    <a:pt x="6350000" y="537210"/>
                  </a:cubicBezTo>
                  <a:lnTo>
                    <a:pt x="6350000" y="2466340"/>
                  </a:lnTo>
                  <a:cubicBezTo>
                    <a:pt x="6350000" y="2763520"/>
                    <a:pt x="6109970" y="3003550"/>
                    <a:pt x="5812790" y="3003550"/>
                  </a:cubicBezTo>
                  <a:lnTo>
                    <a:pt x="4751070" y="3003550"/>
                  </a:lnTo>
                  <a:cubicBezTo>
                    <a:pt x="4587240" y="3003550"/>
                    <a:pt x="4431030" y="3078480"/>
                    <a:pt x="4329430" y="3208020"/>
                  </a:cubicBezTo>
                  <a:lnTo>
                    <a:pt x="4013200" y="3606800"/>
                  </a:lnTo>
                  <a:cubicBezTo>
                    <a:pt x="3911600" y="3735070"/>
                    <a:pt x="3756660" y="3811270"/>
                    <a:pt x="3591560" y="3811270"/>
                  </a:cubicBezTo>
                  <a:lnTo>
                    <a:pt x="537210" y="3811270"/>
                  </a:lnTo>
                  <a:cubicBezTo>
                    <a:pt x="240030" y="3811270"/>
                    <a:pt x="0" y="3571240"/>
                    <a:pt x="0" y="3274060"/>
                  </a:cubicBezTo>
                  <a:lnTo>
                    <a:pt x="0" y="1375410"/>
                  </a:lnTo>
                  <a:cubicBezTo>
                    <a:pt x="0" y="1206500"/>
                    <a:pt x="78740" y="1047750"/>
                    <a:pt x="213360" y="946150"/>
                  </a:cubicBezTo>
                  <a:lnTo>
                    <a:pt x="1324610" y="107950"/>
                  </a:lnTo>
                  <a:cubicBezTo>
                    <a:pt x="1417320" y="38100"/>
                    <a:pt x="1531620" y="0"/>
                    <a:pt x="1648460" y="0"/>
                  </a:cubicBezTo>
                  <a:close/>
                </a:path>
              </a:pathLst>
            </a:custGeom>
            <a:blipFill>
              <a:blip r:embed="rId4"/>
              <a:stretch>
                <a:fillRect l="0" t="-16250" r="-14728" b="-11103"/>
              </a:stretch>
            </a:blipFill>
          </p:spPr>
        </p:sp>
      </p:grpSp>
      <p:grpSp>
        <p:nvGrpSpPr>
          <p:cNvPr name="Group 8" id="8"/>
          <p:cNvGrpSpPr/>
          <p:nvPr/>
        </p:nvGrpSpPr>
        <p:grpSpPr>
          <a:xfrm rot="0">
            <a:off x="7371477" y="8131243"/>
            <a:ext cx="2494073" cy="696611"/>
            <a:chOff x="0" y="0"/>
            <a:chExt cx="1040605" cy="290648"/>
          </a:xfrm>
        </p:grpSpPr>
        <p:sp>
          <p:nvSpPr>
            <p:cNvPr name="Freeform 9" id="9"/>
            <p:cNvSpPr/>
            <p:nvPr/>
          </p:nvSpPr>
          <p:spPr>
            <a:xfrm flipH="false" flipV="false" rot="0">
              <a:off x="47577" y="0"/>
              <a:ext cx="945451" cy="290648"/>
            </a:xfrm>
            <a:custGeom>
              <a:avLst/>
              <a:gdLst/>
              <a:ahLst/>
              <a:cxnLst/>
              <a:rect r="r" b="b" t="t" l="l"/>
              <a:pathLst>
                <a:path h="290648" w="945451">
                  <a:moveTo>
                    <a:pt x="254955" y="0"/>
                  </a:moveTo>
                  <a:lnTo>
                    <a:pt x="893696" y="0"/>
                  </a:lnTo>
                  <a:cubicBezTo>
                    <a:pt x="912988" y="0"/>
                    <a:pt x="930680" y="10731"/>
                    <a:pt x="939594" y="27840"/>
                  </a:cubicBezTo>
                  <a:cubicBezTo>
                    <a:pt x="948509" y="44950"/>
                    <a:pt x="947167" y="65598"/>
                    <a:pt x="936112" y="81409"/>
                  </a:cubicBezTo>
                  <a:lnTo>
                    <a:pt x="846743" y="209239"/>
                  </a:lnTo>
                  <a:cubicBezTo>
                    <a:pt x="811075" y="260257"/>
                    <a:pt x="752746" y="290648"/>
                    <a:pt x="690496" y="290648"/>
                  </a:cubicBezTo>
                  <a:lnTo>
                    <a:pt x="51755" y="290648"/>
                  </a:lnTo>
                  <a:cubicBezTo>
                    <a:pt x="32462" y="290648"/>
                    <a:pt x="14771" y="279917"/>
                    <a:pt x="5857" y="262808"/>
                  </a:cubicBezTo>
                  <a:cubicBezTo>
                    <a:pt x="-3058" y="245698"/>
                    <a:pt x="-1716" y="225050"/>
                    <a:pt x="9339" y="209239"/>
                  </a:cubicBezTo>
                  <a:lnTo>
                    <a:pt x="98707" y="81409"/>
                  </a:lnTo>
                  <a:cubicBezTo>
                    <a:pt x="134376" y="30391"/>
                    <a:pt x="192705" y="0"/>
                    <a:pt x="254955" y="0"/>
                  </a:cubicBezTo>
                  <a:close/>
                </a:path>
              </a:pathLst>
            </a:custGeom>
            <a:solidFill>
              <a:srgbClr val="00B58F"/>
            </a:solidFill>
          </p:spPr>
        </p:sp>
        <p:sp>
          <p:nvSpPr>
            <p:cNvPr name="TextBox 10" id="10"/>
            <p:cNvSpPr txBox="true"/>
            <p:nvPr/>
          </p:nvSpPr>
          <p:spPr>
            <a:xfrm>
              <a:off x="101600" y="-38100"/>
              <a:ext cx="837405" cy="328748"/>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0187537" y="4937430"/>
            <a:ext cx="976970" cy="696611"/>
            <a:chOff x="0" y="0"/>
            <a:chExt cx="407622" cy="290648"/>
          </a:xfrm>
        </p:grpSpPr>
        <p:sp>
          <p:nvSpPr>
            <p:cNvPr name="Freeform 12" id="12"/>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13" id="13"/>
            <p:cNvSpPr txBox="true"/>
            <p:nvPr/>
          </p:nvSpPr>
          <p:spPr>
            <a:xfrm>
              <a:off x="101600" y="-38100"/>
              <a:ext cx="204422" cy="328748"/>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353022" y="754961"/>
            <a:ext cx="2381625" cy="549910"/>
          </a:xfrm>
          <a:prstGeom prst="rect">
            <a:avLst/>
          </a:prstGeom>
        </p:spPr>
        <p:txBody>
          <a:bodyPr anchor="t" rtlCol="false" tIns="0" lIns="0" bIns="0" rIns="0">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group-1</a:t>
            </a:r>
          </a:p>
          <a:p>
            <a:pPr algn="l">
              <a:lnSpc>
                <a:spcPts val="2239"/>
              </a:lnSpc>
            </a:pPr>
            <a:r>
              <a:rPr lang="en-US" sz="1599" spc="39">
                <a:solidFill>
                  <a:srgbClr val="0B132B"/>
                </a:solidFill>
                <a:latin typeface="Bricolage Grotesque"/>
                <a:ea typeface="Bricolage Grotesque"/>
                <a:cs typeface="Bricolage Grotesque"/>
                <a:sym typeface="Bricolage Grotesque"/>
              </a:rPr>
              <a:t>data analysis</a:t>
            </a:r>
          </a:p>
        </p:txBody>
      </p:sp>
      <p:grpSp>
        <p:nvGrpSpPr>
          <p:cNvPr name="Group 15" id="15"/>
          <p:cNvGrpSpPr/>
          <p:nvPr/>
        </p:nvGrpSpPr>
        <p:grpSpPr>
          <a:xfrm rot="0">
            <a:off x="-3150242" y="9960324"/>
            <a:ext cx="8436141" cy="1142074"/>
            <a:chOff x="0" y="0"/>
            <a:chExt cx="2179021" cy="294993"/>
          </a:xfrm>
        </p:grpSpPr>
        <p:sp>
          <p:nvSpPr>
            <p:cNvPr name="Freeform 16" id="16"/>
            <p:cNvSpPr/>
            <p:nvPr/>
          </p:nvSpPr>
          <p:spPr>
            <a:xfrm flipH="false" flipV="false" rot="0">
              <a:off x="0" y="0"/>
              <a:ext cx="2179021" cy="294993"/>
            </a:xfrm>
            <a:custGeom>
              <a:avLst/>
              <a:gdLst/>
              <a:ahLst/>
              <a:cxnLst/>
              <a:rect r="r" b="b" t="t" l="l"/>
              <a:pathLst>
                <a:path h="294993" w="2179021">
                  <a:moveTo>
                    <a:pt x="55063" y="0"/>
                  </a:moveTo>
                  <a:lnTo>
                    <a:pt x="2123958" y="0"/>
                  </a:lnTo>
                  <a:cubicBezTo>
                    <a:pt x="2154368" y="0"/>
                    <a:pt x="2179021" y="24652"/>
                    <a:pt x="2179021" y="55063"/>
                  </a:cubicBezTo>
                  <a:lnTo>
                    <a:pt x="2179021" y="239930"/>
                  </a:lnTo>
                  <a:cubicBezTo>
                    <a:pt x="2179021" y="270341"/>
                    <a:pt x="2154368" y="294993"/>
                    <a:pt x="2123958" y="294993"/>
                  </a:cubicBezTo>
                  <a:lnTo>
                    <a:pt x="55063" y="294993"/>
                  </a:lnTo>
                  <a:cubicBezTo>
                    <a:pt x="24652" y="294993"/>
                    <a:pt x="0" y="270341"/>
                    <a:pt x="0" y="239930"/>
                  </a:cubicBezTo>
                  <a:lnTo>
                    <a:pt x="0" y="55063"/>
                  </a:lnTo>
                  <a:cubicBezTo>
                    <a:pt x="0" y="24652"/>
                    <a:pt x="24652" y="0"/>
                    <a:pt x="55063" y="0"/>
                  </a:cubicBezTo>
                  <a:close/>
                </a:path>
              </a:pathLst>
            </a:custGeom>
            <a:ln w="19050" cap="rnd">
              <a:solidFill>
                <a:srgbClr val="00B58F"/>
              </a:solidFill>
              <a:prstDash val="solid"/>
              <a:round/>
            </a:ln>
          </p:spPr>
        </p:sp>
        <p:sp>
          <p:nvSpPr>
            <p:cNvPr name="TextBox 17" id="17"/>
            <p:cNvSpPr txBox="true"/>
            <p:nvPr/>
          </p:nvSpPr>
          <p:spPr>
            <a:xfrm>
              <a:off x="0" y="-38100"/>
              <a:ext cx="2179021"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4384067" y="-784283"/>
            <a:ext cx="12412118" cy="1142074"/>
            <a:chOff x="0" y="0"/>
            <a:chExt cx="3205999" cy="294993"/>
          </a:xfrm>
        </p:grpSpPr>
        <p:sp>
          <p:nvSpPr>
            <p:cNvPr name="Freeform 19" id="19"/>
            <p:cNvSpPr/>
            <p:nvPr/>
          </p:nvSpPr>
          <p:spPr>
            <a:xfrm flipH="false" flipV="false" rot="0">
              <a:off x="0" y="0"/>
              <a:ext cx="3205999" cy="294993"/>
            </a:xfrm>
            <a:custGeom>
              <a:avLst/>
              <a:gdLst/>
              <a:ahLst/>
              <a:cxnLst/>
              <a:rect r="r" b="b" t="t" l="l"/>
              <a:pathLst>
                <a:path h="294993" w="3205999">
                  <a:moveTo>
                    <a:pt x="37424" y="0"/>
                  </a:moveTo>
                  <a:lnTo>
                    <a:pt x="3168575" y="0"/>
                  </a:lnTo>
                  <a:cubicBezTo>
                    <a:pt x="3189244" y="0"/>
                    <a:pt x="3205999" y="16755"/>
                    <a:pt x="3205999" y="37424"/>
                  </a:cubicBezTo>
                  <a:lnTo>
                    <a:pt x="3205999" y="257569"/>
                  </a:lnTo>
                  <a:cubicBezTo>
                    <a:pt x="3205999" y="267494"/>
                    <a:pt x="3202056" y="277013"/>
                    <a:pt x="3195038" y="284032"/>
                  </a:cubicBezTo>
                  <a:cubicBezTo>
                    <a:pt x="3188020" y="291050"/>
                    <a:pt x="3178501" y="294993"/>
                    <a:pt x="3168575" y="294993"/>
                  </a:cubicBezTo>
                  <a:lnTo>
                    <a:pt x="37424" y="294993"/>
                  </a:lnTo>
                  <a:cubicBezTo>
                    <a:pt x="16755" y="294993"/>
                    <a:pt x="0" y="278238"/>
                    <a:pt x="0" y="257569"/>
                  </a:cubicBezTo>
                  <a:lnTo>
                    <a:pt x="0" y="37424"/>
                  </a:lnTo>
                  <a:cubicBezTo>
                    <a:pt x="0" y="16755"/>
                    <a:pt x="16755" y="0"/>
                    <a:pt x="37424" y="0"/>
                  </a:cubicBezTo>
                  <a:close/>
                </a:path>
              </a:pathLst>
            </a:custGeom>
            <a:ln w="19050" cap="rnd">
              <a:solidFill>
                <a:srgbClr val="00B58F"/>
              </a:solidFill>
              <a:prstDash val="solid"/>
              <a:round/>
            </a:ln>
          </p:spPr>
        </p:sp>
        <p:sp>
          <p:nvSpPr>
            <p:cNvPr name="TextBox 20" id="20"/>
            <p:cNvSpPr txBox="true"/>
            <p:nvPr/>
          </p:nvSpPr>
          <p:spPr>
            <a:xfrm>
              <a:off x="0" y="-38100"/>
              <a:ext cx="320599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0">
            <a:off x="1446501" y="1469058"/>
            <a:ext cx="6340701" cy="1305518"/>
            <a:chOff x="0" y="0"/>
            <a:chExt cx="1669979" cy="343840"/>
          </a:xfrm>
        </p:grpSpPr>
        <p:sp>
          <p:nvSpPr>
            <p:cNvPr name="Freeform 22" id="22"/>
            <p:cNvSpPr/>
            <p:nvPr/>
          </p:nvSpPr>
          <p:spPr>
            <a:xfrm flipH="false" flipV="false" rot="0">
              <a:off x="0" y="0"/>
              <a:ext cx="1669979" cy="343840"/>
            </a:xfrm>
            <a:custGeom>
              <a:avLst/>
              <a:gdLst/>
              <a:ahLst/>
              <a:cxnLst/>
              <a:rect r="r" b="b" t="t" l="l"/>
              <a:pathLst>
                <a:path h="343840" w="1669979">
                  <a:moveTo>
                    <a:pt x="62270" y="0"/>
                  </a:moveTo>
                  <a:lnTo>
                    <a:pt x="1607709" y="0"/>
                  </a:lnTo>
                  <a:cubicBezTo>
                    <a:pt x="1642100" y="0"/>
                    <a:pt x="1669979" y="27879"/>
                    <a:pt x="1669979" y="62270"/>
                  </a:cubicBezTo>
                  <a:lnTo>
                    <a:pt x="1669979" y="281570"/>
                  </a:lnTo>
                  <a:cubicBezTo>
                    <a:pt x="1669979" y="298085"/>
                    <a:pt x="1663418" y="313923"/>
                    <a:pt x="1651740" y="325601"/>
                  </a:cubicBezTo>
                  <a:cubicBezTo>
                    <a:pt x="1640062" y="337279"/>
                    <a:pt x="1624224" y="343840"/>
                    <a:pt x="1607709" y="343840"/>
                  </a:cubicBezTo>
                  <a:lnTo>
                    <a:pt x="62270" y="343840"/>
                  </a:lnTo>
                  <a:cubicBezTo>
                    <a:pt x="45755" y="343840"/>
                    <a:pt x="29917" y="337279"/>
                    <a:pt x="18239" y="325601"/>
                  </a:cubicBezTo>
                  <a:cubicBezTo>
                    <a:pt x="6561" y="313923"/>
                    <a:pt x="0" y="298085"/>
                    <a:pt x="0" y="281570"/>
                  </a:cubicBezTo>
                  <a:lnTo>
                    <a:pt x="0" y="62270"/>
                  </a:lnTo>
                  <a:cubicBezTo>
                    <a:pt x="0" y="45755"/>
                    <a:pt x="6561" y="29917"/>
                    <a:pt x="18239" y="18239"/>
                  </a:cubicBezTo>
                  <a:cubicBezTo>
                    <a:pt x="29917" y="6561"/>
                    <a:pt x="45755" y="0"/>
                    <a:pt x="62270" y="0"/>
                  </a:cubicBezTo>
                  <a:close/>
                </a:path>
              </a:pathLst>
            </a:custGeom>
            <a:solidFill>
              <a:srgbClr val="FFFFFF"/>
            </a:solidFill>
          </p:spPr>
        </p:sp>
        <p:sp>
          <p:nvSpPr>
            <p:cNvPr name="TextBox 23" id="23"/>
            <p:cNvSpPr txBox="true"/>
            <p:nvPr/>
          </p:nvSpPr>
          <p:spPr>
            <a:xfrm>
              <a:off x="0" y="-85725"/>
              <a:ext cx="1669979" cy="429565"/>
            </a:xfrm>
            <a:prstGeom prst="rect">
              <a:avLst/>
            </a:prstGeom>
          </p:spPr>
          <p:txBody>
            <a:bodyPr anchor="ctr" rtlCol="false" tIns="50800" lIns="50800" bIns="50800" rIns="50800"/>
            <a:lstStyle/>
            <a:p>
              <a:pPr algn="ctr">
                <a:lnSpc>
                  <a:spcPts val="6579"/>
                </a:lnSpc>
              </a:pPr>
              <a:r>
                <a:rPr lang="en-US" sz="4699">
                  <a:solidFill>
                    <a:srgbClr val="000000"/>
                  </a:solidFill>
                  <a:latin typeface="Rubik One"/>
                  <a:ea typeface="Rubik One"/>
                  <a:cs typeface="Rubik One"/>
                  <a:sym typeface="Rubik One"/>
                </a:rPr>
                <a:t>Conclusion</a:t>
              </a:r>
            </a:p>
          </p:txBody>
        </p:sp>
      </p:grpSp>
      <p:sp>
        <p:nvSpPr>
          <p:cNvPr name="TextBox 24" id="24"/>
          <p:cNvSpPr txBox="true"/>
          <p:nvPr/>
        </p:nvSpPr>
        <p:spPr>
          <a:xfrm rot="0">
            <a:off x="11332292" y="7212747"/>
            <a:ext cx="5828356" cy="958703"/>
          </a:xfrm>
          <a:prstGeom prst="rect">
            <a:avLst/>
          </a:prstGeom>
        </p:spPr>
        <p:txBody>
          <a:bodyPr anchor="t" rtlCol="false" tIns="0" lIns="0" bIns="0" rIns="0">
            <a:spAutoFit/>
          </a:bodyPr>
          <a:lstStyle/>
          <a:p>
            <a:pPr algn="l" marL="0" indent="0" lvl="0">
              <a:lnSpc>
                <a:spcPts val="3858"/>
              </a:lnSpc>
              <a:spcBef>
                <a:spcPct val="0"/>
              </a:spcBef>
            </a:pPr>
            <a:r>
              <a:rPr lang="en-US" b="true" sz="2755" strike="noStrike" u="none">
                <a:solidFill>
                  <a:srgbClr val="000000"/>
                </a:solidFill>
                <a:latin typeface="Bricolage Grotesque Bold"/>
                <a:ea typeface="Bricolage Grotesque Bold"/>
                <a:cs typeface="Bricolage Grotesque Bold"/>
                <a:sym typeface="Bricolage Grotesque Bold"/>
              </a:rPr>
              <a:t>Higher environmental awareness accelerated EV adoption globally.</a:t>
            </a:r>
          </a:p>
        </p:txBody>
      </p:sp>
      <p:sp>
        <p:nvSpPr>
          <p:cNvPr name="TextBox 25" id="25"/>
          <p:cNvSpPr txBox="true"/>
          <p:nvPr/>
        </p:nvSpPr>
        <p:spPr>
          <a:xfrm rot="0">
            <a:off x="11030565" y="1768164"/>
            <a:ext cx="6995705" cy="2323389"/>
          </a:xfrm>
          <a:prstGeom prst="rect">
            <a:avLst/>
          </a:prstGeom>
        </p:spPr>
        <p:txBody>
          <a:bodyPr anchor="t" rtlCol="false" tIns="0" lIns="0" bIns="0" rIns="0">
            <a:spAutoFit/>
          </a:bodyPr>
          <a:lstStyle/>
          <a:p>
            <a:pPr algn="l" marL="0" indent="0" lvl="1">
              <a:lnSpc>
                <a:spcPts val="3714"/>
              </a:lnSpc>
              <a:spcBef>
                <a:spcPct val="0"/>
              </a:spcBef>
            </a:pPr>
            <a:r>
              <a:rPr lang="en-US" b="true" sz="2652">
                <a:solidFill>
                  <a:srgbClr val="000000"/>
                </a:solidFill>
                <a:latin typeface="Canva Sans Bold"/>
                <a:ea typeface="Canva Sans Bold"/>
                <a:cs typeface="Canva Sans Bold"/>
                <a:sym typeface="Canva Sans Bold"/>
              </a:rPr>
              <a:t>“EV</a:t>
            </a:r>
            <a:r>
              <a:rPr lang="en-US" b="true" sz="2652" strike="noStrike" u="none">
                <a:solidFill>
                  <a:srgbClr val="000000"/>
                </a:solidFill>
                <a:latin typeface="Canva Sans Bold"/>
                <a:ea typeface="Canva Sans Bold"/>
                <a:cs typeface="Canva Sans Bold"/>
                <a:sym typeface="Canva Sans Bold"/>
              </a:rPr>
              <a:t> </a:t>
            </a:r>
            <a:r>
              <a:rPr lang="en-US" b="true" sz="2652" strike="noStrike" u="none">
                <a:solidFill>
                  <a:srgbClr val="000000"/>
                </a:solidFill>
                <a:latin typeface="Canva Sans Bold"/>
                <a:ea typeface="Canva Sans Bold"/>
                <a:cs typeface="Canva Sans Bold"/>
                <a:sym typeface="Canva Sans Bold"/>
              </a:rPr>
              <a:t>adopt</a:t>
            </a:r>
            <a:r>
              <a:rPr lang="en-US" b="true" sz="2652" strike="noStrike" u="none">
                <a:solidFill>
                  <a:srgbClr val="000000"/>
                </a:solidFill>
                <a:latin typeface="Canva Sans Bold"/>
                <a:ea typeface="Canva Sans Bold"/>
                <a:cs typeface="Canva Sans Bold"/>
                <a:sym typeface="Canva Sans Bold"/>
              </a:rPr>
              <a:t>ion </a:t>
            </a:r>
            <a:r>
              <a:rPr lang="en-US" b="true" sz="2652" strike="noStrike" u="none">
                <a:solidFill>
                  <a:srgbClr val="000000"/>
                </a:solidFill>
                <a:latin typeface="Canva Sans Bold"/>
                <a:ea typeface="Canva Sans Bold"/>
                <a:cs typeface="Canva Sans Bold"/>
                <a:sym typeface="Canva Sans Bold"/>
              </a:rPr>
              <a:t>alig</a:t>
            </a:r>
            <a:r>
              <a:rPr lang="en-US" b="true" sz="2652" strike="noStrike" u="none">
                <a:solidFill>
                  <a:srgbClr val="000000"/>
                </a:solidFill>
                <a:latin typeface="Canva Sans Bold"/>
                <a:ea typeface="Canva Sans Bold"/>
                <a:cs typeface="Canva Sans Bold"/>
                <a:sym typeface="Canva Sans Bold"/>
              </a:rPr>
              <a:t>ns </a:t>
            </a:r>
            <a:r>
              <a:rPr lang="en-US" b="true" sz="2652" strike="noStrike" u="none">
                <a:solidFill>
                  <a:srgbClr val="000000"/>
                </a:solidFill>
                <a:latin typeface="Canva Sans Bold"/>
                <a:ea typeface="Canva Sans Bold"/>
                <a:cs typeface="Canva Sans Bold"/>
                <a:sym typeface="Canva Sans Bold"/>
              </a:rPr>
              <a:t>wit</a:t>
            </a:r>
            <a:r>
              <a:rPr lang="en-US" b="true" sz="2652" strike="noStrike" u="none">
                <a:solidFill>
                  <a:srgbClr val="000000"/>
                </a:solidFill>
                <a:latin typeface="Canva Sans Bold"/>
                <a:ea typeface="Canva Sans Bold"/>
                <a:cs typeface="Canva Sans Bold"/>
                <a:sym typeface="Canva Sans Bold"/>
              </a:rPr>
              <a:t>h</a:t>
            </a:r>
            <a:r>
              <a:rPr lang="en-US" b="true" sz="2652" strike="noStrike" u="none">
                <a:solidFill>
                  <a:srgbClr val="000000"/>
                </a:solidFill>
                <a:latin typeface="Canva Sans Bold"/>
                <a:ea typeface="Canva Sans Bold"/>
                <a:cs typeface="Canva Sans Bold"/>
                <a:sym typeface="Canva Sans Bold"/>
              </a:rPr>
              <a:t> susta</a:t>
            </a:r>
            <a:r>
              <a:rPr lang="en-US" b="true" sz="2652" strike="noStrike" u="none">
                <a:solidFill>
                  <a:srgbClr val="000000"/>
                </a:solidFill>
                <a:latin typeface="Canva Sans Bold"/>
                <a:ea typeface="Canva Sans Bold"/>
                <a:cs typeface="Canva Sans Bold"/>
                <a:sym typeface="Canva Sans Bold"/>
              </a:rPr>
              <a:t>i</a:t>
            </a:r>
            <a:r>
              <a:rPr lang="en-US" b="true" sz="2652" strike="noStrike" u="none">
                <a:solidFill>
                  <a:srgbClr val="000000"/>
                </a:solidFill>
                <a:latin typeface="Canva Sans Bold"/>
                <a:ea typeface="Canva Sans Bold"/>
                <a:cs typeface="Canva Sans Bold"/>
                <a:sym typeface="Canva Sans Bold"/>
              </a:rPr>
              <a:t>nabi</a:t>
            </a:r>
            <a:r>
              <a:rPr lang="en-US" b="true" sz="2652" strike="noStrike" u="none">
                <a:solidFill>
                  <a:srgbClr val="000000"/>
                </a:solidFill>
                <a:latin typeface="Canva Sans Bold"/>
                <a:ea typeface="Canva Sans Bold"/>
                <a:cs typeface="Canva Sans Bold"/>
                <a:sym typeface="Canva Sans Bold"/>
              </a:rPr>
              <a:t>lit</a:t>
            </a:r>
            <a:r>
              <a:rPr lang="en-US" b="true" sz="2652" strike="noStrike" u="none">
                <a:solidFill>
                  <a:srgbClr val="000000"/>
                </a:solidFill>
                <a:latin typeface="Canva Sans Bold"/>
                <a:ea typeface="Canva Sans Bold"/>
                <a:cs typeface="Canva Sans Bold"/>
                <a:sym typeface="Canva Sans Bold"/>
              </a:rPr>
              <a:t>y</a:t>
            </a:r>
            <a:r>
              <a:rPr lang="en-US" b="true" sz="2652" strike="noStrike" u="none">
                <a:solidFill>
                  <a:srgbClr val="000000"/>
                </a:solidFill>
                <a:latin typeface="Canva Sans Bold"/>
                <a:ea typeface="Canva Sans Bold"/>
                <a:cs typeface="Canva Sans Bold"/>
                <a:sym typeface="Canva Sans Bold"/>
              </a:rPr>
              <a:t> t</a:t>
            </a:r>
            <a:r>
              <a:rPr lang="en-US" b="true" sz="2652" strike="noStrike" u="none">
                <a:solidFill>
                  <a:srgbClr val="000000"/>
                </a:solidFill>
                <a:latin typeface="Canva Sans Bold"/>
                <a:ea typeface="Canva Sans Bold"/>
                <a:cs typeface="Canva Sans Bold"/>
                <a:sym typeface="Canva Sans Bold"/>
              </a:rPr>
              <a:t>a</a:t>
            </a:r>
            <a:r>
              <a:rPr lang="en-US" b="true" sz="2652" strike="noStrike" u="none">
                <a:solidFill>
                  <a:srgbClr val="000000"/>
                </a:solidFill>
                <a:latin typeface="Canva Sans Bold"/>
                <a:ea typeface="Canva Sans Bold"/>
                <a:cs typeface="Canva Sans Bold"/>
                <a:sym typeface="Canva Sans Bold"/>
              </a:rPr>
              <a:t>rg</a:t>
            </a:r>
            <a:r>
              <a:rPr lang="en-US" b="true" sz="2652" strike="noStrike" u="none">
                <a:solidFill>
                  <a:srgbClr val="000000"/>
                </a:solidFill>
                <a:latin typeface="Canva Sans Bold"/>
                <a:ea typeface="Canva Sans Bold"/>
                <a:cs typeface="Canva Sans Bold"/>
                <a:sym typeface="Canva Sans Bold"/>
              </a:rPr>
              <a:t>ets”,</a:t>
            </a:r>
            <a:r>
              <a:rPr lang="en-US" b="true" sz="2652" strike="noStrike" u="none">
                <a:solidFill>
                  <a:srgbClr val="000000"/>
                </a:solidFill>
                <a:latin typeface="Canva Sans Bold"/>
                <a:ea typeface="Canva Sans Bold"/>
                <a:cs typeface="Canva Sans Bold"/>
                <a:sym typeface="Canva Sans Bold"/>
              </a:rPr>
              <a:t>where the rise in EV market share aligns with global efforts to reduce carbon emissions and support cleaner energy solutions</a:t>
            </a:r>
          </a:p>
        </p:txBody>
      </p:sp>
      <p:sp>
        <p:nvSpPr>
          <p:cNvPr name="TextBox 26" id="26"/>
          <p:cNvSpPr txBox="true"/>
          <p:nvPr/>
        </p:nvSpPr>
        <p:spPr>
          <a:xfrm rot="0">
            <a:off x="11332292" y="4869719"/>
            <a:ext cx="7339469" cy="1471494"/>
          </a:xfrm>
          <a:prstGeom prst="rect">
            <a:avLst/>
          </a:prstGeom>
        </p:spPr>
        <p:txBody>
          <a:bodyPr anchor="t" rtlCol="false" tIns="0" lIns="0" bIns="0" rIns="0">
            <a:spAutoFit/>
          </a:bodyPr>
          <a:lstStyle/>
          <a:p>
            <a:pPr algn="l">
              <a:lnSpc>
                <a:spcPts val="3944"/>
              </a:lnSpc>
              <a:spcBef>
                <a:spcPct val="0"/>
              </a:spcBef>
            </a:pPr>
            <a:r>
              <a:rPr lang="en-US" b="true" sz="2817">
                <a:solidFill>
                  <a:srgbClr val="000000"/>
                </a:solidFill>
                <a:latin typeface="Bricolage Grotesque Bold"/>
                <a:ea typeface="Bricolage Grotesque Bold"/>
                <a:cs typeface="Bricolage Grotesque Bold"/>
                <a:sym typeface="Bricolage Grotesque Bold"/>
              </a:rPr>
              <a:t>Government subsidies and regulations had a significant impact on EV market growth</a:t>
            </a:r>
          </a:p>
        </p:txBody>
      </p:sp>
      <p:grpSp>
        <p:nvGrpSpPr>
          <p:cNvPr name="Group 27" id="27"/>
          <p:cNvGrpSpPr/>
          <p:nvPr/>
        </p:nvGrpSpPr>
        <p:grpSpPr>
          <a:xfrm rot="0">
            <a:off x="10187537" y="7269897"/>
            <a:ext cx="976970" cy="696611"/>
            <a:chOff x="0" y="0"/>
            <a:chExt cx="407622" cy="290648"/>
          </a:xfrm>
        </p:grpSpPr>
        <p:sp>
          <p:nvSpPr>
            <p:cNvPr name="Freeform 28" id="28"/>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29" id="29"/>
            <p:cNvSpPr txBox="true"/>
            <p:nvPr/>
          </p:nvSpPr>
          <p:spPr>
            <a:xfrm>
              <a:off x="101600" y="-38100"/>
              <a:ext cx="204422" cy="328748"/>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10053595" y="1825314"/>
            <a:ext cx="976970" cy="696611"/>
            <a:chOff x="0" y="0"/>
            <a:chExt cx="407622" cy="290648"/>
          </a:xfrm>
        </p:grpSpPr>
        <p:sp>
          <p:nvSpPr>
            <p:cNvPr name="Freeform 31" id="31"/>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32" id="32"/>
            <p:cNvSpPr txBox="true"/>
            <p:nvPr/>
          </p:nvSpPr>
          <p:spPr>
            <a:xfrm>
              <a:off x="101600" y="-38100"/>
              <a:ext cx="204422" cy="328748"/>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sp>
        <p:nvSpPr>
          <p:cNvPr name="TextBox 2" id="2"/>
          <p:cNvSpPr txBox="true"/>
          <p:nvPr/>
        </p:nvSpPr>
        <p:spPr>
          <a:xfrm rot="0">
            <a:off x="905758" y="1387516"/>
            <a:ext cx="13574911" cy="6063215"/>
          </a:xfrm>
          <a:prstGeom prst="rect">
            <a:avLst/>
          </a:prstGeom>
        </p:spPr>
        <p:txBody>
          <a:bodyPr anchor="t" rtlCol="false" tIns="0" lIns="0" bIns="0" rIns="0">
            <a:spAutoFit/>
          </a:bodyPr>
          <a:lstStyle/>
          <a:p>
            <a:pPr algn="ctr" marL="0" indent="0" lvl="0">
              <a:lnSpc>
                <a:spcPts val="5867"/>
              </a:lnSpc>
              <a:spcBef>
                <a:spcPct val="0"/>
              </a:spcBef>
            </a:pPr>
            <a:r>
              <a:rPr lang="en-US" sz="4190" strike="noStrike" u="none">
                <a:solidFill>
                  <a:srgbClr val="000000"/>
                </a:solidFill>
                <a:latin typeface="Bricolage Grotesque"/>
                <a:ea typeface="Bricolage Grotesque"/>
                <a:cs typeface="Bricolage Grotesque"/>
                <a:sym typeface="Bricolage Grotesque"/>
              </a:rPr>
              <a:t>Globally, EV is growing fast but not yet dominant</a:t>
            </a:r>
          </a:p>
          <a:p>
            <a:pPr algn="l">
              <a:lnSpc>
                <a:spcPts val="5867"/>
              </a:lnSpc>
            </a:pPr>
            <a:r>
              <a:rPr lang="en-US" sz="4190" strike="noStrike" u="none">
                <a:solidFill>
                  <a:srgbClr val="000000"/>
                </a:solidFill>
                <a:latin typeface="Bricolage Grotesque"/>
                <a:ea typeface="Bricolage Grotesque"/>
                <a:cs typeface="Bricolage Grotesque"/>
                <a:sym typeface="Bricolage Grotesque"/>
              </a:rPr>
              <a:t>This is openinig a great market for egypt to go through.</a:t>
            </a:r>
          </a:p>
          <a:p>
            <a:pPr algn="l">
              <a:lnSpc>
                <a:spcPts val="5867"/>
              </a:lnSpc>
            </a:pPr>
            <a:r>
              <a:rPr lang="en-US" b="true" sz="4190" strike="noStrike" u="none">
                <a:solidFill>
                  <a:srgbClr val="000000"/>
                </a:solidFill>
                <a:latin typeface="Bricolage Grotesque Bold"/>
                <a:ea typeface="Bricolage Grotesque Bold"/>
                <a:cs typeface="Bricolage Grotesque Bold"/>
                <a:sym typeface="Bricolage Grotesque Bold"/>
              </a:rPr>
              <a:t> </a:t>
            </a:r>
          </a:p>
          <a:p>
            <a:pPr algn="l">
              <a:lnSpc>
                <a:spcPts val="6147"/>
              </a:lnSpc>
            </a:pPr>
            <a:r>
              <a:rPr lang="en-US" b="true" sz="4390" strike="noStrike" u="none">
                <a:solidFill>
                  <a:srgbClr val="000000"/>
                </a:solidFill>
                <a:latin typeface="Bricolage Grotesque Bold"/>
                <a:ea typeface="Bricolage Grotesque Bold"/>
                <a:cs typeface="Bricolage Grotesque Bold"/>
                <a:sym typeface="Bricolage Grotesque Bold"/>
              </a:rPr>
              <a:t>     depends on:</a:t>
            </a:r>
          </a:p>
          <a:p>
            <a:pPr algn="l" marL="947959" indent="-473980" lvl="1">
              <a:lnSpc>
                <a:spcPts val="6147"/>
              </a:lnSpc>
              <a:buFont typeface="Arial"/>
              <a:buChar char="•"/>
            </a:pPr>
            <a:r>
              <a:rPr lang="en-US" b="true" sz="4390" strike="noStrike" u="none">
                <a:solidFill>
                  <a:srgbClr val="000000"/>
                </a:solidFill>
                <a:latin typeface="Bricolage Grotesque Bold"/>
                <a:ea typeface="Bricolage Grotesque Bold"/>
                <a:cs typeface="Bricolage Grotesque Bold"/>
                <a:sym typeface="Bricolage Grotesque Bold"/>
              </a:rPr>
              <a:t>Charging infrastructure</a:t>
            </a:r>
          </a:p>
          <a:p>
            <a:pPr algn="l" marL="947959" indent="-473980" lvl="1">
              <a:lnSpc>
                <a:spcPts val="6147"/>
              </a:lnSpc>
              <a:buFont typeface="Arial"/>
              <a:buChar char="•"/>
            </a:pPr>
            <a:r>
              <a:rPr lang="en-US" b="true" sz="4390" strike="noStrike" u="none">
                <a:solidFill>
                  <a:srgbClr val="000000"/>
                </a:solidFill>
                <a:latin typeface="Bricolage Grotesque Bold"/>
                <a:ea typeface="Bricolage Grotesque Bold"/>
                <a:cs typeface="Bricolage Grotesque Bold"/>
                <a:sym typeface="Bricolage Grotesque Bold"/>
              </a:rPr>
              <a:t>High fuel prices</a:t>
            </a:r>
          </a:p>
          <a:p>
            <a:pPr algn="l" marL="947959" indent="-473980" lvl="1">
              <a:lnSpc>
                <a:spcPts val="6147"/>
              </a:lnSpc>
              <a:buFont typeface="Arial"/>
              <a:buChar char="•"/>
            </a:pPr>
            <a:r>
              <a:rPr lang="en-US" b="true" sz="4390" strike="noStrike" u="none">
                <a:solidFill>
                  <a:srgbClr val="000000"/>
                </a:solidFill>
                <a:latin typeface="Bricolage Grotesque Bold"/>
                <a:ea typeface="Bricolage Grotesque Bold"/>
                <a:cs typeface="Bricolage Grotesque Bold"/>
                <a:sym typeface="Bricolage Grotesque Bold"/>
              </a:rPr>
              <a:t>Economic strength</a:t>
            </a:r>
          </a:p>
          <a:p>
            <a:pPr algn="ctr" marL="0" indent="0" lvl="0">
              <a:lnSpc>
                <a:spcPts val="6147"/>
              </a:lnSpc>
              <a:spcBef>
                <a:spcPct val="0"/>
              </a:spcBef>
            </a:pPr>
          </a:p>
        </p:txBody>
      </p:sp>
      <p:grpSp>
        <p:nvGrpSpPr>
          <p:cNvPr name="Group 3" id="3"/>
          <p:cNvGrpSpPr/>
          <p:nvPr/>
        </p:nvGrpSpPr>
        <p:grpSpPr>
          <a:xfrm rot="0">
            <a:off x="8518264" y="3211054"/>
            <a:ext cx="8741036" cy="5246370"/>
            <a:chOff x="0" y="0"/>
            <a:chExt cx="6350000" cy="3811270"/>
          </a:xfrm>
        </p:grpSpPr>
        <p:sp>
          <p:nvSpPr>
            <p:cNvPr name="Freeform 4" id="4"/>
            <p:cNvSpPr/>
            <p:nvPr/>
          </p:nvSpPr>
          <p:spPr>
            <a:xfrm flipH="false" flipV="false" rot="0">
              <a:off x="0" y="0"/>
              <a:ext cx="6350000" cy="3811270"/>
            </a:xfrm>
            <a:custGeom>
              <a:avLst/>
              <a:gdLst/>
              <a:ahLst/>
              <a:cxnLst/>
              <a:rect r="r" b="b" t="t" l="l"/>
              <a:pathLst>
                <a:path h="3811270" w="6350000">
                  <a:moveTo>
                    <a:pt x="1648460" y="0"/>
                  </a:moveTo>
                  <a:lnTo>
                    <a:pt x="5812790" y="0"/>
                  </a:lnTo>
                  <a:cubicBezTo>
                    <a:pt x="6109970" y="0"/>
                    <a:pt x="6350000" y="240030"/>
                    <a:pt x="6350000" y="537210"/>
                  </a:cubicBezTo>
                  <a:lnTo>
                    <a:pt x="6350000" y="2466340"/>
                  </a:lnTo>
                  <a:cubicBezTo>
                    <a:pt x="6350000" y="2763520"/>
                    <a:pt x="6109970" y="3003550"/>
                    <a:pt x="5812790" y="3003550"/>
                  </a:cubicBezTo>
                  <a:lnTo>
                    <a:pt x="4751070" y="3003550"/>
                  </a:lnTo>
                  <a:cubicBezTo>
                    <a:pt x="4587240" y="3003550"/>
                    <a:pt x="4431030" y="3078480"/>
                    <a:pt x="4329430" y="3208020"/>
                  </a:cubicBezTo>
                  <a:lnTo>
                    <a:pt x="4013200" y="3606800"/>
                  </a:lnTo>
                  <a:cubicBezTo>
                    <a:pt x="3911600" y="3735070"/>
                    <a:pt x="3756660" y="3811270"/>
                    <a:pt x="3591560" y="3811270"/>
                  </a:cubicBezTo>
                  <a:lnTo>
                    <a:pt x="537210" y="3811270"/>
                  </a:lnTo>
                  <a:cubicBezTo>
                    <a:pt x="240030" y="3811270"/>
                    <a:pt x="0" y="3571240"/>
                    <a:pt x="0" y="3274060"/>
                  </a:cubicBezTo>
                  <a:lnTo>
                    <a:pt x="0" y="1375410"/>
                  </a:lnTo>
                  <a:cubicBezTo>
                    <a:pt x="0" y="1206500"/>
                    <a:pt x="78740" y="1047750"/>
                    <a:pt x="213360" y="946150"/>
                  </a:cubicBezTo>
                  <a:lnTo>
                    <a:pt x="1324610" y="107950"/>
                  </a:lnTo>
                  <a:cubicBezTo>
                    <a:pt x="1417320" y="38100"/>
                    <a:pt x="1531620" y="0"/>
                    <a:pt x="1648460" y="0"/>
                  </a:cubicBezTo>
                  <a:close/>
                </a:path>
              </a:pathLst>
            </a:custGeom>
            <a:blipFill>
              <a:blip r:embed="rId2"/>
              <a:stretch>
                <a:fillRect l="0" t="-16250" r="-14728" b="-11103"/>
              </a:stretch>
            </a:blipFill>
          </p:spPr>
        </p:sp>
      </p:grpSp>
      <p:sp>
        <p:nvSpPr>
          <p:cNvPr name="TextBox 5" id="5"/>
          <p:cNvSpPr txBox="true"/>
          <p:nvPr/>
        </p:nvSpPr>
        <p:spPr>
          <a:xfrm rot="0">
            <a:off x="1303684" y="478790"/>
            <a:ext cx="2381625" cy="549910"/>
          </a:xfrm>
          <a:prstGeom prst="rect">
            <a:avLst/>
          </a:prstGeom>
        </p:spPr>
        <p:txBody>
          <a:bodyPr anchor="t" rtlCol="false" tIns="0" lIns="0" bIns="0" rIns="0">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group-1</a:t>
            </a:r>
          </a:p>
          <a:p>
            <a:pPr algn="l">
              <a:lnSpc>
                <a:spcPts val="2239"/>
              </a:lnSpc>
            </a:pPr>
            <a:r>
              <a:rPr lang="en-US" sz="1599" spc="39">
                <a:solidFill>
                  <a:srgbClr val="0B132B"/>
                </a:solidFill>
                <a:latin typeface="Bricolage Grotesque"/>
                <a:ea typeface="Bricolage Grotesque"/>
                <a:cs typeface="Bricolage Grotesque"/>
                <a:sym typeface="Bricolage Grotesque"/>
              </a:rPr>
              <a:t>data analysis</a:t>
            </a:r>
          </a:p>
        </p:txBody>
      </p:sp>
      <p:sp>
        <p:nvSpPr>
          <p:cNvPr name="Freeform 6" id="6"/>
          <p:cNvSpPr/>
          <p:nvPr/>
        </p:nvSpPr>
        <p:spPr>
          <a:xfrm flipH="false" flipV="false" rot="0">
            <a:off x="905758" y="590121"/>
            <a:ext cx="229386" cy="182674"/>
          </a:xfrm>
          <a:custGeom>
            <a:avLst/>
            <a:gdLst/>
            <a:ahLst/>
            <a:cxnLst/>
            <a:rect r="r" b="b" t="t" l="l"/>
            <a:pathLst>
              <a:path h="182674" w="229386">
                <a:moveTo>
                  <a:pt x="0" y="0"/>
                </a:moveTo>
                <a:lnTo>
                  <a:pt x="229385" y="0"/>
                </a:lnTo>
                <a:lnTo>
                  <a:pt x="229385" y="182674"/>
                </a:lnTo>
                <a:lnTo>
                  <a:pt x="0" y="18267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10226750" y="8254044"/>
            <a:ext cx="2427693" cy="738552"/>
            <a:chOff x="0" y="0"/>
            <a:chExt cx="627063" cy="190765"/>
          </a:xfrm>
        </p:grpSpPr>
        <p:sp>
          <p:nvSpPr>
            <p:cNvPr name="Freeform 3" id="3"/>
            <p:cNvSpPr/>
            <p:nvPr/>
          </p:nvSpPr>
          <p:spPr>
            <a:xfrm flipH="false" flipV="false" rot="0">
              <a:off x="0" y="0"/>
              <a:ext cx="627063" cy="190765"/>
            </a:xfrm>
            <a:custGeom>
              <a:avLst/>
              <a:gdLst/>
              <a:ahLst/>
              <a:cxnLst/>
              <a:rect r="r" b="b" t="t" l="l"/>
              <a:pathLst>
                <a:path h="190765" w="627063">
                  <a:moveTo>
                    <a:pt x="31890" y="0"/>
                  </a:moveTo>
                  <a:lnTo>
                    <a:pt x="595173" y="0"/>
                  </a:lnTo>
                  <a:cubicBezTo>
                    <a:pt x="612786" y="0"/>
                    <a:pt x="627063" y="14278"/>
                    <a:pt x="627063" y="31890"/>
                  </a:cubicBezTo>
                  <a:lnTo>
                    <a:pt x="627063" y="158875"/>
                  </a:lnTo>
                  <a:cubicBezTo>
                    <a:pt x="627063" y="167333"/>
                    <a:pt x="623703" y="175444"/>
                    <a:pt x="617723" y="181424"/>
                  </a:cubicBezTo>
                  <a:cubicBezTo>
                    <a:pt x="611742" y="187405"/>
                    <a:pt x="603631" y="190765"/>
                    <a:pt x="595173" y="190765"/>
                  </a:cubicBezTo>
                  <a:lnTo>
                    <a:pt x="31890" y="190765"/>
                  </a:lnTo>
                  <a:cubicBezTo>
                    <a:pt x="14278" y="190765"/>
                    <a:pt x="0" y="176487"/>
                    <a:pt x="0" y="158875"/>
                  </a:cubicBezTo>
                  <a:lnTo>
                    <a:pt x="0" y="31890"/>
                  </a:lnTo>
                  <a:cubicBezTo>
                    <a:pt x="0" y="14278"/>
                    <a:pt x="14278" y="0"/>
                    <a:pt x="31890" y="0"/>
                  </a:cubicBezTo>
                  <a:close/>
                </a:path>
              </a:pathLst>
            </a:custGeom>
            <a:solidFill>
              <a:srgbClr val="00B58F"/>
            </a:solidFill>
            <a:ln cap="sq">
              <a:noFill/>
              <a:prstDash val="solid"/>
              <a:miter/>
            </a:ln>
          </p:spPr>
        </p:sp>
        <p:sp>
          <p:nvSpPr>
            <p:cNvPr name="TextBox 4" id="4"/>
            <p:cNvSpPr txBox="true"/>
            <p:nvPr/>
          </p:nvSpPr>
          <p:spPr>
            <a:xfrm>
              <a:off x="0" y="-38100"/>
              <a:ext cx="627063" cy="22886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2842049" y="8254044"/>
            <a:ext cx="2427693" cy="738552"/>
            <a:chOff x="0" y="0"/>
            <a:chExt cx="627063" cy="190765"/>
          </a:xfrm>
        </p:grpSpPr>
        <p:sp>
          <p:nvSpPr>
            <p:cNvPr name="Freeform 6" id="6"/>
            <p:cNvSpPr/>
            <p:nvPr/>
          </p:nvSpPr>
          <p:spPr>
            <a:xfrm flipH="false" flipV="false" rot="0">
              <a:off x="0" y="0"/>
              <a:ext cx="627063" cy="190765"/>
            </a:xfrm>
            <a:custGeom>
              <a:avLst/>
              <a:gdLst/>
              <a:ahLst/>
              <a:cxnLst/>
              <a:rect r="r" b="b" t="t" l="l"/>
              <a:pathLst>
                <a:path h="190765" w="627063">
                  <a:moveTo>
                    <a:pt x="31890" y="0"/>
                  </a:moveTo>
                  <a:lnTo>
                    <a:pt x="595173" y="0"/>
                  </a:lnTo>
                  <a:cubicBezTo>
                    <a:pt x="612786" y="0"/>
                    <a:pt x="627063" y="14278"/>
                    <a:pt x="627063" y="31890"/>
                  </a:cubicBezTo>
                  <a:lnTo>
                    <a:pt x="627063" y="158875"/>
                  </a:lnTo>
                  <a:cubicBezTo>
                    <a:pt x="627063" y="167333"/>
                    <a:pt x="623703" y="175444"/>
                    <a:pt x="617723" y="181424"/>
                  </a:cubicBezTo>
                  <a:cubicBezTo>
                    <a:pt x="611742" y="187405"/>
                    <a:pt x="603631" y="190765"/>
                    <a:pt x="595173" y="190765"/>
                  </a:cubicBezTo>
                  <a:lnTo>
                    <a:pt x="31890" y="190765"/>
                  </a:lnTo>
                  <a:cubicBezTo>
                    <a:pt x="14278" y="190765"/>
                    <a:pt x="0" y="176487"/>
                    <a:pt x="0" y="158875"/>
                  </a:cubicBezTo>
                  <a:lnTo>
                    <a:pt x="0" y="31890"/>
                  </a:lnTo>
                  <a:cubicBezTo>
                    <a:pt x="0" y="14278"/>
                    <a:pt x="14278" y="0"/>
                    <a:pt x="31890" y="0"/>
                  </a:cubicBezTo>
                  <a:close/>
                </a:path>
              </a:pathLst>
            </a:custGeom>
            <a:solidFill>
              <a:srgbClr val="0B132B"/>
            </a:solidFill>
            <a:ln cap="sq">
              <a:noFill/>
              <a:prstDash val="solid"/>
              <a:miter/>
            </a:ln>
          </p:spPr>
        </p:sp>
        <p:sp>
          <p:nvSpPr>
            <p:cNvPr name="TextBox 7" id="7"/>
            <p:cNvSpPr txBox="true"/>
            <p:nvPr/>
          </p:nvSpPr>
          <p:spPr>
            <a:xfrm>
              <a:off x="0" y="-38100"/>
              <a:ext cx="627063" cy="22886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7842646" y="921787"/>
            <a:ext cx="268503" cy="213826"/>
          </a:xfrm>
          <a:custGeom>
            <a:avLst/>
            <a:gdLst/>
            <a:ahLst/>
            <a:cxnLst/>
            <a:rect r="r" b="b" t="t" l="l"/>
            <a:pathLst>
              <a:path h="213826" w="268503">
                <a:moveTo>
                  <a:pt x="0" y="0"/>
                </a:moveTo>
                <a:lnTo>
                  <a:pt x="268503" y="0"/>
                </a:lnTo>
                <a:lnTo>
                  <a:pt x="268503" y="213826"/>
                </a:lnTo>
                <a:lnTo>
                  <a:pt x="0" y="2138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564646" y="821953"/>
            <a:ext cx="4583015" cy="8032825"/>
            <a:chOff x="0" y="0"/>
            <a:chExt cx="1183774" cy="2074846"/>
          </a:xfrm>
        </p:grpSpPr>
        <p:sp>
          <p:nvSpPr>
            <p:cNvPr name="Freeform 10" id="10"/>
            <p:cNvSpPr/>
            <p:nvPr/>
          </p:nvSpPr>
          <p:spPr>
            <a:xfrm flipH="false" flipV="false" rot="0">
              <a:off x="0" y="0"/>
              <a:ext cx="1183774" cy="2074846"/>
            </a:xfrm>
            <a:custGeom>
              <a:avLst/>
              <a:gdLst/>
              <a:ahLst/>
              <a:cxnLst/>
              <a:rect r="r" b="b" t="t" l="l"/>
              <a:pathLst>
                <a:path h="2074846" w="1183774">
                  <a:moveTo>
                    <a:pt x="101356" y="0"/>
                  </a:moveTo>
                  <a:lnTo>
                    <a:pt x="1082418" y="0"/>
                  </a:lnTo>
                  <a:cubicBezTo>
                    <a:pt x="1138396" y="0"/>
                    <a:pt x="1183774" y="45379"/>
                    <a:pt x="1183774" y="101356"/>
                  </a:cubicBezTo>
                  <a:lnTo>
                    <a:pt x="1183774" y="1973490"/>
                  </a:lnTo>
                  <a:cubicBezTo>
                    <a:pt x="1183774" y="2029467"/>
                    <a:pt x="1138396" y="2074846"/>
                    <a:pt x="1082418" y="2074846"/>
                  </a:cubicBezTo>
                  <a:lnTo>
                    <a:pt x="101356" y="2074846"/>
                  </a:lnTo>
                  <a:cubicBezTo>
                    <a:pt x="74475" y="2074846"/>
                    <a:pt x="48694" y="2064167"/>
                    <a:pt x="29686" y="2045160"/>
                  </a:cubicBezTo>
                  <a:cubicBezTo>
                    <a:pt x="10679" y="2026152"/>
                    <a:pt x="0" y="2000372"/>
                    <a:pt x="0" y="1973490"/>
                  </a:cubicBezTo>
                  <a:lnTo>
                    <a:pt x="0" y="101356"/>
                  </a:lnTo>
                  <a:cubicBezTo>
                    <a:pt x="0" y="45379"/>
                    <a:pt x="45379" y="0"/>
                    <a:pt x="101356" y="0"/>
                  </a:cubicBezTo>
                  <a:close/>
                </a:path>
              </a:pathLst>
            </a:custGeom>
            <a:ln w="19050" cap="rnd">
              <a:solidFill>
                <a:srgbClr val="00B58F"/>
              </a:solidFill>
              <a:prstDash val="solid"/>
              <a:round/>
            </a:ln>
          </p:spPr>
        </p:sp>
        <p:sp>
          <p:nvSpPr>
            <p:cNvPr name="TextBox 11" id="11"/>
            <p:cNvSpPr txBox="true"/>
            <p:nvPr/>
          </p:nvSpPr>
          <p:spPr>
            <a:xfrm>
              <a:off x="0" y="-38100"/>
              <a:ext cx="1183774" cy="2112946"/>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839271" y="1042175"/>
            <a:ext cx="5329489" cy="8229600"/>
            <a:chOff x="0" y="0"/>
            <a:chExt cx="4112260" cy="6350000"/>
          </a:xfrm>
        </p:grpSpPr>
        <p:sp>
          <p:nvSpPr>
            <p:cNvPr name="Freeform 13" id="13"/>
            <p:cNvSpPr/>
            <p:nvPr/>
          </p:nvSpPr>
          <p:spPr>
            <a:xfrm flipH="false" flipV="false" rot="0">
              <a:off x="0" y="0"/>
              <a:ext cx="4112260" cy="6350000"/>
            </a:xfrm>
            <a:custGeom>
              <a:avLst/>
              <a:gdLst/>
              <a:ahLst/>
              <a:cxnLst/>
              <a:rect r="r" b="b" t="t" l="l"/>
              <a:pathLst>
                <a:path h="6350000" w="4112260">
                  <a:moveTo>
                    <a:pt x="4112260" y="623570"/>
                  </a:moveTo>
                  <a:lnTo>
                    <a:pt x="4112260" y="2641600"/>
                  </a:lnTo>
                  <a:cubicBezTo>
                    <a:pt x="4112260" y="2821940"/>
                    <a:pt x="4033520" y="2993390"/>
                    <a:pt x="3897630" y="3112770"/>
                  </a:cubicBezTo>
                  <a:cubicBezTo>
                    <a:pt x="3761740" y="3230880"/>
                    <a:pt x="3683000" y="3402330"/>
                    <a:pt x="3683000" y="3583940"/>
                  </a:cubicBezTo>
                  <a:lnTo>
                    <a:pt x="3683000" y="5726430"/>
                  </a:lnTo>
                  <a:cubicBezTo>
                    <a:pt x="3683000" y="6070600"/>
                    <a:pt x="3403600" y="6350000"/>
                    <a:pt x="3059430" y="6350000"/>
                  </a:cubicBezTo>
                  <a:lnTo>
                    <a:pt x="623570" y="6350000"/>
                  </a:lnTo>
                  <a:cubicBezTo>
                    <a:pt x="279400" y="6350000"/>
                    <a:pt x="0" y="6070600"/>
                    <a:pt x="0" y="5726430"/>
                  </a:cubicBezTo>
                  <a:lnTo>
                    <a:pt x="0" y="623570"/>
                  </a:lnTo>
                  <a:cubicBezTo>
                    <a:pt x="0" y="279400"/>
                    <a:pt x="279400" y="0"/>
                    <a:pt x="623570" y="0"/>
                  </a:cubicBezTo>
                  <a:lnTo>
                    <a:pt x="3489960" y="0"/>
                  </a:lnTo>
                  <a:cubicBezTo>
                    <a:pt x="3834130" y="0"/>
                    <a:pt x="4112260" y="279400"/>
                    <a:pt x="4112260" y="623570"/>
                  </a:cubicBezTo>
                  <a:close/>
                </a:path>
              </a:pathLst>
            </a:custGeom>
            <a:blipFill>
              <a:blip r:embed="rId4"/>
              <a:stretch>
                <a:fillRect l="-101975" t="0" r="-29794" b="0"/>
              </a:stretch>
            </a:blipFill>
          </p:spPr>
        </p:sp>
      </p:grpSp>
      <p:sp>
        <p:nvSpPr>
          <p:cNvPr name="Freeform 14" id="14"/>
          <p:cNvSpPr/>
          <p:nvPr/>
        </p:nvSpPr>
        <p:spPr>
          <a:xfrm flipH="false" flipV="false" rot="0">
            <a:off x="10354954" y="8387483"/>
            <a:ext cx="483677" cy="490724"/>
          </a:xfrm>
          <a:custGeom>
            <a:avLst/>
            <a:gdLst/>
            <a:ahLst/>
            <a:cxnLst/>
            <a:rect r="r" b="b" t="t" l="l"/>
            <a:pathLst>
              <a:path h="490724" w="483677">
                <a:moveTo>
                  <a:pt x="0" y="0"/>
                </a:moveTo>
                <a:lnTo>
                  <a:pt x="483677" y="0"/>
                </a:lnTo>
                <a:lnTo>
                  <a:pt x="483677" y="490724"/>
                </a:lnTo>
                <a:lnTo>
                  <a:pt x="0" y="49072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13006848" y="8387483"/>
            <a:ext cx="467526" cy="490724"/>
          </a:xfrm>
          <a:custGeom>
            <a:avLst/>
            <a:gdLst/>
            <a:ahLst/>
            <a:cxnLst/>
            <a:rect r="r" b="b" t="t" l="l"/>
            <a:pathLst>
              <a:path h="490724" w="467526">
                <a:moveTo>
                  <a:pt x="0" y="0"/>
                </a:moveTo>
                <a:lnTo>
                  <a:pt x="467526" y="0"/>
                </a:lnTo>
                <a:lnTo>
                  <a:pt x="467526" y="490724"/>
                </a:lnTo>
                <a:lnTo>
                  <a:pt x="0" y="49072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6" id="16"/>
          <p:cNvGrpSpPr/>
          <p:nvPr/>
        </p:nvGrpSpPr>
        <p:grpSpPr>
          <a:xfrm rot="0">
            <a:off x="11502671" y="9960324"/>
            <a:ext cx="9960587" cy="1142074"/>
            <a:chOff x="0" y="0"/>
            <a:chExt cx="2572779" cy="294993"/>
          </a:xfrm>
        </p:grpSpPr>
        <p:sp>
          <p:nvSpPr>
            <p:cNvPr name="Freeform 17" id="17"/>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18" id="18"/>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0">
            <a:off x="-5959063" y="-784283"/>
            <a:ext cx="13801709" cy="1142074"/>
            <a:chOff x="0" y="0"/>
            <a:chExt cx="3564925" cy="294993"/>
          </a:xfrm>
        </p:grpSpPr>
        <p:sp>
          <p:nvSpPr>
            <p:cNvPr name="Freeform 20" id="20"/>
            <p:cNvSpPr/>
            <p:nvPr/>
          </p:nvSpPr>
          <p:spPr>
            <a:xfrm flipH="false" flipV="false" rot="0">
              <a:off x="0" y="0"/>
              <a:ext cx="3564925" cy="294993"/>
            </a:xfrm>
            <a:custGeom>
              <a:avLst/>
              <a:gdLst/>
              <a:ahLst/>
              <a:cxnLst/>
              <a:rect r="r" b="b" t="t" l="l"/>
              <a:pathLst>
                <a:path h="294993" w="3564925">
                  <a:moveTo>
                    <a:pt x="33656" y="0"/>
                  </a:moveTo>
                  <a:lnTo>
                    <a:pt x="3531269" y="0"/>
                  </a:lnTo>
                  <a:cubicBezTo>
                    <a:pt x="3549857" y="0"/>
                    <a:pt x="3564925" y="15068"/>
                    <a:pt x="3564925" y="33656"/>
                  </a:cubicBezTo>
                  <a:lnTo>
                    <a:pt x="3564925" y="261337"/>
                  </a:lnTo>
                  <a:cubicBezTo>
                    <a:pt x="3564925" y="279925"/>
                    <a:pt x="3549857" y="294993"/>
                    <a:pt x="3531269" y="294993"/>
                  </a:cubicBezTo>
                  <a:lnTo>
                    <a:pt x="33656" y="294993"/>
                  </a:lnTo>
                  <a:cubicBezTo>
                    <a:pt x="15068" y="294993"/>
                    <a:pt x="0" y="279925"/>
                    <a:pt x="0" y="261337"/>
                  </a:cubicBezTo>
                  <a:lnTo>
                    <a:pt x="0" y="33656"/>
                  </a:lnTo>
                  <a:cubicBezTo>
                    <a:pt x="0" y="15068"/>
                    <a:pt x="15068" y="0"/>
                    <a:pt x="33656" y="0"/>
                  </a:cubicBezTo>
                  <a:close/>
                </a:path>
              </a:pathLst>
            </a:custGeom>
            <a:ln w="19050" cap="rnd">
              <a:solidFill>
                <a:srgbClr val="00B58F"/>
              </a:solidFill>
              <a:prstDash val="solid"/>
              <a:round/>
            </a:ln>
          </p:spPr>
        </p:sp>
        <p:sp>
          <p:nvSpPr>
            <p:cNvPr name="TextBox 21" id="21"/>
            <p:cNvSpPr txBox="true"/>
            <p:nvPr/>
          </p:nvSpPr>
          <p:spPr>
            <a:xfrm>
              <a:off x="0" y="-38100"/>
              <a:ext cx="3564925" cy="333093"/>
            </a:xfrm>
            <a:prstGeom prst="rect">
              <a:avLst/>
            </a:prstGeom>
          </p:spPr>
          <p:txBody>
            <a:bodyPr anchor="ctr" rtlCol="false" tIns="50800" lIns="50800" bIns="50800" rIns="50800"/>
            <a:lstStyle/>
            <a:p>
              <a:pPr algn="ctr">
                <a:lnSpc>
                  <a:spcPts val="2659"/>
                </a:lnSpc>
                <a:spcBef>
                  <a:spcPct val="0"/>
                </a:spcBef>
              </a:pPr>
            </a:p>
          </p:txBody>
        </p:sp>
      </p:grpSp>
      <p:sp>
        <p:nvSpPr>
          <p:cNvPr name="Freeform 22" id="22"/>
          <p:cNvSpPr/>
          <p:nvPr/>
        </p:nvSpPr>
        <p:spPr>
          <a:xfrm flipH="false" flipV="false" rot="0">
            <a:off x="10764324" y="5777091"/>
            <a:ext cx="4155450" cy="1505415"/>
          </a:xfrm>
          <a:custGeom>
            <a:avLst/>
            <a:gdLst/>
            <a:ahLst/>
            <a:cxnLst/>
            <a:rect r="r" b="b" t="t" l="l"/>
            <a:pathLst>
              <a:path h="1505415" w="4155450">
                <a:moveTo>
                  <a:pt x="0" y="0"/>
                </a:moveTo>
                <a:lnTo>
                  <a:pt x="4155450" y="0"/>
                </a:lnTo>
                <a:lnTo>
                  <a:pt x="4155450" y="1505415"/>
                </a:lnTo>
                <a:lnTo>
                  <a:pt x="0" y="1505415"/>
                </a:lnTo>
                <a:lnTo>
                  <a:pt x="0" y="0"/>
                </a:lnTo>
                <a:close/>
              </a:path>
            </a:pathLst>
          </a:custGeom>
          <a:blipFill>
            <a:blip r:embed="rId9"/>
            <a:stretch>
              <a:fillRect l="0" t="-18359" r="0" b="-18359"/>
            </a:stretch>
          </a:blipFill>
        </p:spPr>
      </p:sp>
      <p:sp>
        <p:nvSpPr>
          <p:cNvPr name="Freeform 23" id="23"/>
          <p:cNvSpPr/>
          <p:nvPr/>
        </p:nvSpPr>
        <p:spPr>
          <a:xfrm flipH="false" flipV="false" rot="0">
            <a:off x="15575204" y="5777091"/>
            <a:ext cx="1472930" cy="1494166"/>
          </a:xfrm>
          <a:custGeom>
            <a:avLst/>
            <a:gdLst/>
            <a:ahLst/>
            <a:cxnLst/>
            <a:rect r="r" b="b" t="t" l="l"/>
            <a:pathLst>
              <a:path h="1494166" w="1472930">
                <a:moveTo>
                  <a:pt x="0" y="0"/>
                </a:moveTo>
                <a:lnTo>
                  <a:pt x="1472930" y="0"/>
                </a:lnTo>
                <a:lnTo>
                  <a:pt x="1472930" y="1494166"/>
                </a:lnTo>
                <a:lnTo>
                  <a:pt x="0" y="1494166"/>
                </a:lnTo>
                <a:lnTo>
                  <a:pt x="0" y="0"/>
                </a:lnTo>
                <a:close/>
              </a:path>
            </a:pathLst>
          </a:custGeom>
          <a:blipFill>
            <a:blip r:embed="rId10"/>
            <a:stretch>
              <a:fillRect l="-1441" t="0" r="0" b="0"/>
            </a:stretch>
          </a:blipFill>
        </p:spPr>
      </p:sp>
      <p:sp>
        <p:nvSpPr>
          <p:cNvPr name="Freeform 24" id="24"/>
          <p:cNvSpPr/>
          <p:nvPr/>
        </p:nvSpPr>
        <p:spPr>
          <a:xfrm flipH="false" flipV="false" rot="0">
            <a:off x="8216800" y="5499917"/>
            <a:ext cx="2059763" cy="2059763"/>
          </a:xfrm>
          <a:custGeom>
            <a:avLst/>
            <a:gdLst/>
            <a:ahLst/>
            <a:cxnLst/>
            <a:rect r="r" b="b" t="t" l="l"/>
            <a:pathLst>
              <a:path h="2059763" w="2059763">
                <a:moveTo>
                  <a:pt x="0" y="0"/>
                </a:moveTo>
                <a:lnTo>
                  <a:pt x="2059763" y="0"/>
                </a:lnTo>
                <a:lnTo>
                  <a:pt x="2059763" y="2059763"/>
                </a:lnTo>
                <a:lnTo>
                  <a:pt x="0" y="2059763"/>
                </a:lnTo>
                <a:lnTo>
                  <a:pt x="0" y="0"/>
                </a:lnTo>
                <a:close/>
              </a:path>
            </a:pathLst>
          </a:custGeom>
          <a:blipFill>
            <a:blip r:embed="rId11"/>
            <a:stretch>
              <a:fillRect l="0" t="0" r="0" b="0"/>
            </a:stretch>
          </a:blipFill>
        </p:spPr>
      </p:sp>
      <p:sp>
        <p:nvSpPr>
          <p:cNvPr name="TextBox 25" id="25"/>
          <p:cNvSpPr txBox="true"/>
          <p:nvPr/>
        </p:nvSpPr>
        <p:spPr>
          <a:xfrm rot="0">
            <a:off x="9205399" y="1867644"/>
            <a:ext cx="6571742" cy="3298898"/>
          </a:xfrm>
          <a:prstGeom prst="rect">
            <a:avLst/>
          </a:prstGeom>
        </p:spPr>
        <p:txBody>
          <a:bodyPr anchor="t" rtlCol="false" tIns="0" lIns="0" bIns="0" rIns="0">
            <a:spAutoFit/>
          </a:bodyPr>
          <a:lstStyle/>
          <a:p>
            <a:pPr algn="l">
              <a:lnSpc>
                <a:spcPts val="12752"/>
              </a:lnSpc>
            </a:pPr>
            <a:r>
              <a:rPr lang="en-US" sz="12752">
                <a:solidFill>
                  <a:srgbClr val="0B132B"/>
                </a:solidFill>
                <a:latin typeface="Rubik One"/>
                <a:ea typeface="Rubik One"/>
                <a:cs typeface="Rubik One"/>
                <a:sym typeface="Rubik One"/>
              </a:rPr>
              <a:t>Thank You!</a:t>
            </a:r>
          </a:p>
        </p:txBody>
      </p:sp>
      <p:sp>
        <p:nvSpPr>
          <p:cNvPr name="TextBox 26" id="26"/>
          <p:cNvSpPr txBox="true"/>
          <p:nvPr/>
        </p:nvSpPr>
        <p:spPr>
          <a:xfrm rot="0">
            <a:off x="10226750" y="7797805"/>
            <a:ext cx="3640249" cy="273739"/>
          </a:xfrm>
          <a:prstGeom prst="rect">
            <a:avLst/>
          </a:prstGeom>
        </p:spPr>
        <p:txBody>
          <a:bodyPr anchor="t" rtlCol="false" tIns="0" lIns="0" bIns="0" rIns="0">
            <a:spAutoFit/>
          </a:bodyPr>
          <a:lstStyle/>
          <a:p>
            <a:pPr algn="l" marL="0" indent="0" lvl="0">
              <a:lnSpc>
                <a:spcPts val="2239"/>
              </a:lnSpc>
              <a:spcBef>
                <a:spcPct val="0"/>
              </a:spcBef>
            </a:pPr>
            <a:r>
              <a:rPr lang="en-US" sz="1599" spc="39" strike="noStrike" u="none">
                <a:solidFill>
                  <a:srgbClr val="0B132B"/>
                </a:solidFill>
                <a:latin typeface="Bricolage Grotesque"/>
                <a:ea typeface="Bricolage Grotesque"/>
                <a:cs typeface="Bricolage Grotesque"/>
                <a:sym typeface="Bricolage Grotesque"/>
              </a:rPr>
              <a:t>Get the Beta Test Here</a:t>
            </a:r>
          </a:p>
        </p:txBody>
      </p:sp>
      <p:sp>
        <p:nvSpPr>
          <p:cNvPr name="TextBox 27" id="27"/>
          <p:cNvSpPr txBox="true"/>
          <p:nvPr/>
        </p:nvSpPr>
        <p:spPr>
          <a:xfrm rot="0">
            <a:off x="10967092" y="8556928"/>
            <a:ext cx="1524178" cy="549910"/>
          </a:xfrm>
          <a:prstGeom prst="rect">
            <a:avLst/>
          </a:prstGeom>
        </p:spPr>
        <p:txBody>
          <a:bodyPr anchor="t" rtlCol="false" tIns="0" lIns="0" bIns="0" rIns="0">
            <a:spAutoFit/>
          </a:bodyPr>
          <a:lstStyle/>
          <a:p>
            <a:pPr algn="l">
              <a:lnSpc>
                <a:spcPts val="2239"/>
              </a:lnSpc>
            </a:pPr>
            <a:r>
              <a:rPr lang="en-US" b="true" sz="1599" spc="39" u="sng">
                <a:solidFill>
                  <a:srgbClr val="FFFFFF"/>
                </a:solidFill>
                <a:latin typeface="Bricolage Grotesque Bold"/>
                <a:ea typeface="Bricolage Grotesque Bold"/>
                <a:cs typeface="Bricolage Grotesque Bold"/>
                <a:sym typeface="Bricolage Grotesque Bold"/>
                <a:hlinkClick r:id="rId12" tooltip="https://drive.google.com/drive/folders/1rRuEkcp2BGrRYLhm1cY85x4hcOXS0Qp4"/>
              </a:rPr>
              <a:t>GOOGLE DRIVE</a:t>
            </a:r>
          </a:p>
          <a:p>
            <a:pPr algn="l" marL="0" indent="0" lvl="0">
              <a:lnSpc>
                <a:spcPts val="2239"/>
              </a:lnSpc>
              <a:spcBef>
                <a:spcPct val="0"/>
              </a:spcBef>
            </a:pPr>
          </a:p>
        </p:txBody>
      </p:sp>
      <p:sp>
        <p:nvSpPr>
          <p:cNvPr name="TextBox 28" id="28"/>
          <p:cNvSpPr txBox="true"/>
          <p:nvPr/>
        </p:nvSpPr>
        <p:spPr>
          <a:xfrm rot="0">
            <a:off x="13617249" y="8556928"/>
            <a:ext cx="1524178" cy="549910"/>
          </a:xfrm>
          <a:prstGeom prst="rect">
            <a:avLst/>
          </a:prstGeom>
        </p:spPr>
        <p:txBody>
          <a:bodyPr anchor="t" rtlCol="false" tIns="0" lIns="0" bIns="0" rIns="0">
            <a:spAutoFit/>
          </a:bodyPr>
          <a:lstStyle/>
          <a:p>
            <a:pPr algn="l">
              <a:lnSpc>
                <a:spcPts val="2239"/>
              </a:lnSpc>
            </a:pPr>
            <a:r>
              <a:rPr lang="en-US" b="true" sz="1599" spc="39" u="sng">
                <a:solidFill>
                  <a:srgbClr val="FFFFFF"/>
                </a:solidFill>
                <a:latin typeface="Bricolage Grotesque Bold"/>
                <a:ea typeface="Bricolage Grotesque Bold"/>
                <a:cs typeface="Bricolage Grotesque Bold"/>
                <a:sym typeface="Bricolage Grotesque Bold"/>
                <a:hlinkClick r:id="rId13" tooltip="https://github.com/norarassem-ux/The-Future-of-Mobility-in-the-world/blob/main/README-electric%20vehicles%20project.docx"/>
              </a:rPr>
              <a:t>GIT HUB</a:t>
            </a:r>
          </a:p>
          <a:p>
            <a:pPr algn="l" marL="0" indent="0" lvl="0">
              <a:lnSpc>
                <a:spcPts val="2239"/>
              </a:lnSpc>
              <a:spcBef>
                <a:spcPct val="0"/>
              </a:spcBef>
            </a:pPr>
          </a:p>
        </p:txBody>
      </p:sp>
      <p:sp>
        <p:nvSpPr>
          <p:cNvPr name="TextBox 29" id="29"/>
          <p:cNvSpPr txBox="true"/>
          <p:nvPr/>
        </p:nvSpPr>
        <p:spPr>
          <a:xfrm rot="0">
            <a:off x="10967092" y="8396923"/>
            <a:ext cx="1524178" cy="198104"/>
          </a:xfrm>
          <a:prstGeom prst="rect">
            <a:avLst/>
          </a:prstGeom>
        </p:spPr>
        <p:txBody>
          <a:bodyPr anchor="t" rtlCol="false" tIns="0" lIns="0" bIns="0" rIns="0">
            <a:spAutoFit/>
          </a:bodyPr>
          <a:lstStyle/>
          <a:p>
            <a:pPr algn="l" marL="0" indent="0" lvl="0">
              <a:lnSpc>
                <a:spcPts val="1680"/>
              </a:lnSpc>
              <a:spcBef>
                <a:spcPct val="0"/>
              </a:spcBef>
            </a:pPr>
            <a:r>
              <a:rPr lang="en-US" sz="1200" spc="30">
                <a:solidFill>
                  <a:srgbClr val="FFFFFF"/>
                </a:solidFill>
                <a:latin typeface="Bricolage Grotesque"/>
                <a:ea typeface="Bricolage Grotesque"/>
                <a:cs typeface="Bricolage Grotesque"/>
                <a:sym typeface="Bricolage Grotesque"/>
              </a:rPr>
              <a:t>Visit Here</a:t>
            </a:r>
          </a:p>
        </p:txBody>
      </p:sp>
      <p:sp>
        <p:nvSpPr>
          <p:cNvPr name="TextBox 30" id="30"/>
          <p:cNvSpPr txBox="true"/>
          <p:nvPr/>
        </p:nvSpPr>
        <p:spPr>
          <a:xfrm rot="0">
            <a:off x="13617249" y="8396923"/>
            <a:ext cx="1524178" cy="198104"/>
          </a:xfrm>
          <a:prstGeom prst="rect">
            <a:avLst/>
          </a:prstGeom>
        </p:spPr>
        <p:txBody>
          <a:bodyPr anchor="t" rtlCol="false" tIns="0" lIns="0" bIns="0" rIns="0">
            <a:spAutoFit/>
          </a:bodyPr>
          <a:lstStyle/>
          <a:p>
            <a:pPr algn="l" marL="0" indent="0" lvl="0">
              <a:lnSpc>
                <a:spcPts val="1680"/>
              </a:lnSpc>
              <a:spcBef>
                <a:spcPct val="0"/>
              </a:spcBef>
            </a:pPr>
            <a:r>
              <a:rPr lang="en-US" sz="1200" spc="30">
                <a:solidFill>
                  <a:srgbClr val="FFFFFF"/>
                </a:solidFill>
                <a:latin typeface="Bricolage Grotesque"/>
                <a:ea typeface="Bricolage Grotesque"/>
                <a:cs typeface="Bricolage Grotesque"/>
                <a:sym typeface="Bricolage Grotesque"/>
              </a:rPr>
              <a:t>Visit Here</a:t>
            </a:r>
          </a:p>
        </p:txBody>
      </p:sp>
      <p:sp>
        <p:nvSpPr>
          <p:cNvPr name="TextBox 31" id="31"/>
          <p:cNvSpPr txBox="true"/>
          <p:nvPr/>
        </p:nvSpPr>
        <p:spPr>
          <a:xfrm rot="0">
            <a:off x="8216800" y="783853"/>
            <a:ext cx="2381625" cy="549910"/>
          </a:xfrm>
          <a:prstGeom prst="rect">
            <a:avLst/>
          </a:prstGeom>
        </p:spPr>
        <p:txBody>
          <a:bodyPr anchor="t" rtlCol="false" tIns="0" lIns="0" bIns="0" rIns="0">
            <a:spAutoFit/>
          </a:bodyPr>
          <a:lstStyle/>
          <a:p>
            <a:pPr algn="l">
              <a:lnSpc>
                <a:spcPts val="2239"/>
              </a:lnSpc>
            </a:pPr>
            <a:r>
              <a:rPr lang="en-US" sz="1599" spc="39" b="true">
                <a:solidFill>
                  <a:srgbClr val="0B132B"/>
                </a:solidFill>
                <a:latin typeface="Bricolage Grotesque Bold"/>
                <a:ea typeface="Bricolage Grotesque Bold"/>
                <a:cs typeface="Bricolage Grotesque Bold"/>
                <a:sym typeface="Bricolage Grotesque Bold"/>
              </a:rPr>
              <a:t>group-1 </a:t>
            </a:r>
          </a:p>
          <a:p>
            <a:pPr algn="l">
              <a:lnSpc>
                <a:spcPts val="2239"/>
              </a:lnSpc>
            </a:pPr>
            <a:r>
              <a:rPr lang="en-US" sz="1599" spc="39" b="true">
                <a:solidFill>
                  <a:srgbClr val="0B132B"/>
                </a:solidFill>
                <a:latin typeface="Bricolage Grotesque Bold"/>
                <a:ea typeface="Bricolage Grotesque Bold"/>
                <a:cs typeface="Bricolage Grotesque Bold"/>
                <a:sym typeface="Bricolage Grotesque Bold"/>
              </a:rPr>
              <a:t>data analysis</a:t>
            </a:r>
          </a:p>
        </p:txBody>
      </p:sp>
      <p:sp>
        <p:nvSpPr>
          <p:cNvPr name="TextBox 32" id="32"/>
          <p:cNvSpPr txBox="true"/>
          <p:nvPr/>
        </p:nvSpPr>
        <p:spPr>
          <a:xfrm rot="0">
            <a:off x="9624310" y="9224150"/>
            <a:ext cx="6435478" cy="405785"/>
          </a:xfrm>
          <a:prstGeom prst="rect">
            <a:avLst/>
          </a:prstGeom>
        </p:spPr>
        <p:txBody>
          <a:bodyPr anchor="t" rtlCol="false" tIns="0" lIns="0" bIns="0" rIns="0">
            <a:spAutoFit/>
          </a:bodyPr>
          <a:lstStyle/>
          <a:p>
            <a:pPr algn="ctr">
              <a:lnSpc>
                <a:spcPts val="3359"/>
              </a:lnSpc>
              <a:spcBef>
                <a:spcPct val="0"/>
              </a:spcBef>
            </a:pPr>
            <a:r>
              <a:rPr lang="en-US" sz="2399">
                <a:solidFill>
                  <a:srgbClr val="000000"/>
                </a:solidFill>
                <a:latin typeface="Bricolage Grotesque"/>
                <a:ea typeface="Bricolage Grotesque"/>
                <a:cs typeface="Bricolage Grotesque"/>
                <a:sym typeface="Bricolage Grotesque"/>
              </a:rPr>
              <a:t>Data drives the future of sustainable mobility.</a:t>
            </a:r>
          </a:p>
        </p:txBody>
      </p:sp>
    </p:spTree>
  </p:cSld>
  <p:clrMapOvr>
    <a:masterClrMapping/>
  </p:clrMapOvr>
</p:sld>
</file>

<file path=ppt/slides/slide22.xml><?xml version="1.0" encoding="utf-8"?>
<p:sld xmlns:p="http://schemas.openxmlformats.org/presentationml/2006/main" xmlns:a="http://schemas.openxmlformats.org/drawingml/2006/main">
  <p:cSld>
    <p:bg>
      <p:bgPr>
        <a:solidFill>
          <a:srgbClr val="EDF6F9"/>
        </a:solidFill>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DAHJpTBDXrk</dc:identifier>
  <dcterms:modified xsi:type="dcterms:W3CDTF">2011-08-01T06:04:30Z</dcterms:modified>
  <cp:revision>1</cp:revision>
  <dc:title>White and Teal Modern Electric Car Presentation</dc:title>
</cp:coreProperties>
</file>